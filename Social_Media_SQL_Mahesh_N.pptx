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chart5.xml" ContentType="application/vnd.openxmlformats-officedocument.drawingml.chart+xml"/>
  <Override PartName="/ppt/charts/style4.xml" ContentType="application/vnd.ms-office.chartstyle+xml"/>
  <Override PartName="/ppt/charts/colors4.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9" r:id="rId4"/>
    <p:sldId id="276" r:id="rId5"/>
    <p:sldId id="260" r:id="rId6"/>
    <p:sldId id="277" r:id="rId7"/>
    <p:sldId id="262" r:id="rId8"/>
    <p:sldId id="263" r:id="rId9"/>
    <p:sldId id="264" r:id="rId10"/>
    <p:sldId id="265" r:id="rId11"/>
    <p:sldId id="266" r:id="rId12"/>
    <p:sldId id="267" r:id="rId13"/>
    <p:sldId id="274" r:id="rId14"/>
    <p:sldId id="270" r:id="rId15"/>
    <p:sldId id="272" r:id="rId16"/>
    <p:sldId id="273"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95B5E"/>
    <a:srgbClr val="587070"/>
    <a:srgbClr val="ABB7B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9" d="100"/>
          <a:sy n="69" d="100"/>
        </p:scale>
        <p:origin x="756" y="6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SDS\Downloads\6.csv"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SDS\Downloads\11.csv"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5.xml.rels><?xml version="1.0" encoding="UTF-8" standalone="yes"?>
<Relationships xmlns="http://schemas.openxmlformats.org/package/2006/relationships"><Relationship Id="rId3" Type="http://schemas.openxmlformats.org/officeDocument/2006/relationships/oleObject" Target="file:///C:\Users\SDS\Downloads\12.csv" TargetMode="External"/><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Users</c:v>
                </c:pt>
              </c:strCache>
            </c:strRef>
          </c:tx>
          <c:dPt>
            <c:idx val="0"/>
            <c:bubble3D val="0"/>
            <c:spPr>
              <a:solidFill>
                <a:schemeClr val="accent1">
                  <a:lumMod val="50000"/>
                </a:schemeClr>
              </a:solidFill>
              <a:ln>
                <a:noFill/>
              </a:ln>
              <a:effectLst>
                <a:outerShdw blurRad="50800" dist="38100" dir="2700000" algn="tl" rotWithShape="0">
                  <a:prstClr val="black">
                    <a:alpha val="40000"/>
                  </a:prstClr>
                </a:outerShdw>
              </a:effectLst>
            </c:spPr>
            <c:extLst>
              <c:ext xmlns:c16="http://schemas.microsoft.com/office/drawing/2014/chart" uri="{C3380CC4-5D6E-409C-BE32-E72D297353CC}">
                <c16:uniqueId val="{00000001-C69C-4F1D-88BA-8916C03AABDB}"/>
              </c:ext>
            </c:extLst>
          </c:dPt>
          <c:dPt>
            <c:idx val="1"/>
            <c:bubble3D val="0"/>
            <c:spPr>
              <a:solidFill>
                <a:schemeClr val="accent1">
                  <a:lumMod val="20000"/>
                  <a:lumOff val="80000"/>
                </a:schemeClr>
              </a:solidFill>
              <a:ln>
                <a:noFill/>
              </a:ln>
              <a:effectLst>
                <a:outerShdw blurRad="50800" dist="38100" dir="2700000" algn="tl" rotWithShape="0">
                  <a:prstClr val="black">
                    <a:alpha val="40000"/>
                  </a:prstClr>
                </a:outerShdw>
              </a:effectLst>
            </c:spPr>
            <c:extLst>
              <c:ext xmlns:c16="http://schemas.microsoft.com/office/drawing/2014/chart" uri="{C3380CC4-5D6E-409C-BE32-E72D297353CC}">
                <c16:uniqueId val="{00000003-C69C-4F1D-88BA-8916C03AABDB}"/>
              </c:ext>
            </c:extLst>
          </c:dPt>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Times New Roman" panose="02020603050405020304" pitchFamily="18" charset="0"/>
                    <a:ea typeface="+mn-ea"/>
                    <a:cs typeface="Times New Roman" panose="02020603050405020304" pitchFamily="18" charset="0"/>
                  </a:defRPr>
                </a:pPr>
                <a:endParaRPr lang="en-US"/>
              </a:p>
            </c:txPr>
            <c:showLegendKey val="0"/>
            <c:showVal val="0"/>
            <c:showCatName val="0"/>
            <c:showSerName val="0"/>
            <c:showPercent val="1"/>
            <c:showBubbleSize val="0"/>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15:layout/>
              </c:ext>
            </c:extLst>
          </c:dLbls>
          <c:cat>
            <c:strRef>
              <c:f>Sheet1!$A$2:$A$3</c:f>
              <c:strCache>
                <c:ptCount val="2"/>
                <c:pt idx="0">
                  <c:v>Posted users</c:v>
                </c:pt>
                <c:pt idx="1">
                  <c:v>Never posted</c:v>
                </c:pt>
              </c:strCache>
            </c:strRef>
          </c:cat>
          <c:val>
            <c:numRef>
              <c:f>Sheet1!$B$2:$B$3</c:f>
              <c:numCache>
                <c:formatCode>General</c:formatCode>
                <c:ptCount val="2"/>
                <c:pt idx="0">
                  <c:v>74</c:v>
                </c:pt>
                <c:pt idx="1">
                  <c:v>26</c:v>
                </c:pt>
              </c:numCache>
            </c:numRef>
          </c:val>
          <c:extLst>
            <c:ext xmlns:c16="http://schemas.microsoft.com/office/drawing/2014/chart" uri="{C3380CC4-5D6E-409C-BE32-E72D297353CC}">
              <c16:uniqueId val="{00000004-C69C-4F1D-88BA-8916C03AABDB}"/>
            </c:ext>
          </c:extLst>
        </c:ser>
        <c:dLbls>
          <c:showLegendKey val="0"/>
          <c:showVal val="0"/>
          <c:showCatName val="0"/>
          <c:showSerName val="0"/>
          <c:showPercent val="1"/>
          <c:showBubbleSize val="0"/>
          <c:showLeaderLines val="1"/>
        </c:dLbls>
        <c:firstSliceAng val="0"/>
        <c:holeSize val="70"/>
      </c:doughnutChart>
      <c:spPr>
        <a:noFill/>
        <a:ln>
          <a:noFill/>
        </a:ln>
        <a:effectLst/>
      </c:spPr>
    </c:plotArea>
    <c:legend>
      <c:legendPos val="b"/>
      <c:layout/>
      <c:overlay val="0"/>
      <c:spPr>
        <a:solidFill>
          <a:schemeClr val="lt1">
            <a:alpha val="78000"/>
          </a:schemeClr>
        </a:solidFill>
        <a:ln>
          <a:noFill/>
        </a:ln>
        <a:effectLst/>
      </c:spPr>
      <c:txPr>
        <a:bodyPr rot="0" spcFirstLastPara="1" vertOverflow="ellipsis" vert="horz" wrap="square" anchor="ctr" anchorCtr="1"/>
        <a:lstStyle/>
        <a:p>
          <a:pPr>
            <a:defRPr sz="1197" b="0" i="0" u="none" strike="noStrike" kern="1200" baseline="0">
              <a:solidFill>
                <a:schemeClr val="dk1">
                  <a:lumMod val="65000"/>
                  <a:lumOff val="35000"/>
                </a:schemeClr>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pattFill prst="dkDnDiag">
      <a:fgClr>
        <a:schemeClr val="lt1">
          <a:lumMod val="95000"/>
        </a:schemeClr>
      </a:fgClr>
      <a:bgClr>
        <a:schemeClr val="lt1"/>
      </a:bgClr>
    </a:patt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[6.csv]6!PivotTable1</c:name>
    <c:fmtId val="3"/>
  </c:pivotSource>
  <c:chart>
    <c:autoTitleDeleted val="1"/>
    <c:pivotFmts>
      <c:pivotFmt>
        <c:idx val="0"/>
        <c:spPr>
          <a:solidFill>
            <a:schemeClr val="accent1"/>
          </a:solidFill>
          <a:ln>
            <a:noFill/>
          </a:ln>
          <a:effectLst/>
        </c:spPr>
        <c:marker>
          <c:symbol val="none"/>
        </c:marker>
      </c:pivotFmt>
      <c:pivotFmt>
        <c:idx val="1"/>
        <c:spPr>
          <a:solidFill>
            <a:schemeClr val="accent1"/>
          </a:solidFill>
          <a:ln>
            <a:noFill/>
          </a:ln>
          <a:effectLst/>
        </c:spPr>
        <c:marker>
          <c:symbol val="none"/>
        </c:marker>
      </c:pivotFmt>
      <c:pivotFmt>
        <c:idx val="2"/>
        <c:spPr>
          <a:solidFill>
            <a:schemeClr val="accent1"/>
          </a:solidFill>
          <a:ln>
            <a:noFill/>
          </a:ln>
          <a:effectLst/>
        </c:spPr>
        <c:marker>
          <c:symbol val="none"/>
        </c:marker>
      </c:pivotFmt>
    </c:pivotFmts>
    <c:plotArea>
      <c:layout/>
      <c:barChart>
        <c:barDir val="col"/>
        <c:grouping val="clustered"/>
        <c:varyColors val="0"/>
        <c:ser>
          <c:idx val="0"/>
          <c:order val="0"/>
          <c:tx>
            <c:strRef>
              <c:f>'6'!$K$10</c:f>
              <c:strCache>
                <c:ptCount val="1"/>
                <c:pt idx="0">
                  <c:v>Total</c:v>
                </c:pt>
              </c:strCache>
            </c:strRef>
          </c:tx>
          <c:spPr>
            <a:solidFill>
              <a:schemeClr val="tx2">
                <a:lumMod val="75000"/>
              </a:schemeClr>
            </a:solidFill>
            <a:ln>
              <a:noFill/>
            </a:ln>
            <a:effectLst>
              <a:outerShdw blurRad="50800" dist="38100" dir="2700000" algn="tl" rotWithShape="0">
                <a:prstClr val="black">
                  <a:alpha val="40000"/>
                </a:prstClr>
              </a:outerShdw>
            </a:effectLst>
          </c:spPr>
          <c:invertIfNegative val="0"/>
          <c:cat>
            <c:strRef>
              <c:f>'6'!$J$11:$J$16</c:f>
              <c:strCache>
                <c:ptCount val="5"/>
                <c:pt idx="0">
                  <c:v>Aurelie71</c:v>
                </c:pt>
                <c:pt idx="1">
                  <c:v>Cesar93</c:v>
                </c:pt>
                <c:pt idx="2">
                  <c:v>Clint27</c:v>
                </c:pt>
                <c:pt idx="3">
                  <c:v>Delfina_VonRueden68</c:v>
                </c:pt>
                <c:pt idx="4">
                  <c:v>Eveline95</c:v>
                </c:pt>
              </c:strCache>
            </c:strRef>
          </c:cat>
          <c:val>
            <c:numRef>
              <c:f>'6'!$K$11:$K$16</c:f>
              <c:numCache>
                <c:formatCode>General</c:formatCode>
                <c:ptCount val="5"/>
                <c:pt idx="0">
                  <c:v>522</c:v>
                </c:pt>
                <c:pt idx="1">
                  <c:v>646</c:v>
                </c:pt>
                <c:pt idx="2">
                  <c:v>660</c:v>
                </c:pt>
                <c:pt idx="3">
                  <c:v>558</c:v>
                </c:pt>
                <c:pt idx="4">
                  <c:v>749</c:v>
                </c:pt>
              </c:numCache>
            </c:numRef>
          </c:val>
          <c:extLst>
            <c:ext xmlns:c16="http://schemas.microsoft.com/office/drawing/2014/chart" uri="{C3380CC4-5D6E-409C-BE32-E72D297353CC}">
              <c16:uniqueId val="{00000000-F9BD-483B-820C-503CBAEBFD80}"/>
            </c:ext>
          </c:extLst>
        </c:ser>
        <c:dLbls>
          <c:showLegendKey val="0"/>
          <c:showVal val="0"/>
          <c:showCatName val="0"/>
          <c:showSerName val="0"/>
          <c:showPercent val="0"/>
          <c:showBubbleSize val="0"/>
        </c:dLbls>
        <c:gapWidth val="219"/>
        <c:overlap val="-27"/>
        <c:axId val="600503663"/>
        <c:axId val="600502415"/>
      </c:barChart>
      <c:catAx>
        <c:axId val="600503663"/>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solidFill>
                      <a:schemeClr val="tx1"/>
                    </a:solidFill>
                    <a:latin typeface="Times New Roman" panose="02020603050405020304" pitchFamily="18" charset="0"/>
                    <a:cs typeface="Times New Roman" panose="02020603050405020304" pitchFamily="18" charset="0"/>
                  </a:rPr>
                  <a:t>Users</a:t>
                </a:r>
              </a:p>
            </c:rich>
          </c:tx>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600502415"/>
        <c:crosses val="autoZero"/>
        <c:auto val="1"/>
        <c:lblAlgn val="ctr"/>
        <c:lblOffset val="100"/>
        <c:noMultiLvlLbl val="0"/>
      </c:catAx>
      <c:valAx>
        <c:axId val="600502415"/>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solidFill>
                      <a:schemeClr val="tx1"/>
                    </a:solidFill>
                    <a:latin typeface="Times New Roman" panose="02020603050405020304" pitchFamily="18" charset="0"/>
                    <a:cs typeface="Times New Roman" panose="02020603050405020304" pitchFamily="18" charset="0"/>
                  </a:rPr>
                  <a:t>User engagement</a:t>
                </a:r>
              </a:p>
            </c:rich>
          </c:tx>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600503663"/>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[11.csv]11!PivotTable1</c:name>
    <c:fmtId val="3"/>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'11'!$M$11</c:f>
              <c:strCache>
                <c:ptCount val="1"/>
                <c:pt idx="0">
                  <c:v>Total</c:v>
                </c:pt>
              </c:strCache>
            </c:strRef>
          </c:tx>
          <c:spPr>
            <a:solidFill>
              <a:schemeClr val="accent1">
                <a:lumMod val="50000"/>
              </a:schemeClr>
            </a:solidFill>
            <a:ln>
              <a:noFill/>
            </a:ln>
            <a:effectLst>
              <a:outerShdw blurRad="50800" dist="38100" dir="2700000" algn="tl" rotWithShape="0">
                <a:prstClr val="black">
                  <a:alpha val="40000"/>
                </a:prst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'11'!$L$12:$L$22</c:f>
              <c:strCache>
                <c:ptCount val="10"/>
                <c:pt idx="0">
                  <c:v>beach</c:v>
                </c:pt>
                <c:pt idx="1">
                  <c:v>beauty</c:v>
                </c:pt>
                <c:pt idx="2">
                  <c:v>delicious</c:v>
                </c:pt>
                <c:pt idx="3">
                  <c:v>dreamy</c:v>
                </c:pt>
                <c:pt idx="4">
                  <c:v>foodie</c:v>
                </c:pt>
                <c:pt idx="5">
                  <c:v>hair</c:v>
                </c:pt>
                <c:pt idx="6">
                  <c:v>happy</c:v>
                </c:pt>
                <c:pt idx="7">
                  <c:v>photography</c:v>
                </c:pt>
                <c:pt idx="8">
                  <c:v>stunning</c:v>
                </c:pt>
                <c:pt idx="9">
                  <c:v>style</c:v>
                </c:pt>
              </c:strCache>
            </c:strRef>
          </c:cat>
          <c:val>
            <c:numRef>
              <c:f>'11'!$M$12:$M$22</c:f>
              <c:numCache>
                <c:formatCode>General</c:formatCode>
                <c:ptCount val="10"/>
                <c:pt idx="0">
                  <c:v>34.479999999999997</c:v>
                </c:pt>
                <c:pt idx="1">
                  <c:v>34.950000000000003</c:v>
                </c:pt>
                <c:pt idx="2">
                  <c:v>34.93</c:v>
                </c:pt>
                <c:pt idx="3">
                  <c:v>35.75</c:v>
                </c:pt>
                <c:pt idx="4">
                  <c:v>34.729999999999997</c:v>
                </c:pt>
                <c:pt idx="5">
                  <c:v>34.520000000000003</c:v>
                </c:pt>
                <c:pt idx="6">
                  <c:v>34.590000000000003</c:v>
                </c:pt>
                <c:pt idx="7">
                  <c:v>34.5</c:v>
                </c:pt>
                <c:pt idx="8">
                  <c:v>34.94</c:v>
                </c:pt>
                <c:pt idx="9">
                  <c:v>34.47</c:v>
                </c:pt>
              </c:numCache>
            </c:numRef>
          </c:val>
          <c:extLst>
            <c:ext xmlns:c16="http://schemas.microsoft.com/office/drawing/2014/chart" uri="{C3380CC4-5D6E-409C-BE32-E72D297353CC}">
              <c16:uniqueId val="{00000000-423F-418D-9D57-AEF6EA0CF297}"/>
            </c:ext>
          </c:extLst>
        </c:ser>
        <c:dLbls>
          <c:dLblPos val="outEnd"/>
          <c:showLegendKey val="0"/>
          <c:showVal val="1"/>
          <c:showCatName val="0"/>
          <c:showSerName val="0"/>
          <c:showPercent val="0"/>
          <c:showBubbleSize val="0"/>
        </c:dLbls>
        <c:gapWidth val="182"/>
        <c:axId val="1333506336"/>
        <c:axId val="1333504256"/>
      </c:barChart>
      <c:catAx>
        <c:axId val="1333506336"/>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IN" sz="1000">
                    <a:solidFill>
                      <a:schemeClr val="tx1"/>
                    </a:solidFill>
                    <a:latin typeface="Times New Roman" panose="02020603050405020304" pitchFamily="18" charset="0"/>
                    <a:cs typeface="Times New Roman" panose="02020603050405020304" pitchFamily="18" charset="0"/>
                  </a:rPr>
                  <a:t>Tags</a:t>
                </a:r>
              </a:p>
            </c:rich>
          </c:tx>
          <c:layout>
            <c:manualLayout>
              <c:xMode val="edge"/>
              <c:yMode val="edge"/>
              <c:x val="1.6372704638664401E-2"/>
              <c:y val="0.40416030794981206"/>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title>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1333504256"/>
        <c:crosses val="autoZero"/>
        <c:auto val="1"/>
        <c:lblAlgn val="ctr"/>
        <c:lblOffset val="100"/>
        <c:noMultiLvlLbl val="0"/>
      </c:catAx>
      <c:valAx>
        <c:axId val="1333504256"/>
        <c:scaling>
          <c:orientation val="minMax"/>
        </c:scaling>
        <c:delete val="0"/>
        <c:axPos val="b"/>
        <c:title>
          <c:tx>
            <c:rich>
              <a:bodyPr rot="0" spcFirstLastPara="1" vertOverflow="ellipsis" vert="horz" wrap="square" anchor="ctr" anchorCtr="1"/>
              <a:lstStyle/>
              <a:p>
                <a:pPr>
                  <a:defRPr sz="105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IN" sz="1050" dirty="0">
                    <a:solidFill>
                      <a:schemeClr val="tx1"/>
                    </a:solidFill>
                    <a:latin typeface="Times New Roman" panose="02020603050405020304" pitchFamily="18" charset="0"/>
                    <a:cs typeface="Times New Roman" panose="02020603050405020304" pitchFamily="18" charset="0"/>
                  </a:rPr>
                  <a:t>Average likes </a:t>
                </a:r>
                <a:r>
                  <a:rPr lang="en-IN" sz="1000" dirty="0">
                    <a:solidFill>
                      <a:schemeClr val="tx1"/>
                    </a:solidFill>
                    <a:latin typeface="Times New Roman" panose="02020603050405020304" pitchFamily="18" charset="0"/>
                    <a:cs typeface="Times New Roman" panose="02020603050405020304" pitchFamily="18" charset="0"/>
                  </a:rPr>
                  <a:t>per</a:t>
                </a:r>
                <a:r>
                  <a:rPr lang="en-IN" sz="1050" dirty="0">
                    <a:solidFill>
                      <a:schemeClr val="tx1"/>
                    </a:solidFill>
                    <a:latin typeface="Times New Roman" panose="02020603050405020304" pitchFamily="18" charset="0"/>
                    <a:cs typeface="Times New Roman" panose="02020603050405020304" pitchFamily="18" charset="0"/>
                  </a:rPr>
                  <a:t> photo</a:t>
                </a:r>
              </a:p>
            </c:rich>
          </c:tx>
          <c:layout/>
          <c:overlay val="0"/>
          <c:spPr>
            <a:noFill/>
            <a:ln>
              <a:noFill/>
            </a:ln>
            <a:effectLst/>
          </c:spPr>
          <c:txPr>
            <a:bodyPr rot="0" spcFirstLastPara="1" vertOverflow="ellipsis" vert="horz" wrap="square" anchor="ctr" anchorCtr="1"/>
            <a:lstStyle/>
            <a:p>
              <a:pPr>
                <a:defRPr sz="105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title>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133350633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10"/>
  <c:chart>
    <c:autoTitleDeleted val="1"/>
    <c:plotArea>
      <c:layout/>
      <c:doughnutChart>
        <c:varyColors val="1"/>
        <c:ser>
          <c:idx val="0"/>
          <c:order val="0"/>
          <c:tx>
            <c:strRef>
              <c:f>Sheet1!$B$1</c:f>
              <c:strCache>
                <c:ptCount val="1"/>
                <c:pt idx="0">
                  <c:v>Users</c:v>
                </c:pt>
              </c:strCache>
            </c:strRef>
          </c:tx>
          <c:spPr>
            <a:solidFill>
              <a:srgbClr val="7EABAA"/>
            </a:solidFill>
            <a:ln>
              <a:noFill/>
            </a:ln>
          </c:spPr>
          <c:dPt>
            <c:idx val="0"/>
            <c:bubble3D val="0"/>
            <c:spPr>
              <a:solidFill>
                <a:srgbClr val="BE776F"/>
              </a:solidFill>
            </c:spPr>
            <c:extLst>
              <c:ext xmlns:c16="http://schemas.microsoft.com/office/drawing/2014/chart" uri="{C3380CC4-5D6E-409C-BE32-E72D297353CC}">
                <c16:uniqueId val="{00000001-ADE5-4874-970C-AF5FB556B5C2}"/>
              </c:ext>
            </c:extLst>
          </c:dPt>
          <c:dPt>
            <c:idx val="1"/>
            <c:bubble3D val="0"/>
            <c:spPr>
              <a:solidFill>
                <a:srgbClr val="7EABAA"/>
              </a:solidFill>
            </c:spPr>
            <c:extLst>
              <c:ext xmlns:c16="http://schemas.microsoft.com/office/drawing/2014/chart" uri="{C3380CC4-5D6E-409C-BE32-E72D297353CC}">
                <c16:uniqueId val="{00000003-ADE5-4874-970C-AF5FB556B5C2}"/>
              </c:ext>
            </c:extLst>
          </c:dPt>
          <c:dPt>
            <c:idx val="2"/>
            <c:bubble3D val="0"/>
            <c:spPr>
              <a:solidFill>
                <a:srgbClr val="5E8B91"/>
              </a:solidFill>
            </c:spPr>
            <c:extLst>
              <c:ext xmlns:c16="http://schemas.microsoft.com/office/drawing/2014/chart" uri="{C3380CC4-5D6E-409C-BE32-E72D297353CC}">
                <c16:uniqueId val="{00000005-ADE5-4874-970C-AF5FB556B5C2}"/>
              </c:ext>
            </c:extLst>
          </c:dPt>
          <c:dPt>
            <c:idx val="3"/>
            <c:bubble3D val="0"/>
            <c:spPr>
              <a:solidFill>
                <a:srgbClr val="B09158"/>
              </a:solidFill>
            </c:spPr>
            <c:extLst>
              <c:ext xmlns:c16="http://schemas.microsoft.com/office/drawing/2014/chart" uri="{C3380CC4-5D6E-409C-BE32-E72D297353CC}">
                <c16:uniqueId val="{00000007-ADE5-4874-970C-AF5FB556B5C2}"/>
              </c:ext>
            </c:extLst>
          </c:dPt>
          <c:dLbls>
            <c:delete val="1"/>
          </c:dLbls>
          <c:cat>
            <c:strRef>
              <c:f>Sheet1!$A$2:$A$5</c:f>
              <c:strCache>
                <c:ptCount val="4"/>
                <c:pt idx="0">
                  <c:v>Silent</c:v>
                </c:pt>
                <c:pt idx="1">
                  <c:v>Watchers</c:v>
                </c:pt>
                <c:pt idx="2">
                  <c:v>Broadcasters</c:v>
                </c:pt>
                <c:pt idx="3">
                  <c:v>Regular / occasional posters</c:v>
                </c:pt>
              </c:strCache>
            </c:strRef>
          </c:cat>
          <c:val>
            <c:numRef>
              <c:f>Sheet1!$B$2:$B$5</c:f>
              <c:numCache>
                <c:formatCode>General</c:formatCode>
                <c:ptCount val="4"/>
                <c:pt idx="0">
                  <c:v>13</c:v>
                </c:pt>
                <c:pt idx="1">
                  <c:v>13</c:v>
                </c:pt>
                <c:pt idx="2">
                  <c:v>10</c:v>
                </c:pt>
                <c:pt idx="3">
                  <c:v>64</c:v>
                </c:pt>
              </c:numCache>
            </c:numRef>
          </c:val>
          <c:extLst>
            <c:ext xmlns:c16="http://schemas.microsoft.com/office/drawing/2014/chart" uri="{C3380CC4-5D6E-409C-BE32-E72D297353CC}">
              <c16:uniqueId val="{00000008-ADE5-4874-970C-AF5FB556B5C2}"/>
            </c:ext>
          </c:extLst>
        </c:ser>
        <c:dLbls>
          <c:showLegendKey val="0"/>
          <c:showVal val="0"/>
          <c:showCatName val="0"/>
          <c:showSerName val="0"/>
          <c:showPercent val="1"/>
          <c:showBubbleSize val="0"/>
          <c:showLeaderLines val="1"/>
        </c:dLbls>
        <c:firstSliceAng val="0"/>
        <c:holeSize val="50"/>
      </c:doughnutChart>
    </c:plotArea>
    <c:legend>
      <c:legendPos val="r"/>
      <c:layout>
        <c:manualLayout>
          <c:xMode val="edge"/>
          <c:yMode val="edge"/>
          <c:x val="0.65926164967084033"/>
          <c:y val="0.70236512102653836"/>
          <c:w val="0.32024654705047118"/>
          <c:h val="0.26923592884222808"/>
        </c:manualLayout>
      </c:layout>
      <c:overlay val="0"/>
      <c:txPr>
        <a:bodyPr/>
        <a:lstStyle/>
        <a:p>
          <a:pPr>
            <a:defRPr sz="1100">
              <a:solidFill>
                <a:srgbClr val="24393A"/>
              </a:solidFill>
              <a:latin typeface="Times New Roman"/>
            </a:defRPr>
          </a:pPr>
          <a:endParaRPr lang="en-US"/>
        </a:p>
      </c:txPr>
    </c:legend>
    <c:plotVisOnly val="1"/>
    <c:dispBlanksAs val="gap"/>
    <c:showDLblsOverMax val="0"/>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[12.csv]12!PivotTable1</c:name>
    <c:fmtId val="3"/>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pivotFmt>
      <c:pivotFmt>
        <c:idx val="2"/>
        <c:spPr>
          <a:solidFill>
            <a:schemeClr val="accent1"/>
          </a:solidFill>
          <a:ln>
            <a:noFill/>
          </a:ln>
          <a:effectLst/>
        </c:spPr>
        <c:marker>
          <c:symbol val="none"/>
        </c:marker>
      </c:pivotFmt>
    </c:pivotFmts>
    <c:plotArea>
      <c:layout/>
      <c:barChart>
        <c:barDir val="col"/>
        <c:grouping val="clustered"/>
        <c:varyColors val="0"/>
        <c:ser>
          <c:idx val="0"/>
          <c:order val="0"/>
          <c:tx>
            <c:strRef>
              <c:f>'12'!$K$11</c:f>
              <c:strCache>
                <c:ptCount val="1"/>
                <c:pt idx="0">
                  <c:v>Total</c:v>
                </c:pt>
              </c:strCache>
            </c:strRef>
          </c:tx>
          <c:spPr>
            <a:solidFill>
              <a:schemeClr val="tx2">
                <a:lumMod val="50000"/>
              </a:schemeClr>
            </a:solidFill>
            <a:ln>
              <a:noFill/>
            </a:ln>
            <a:effectLst>
              <a:outerShdw blurRad="50800" dist="38100" dir="2700000" algn="tl" rotWithShape="0">
                <a:prstClr val="black">
                  <a:alpha val="40000"/>
                </a:prstClr>
              </a:outerShdw>
            </a:effectLst>
          </c:spPr>
          <c:invertIfNegative val="0"/>
          <c:cat>
            <c:strRef>
              <c:f>'12'!$J$12:$J$17</c:f>
              <c:strCache>
                <c:ptCount val="5"/>
                <c:pt idx="0">
                  <c:v>Janet.Armstrong</c:v>
                </c:pt>
                <c:pt idx="1">
                  <c:v>Malinda_Streich</c:v>
                </c:pt>
                <c:pt idx="2">
                  <c:v>Rick29</c:v>
                </c:pt>
                <c:pt idx="3">
                  <c:v>Seth46</c:v>
                </c:pt>
                <c:pt idx="4">
                  <c:v>Zack_Kemmer93</c:v>
                </c:pt>
              </c:strCache>
            </c:strRef>
          </c:cat>
          <c:val>
            <c:numRef>
              <c:f>'12'!$K$12:$K$17</c:f>
              <c:numCache>
                <c:formatCode>General</c:formatCode>
                <c:ptCount val="5"/>
                <c:pt idx="0">
                  <c:v>66.8</c:v>
                </c:pt>
                <c:pt idx="1">
                  <c:v>66.5</c:v>
                </c:pt>
                <c:pt idx="2">
                  <c:v>68</c:v>
                </c:pt>
                <c:pt idx="3">
                  <c:v>66</c:v>
                </c:pt>
                <c:pt idx="4">
                  <c:v>66.599999999999994</c:v>
                </c:pt>
              </c:numCache>
            </c:numRef>
          </c:val>
          <c:extLst>
            <c:ext xmlns:c16="http://schemas.microsoft.com/office/drawing/2014/chart" uri="{C3380CC4-5D6E-409C-BE32-E72D297353CC}">
              <c16:uniqueId val="{00000000-30B7-486C-BE6D-8EA66933E330}"/>
            </c:ext>
          </c:extLst>
        </c:ser>
        <c:dLbls>
          <c:showLegendKey val="0"/>
          <c:showVal val="0"/>
          <c:showCatName val="0"/>
          <c:showSerName val="0"/>
          <c:showPercent val="0"/>
          <c:showBubbleSize val="0"/>
        </c:dLbls>
        <c:gapWidth val="219"/>
        <c:overlap val="-27"/>
        <c:axId val="1454894223"/>
        <c:axId val="1454892559"/>
      </c:barChart>
      <c:catAx>
        <c:axId val="1454894223"/>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IN">
                    <a:solidFill>
                      <a:schemeClr val="tx1"/>
                    </a:solidFill>
                    <a:latin typeface="Times New Roman" panose="02020603050405020304" pitchFamily="18" charset="0"/>
                    <a:cs typeface="Times New Roman" panose="02020603050405020304" pitchFamily="18" charset="0"/>
                  </a:rPr>
                  <a:t>Username</a:t>
                </a:r>
              </a:p>
            </c:rich>
          </c:tx>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1454892559"/>
        <c:crosses val="autoZero"/>
        <c:auto val="1"/>
        <c:lblAlgn val="ctr"/>
        <c:lblOffset val="100"/>
        <c:noMultiLvlLbl val="0"/>
      </c:catAx>
      <c:valAx>
        <c:axId val="1454892559"/>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IN">
                    <a:solidFill>
                      <a:schemeClr val="tx1"/>
                    </a:solidFill>
                    <a:latin typeface="Times New Roman" panose="02020603050405020304" pitchFamily="18" charset="0"/>
                    <a:cs typeface="Times New Roman" panose="02020603050405020304" pitchFamily="18" charset="0"/>
                  </a:rPr>
                  <a:t>Avg</a:t>
                </a:r>
                <a:r>
                  <a:rPr lang="en-IN" baseline="0">
                    <a:solidFill>
                      <a:schemeClr val="tx1"/>
                    </a:solidFill>
                    <a:latin typeface="Times New Roman" panose="02020603050405020304" pitchFamily="18" charset="0"/>
                    <a:cs typeface="Times New Roman" panose="02020603050405020304" pitchFamily="18" charset="0"/>
                  </a:rPr>
                  <a:t> engagement per post</a:t>
                </a:r>
                <a:endParaRPr lang="en-IN">
                  <a:solidFill>
                    <a:schemeClr val="tx1"/>
                  </a:solidFill>
                  <a:latin typeface="Times New Roman" panose="02020603050405020304" pitchFamily="18" charset="0"/>
                  <a:cs typeface="Times New Roman" panose="02020603050405020304" pitchFamily="18" charset="0"/>
                </a:endParaRPr>
              </a:p>
            </c:rich>
          </c:tx>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1454894223"/>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61">
  <cs:axisTitle>
    <cs:lnRef idx="0"/>
    <cs:fillRef idx="0"/>
    <cs:effectRef idx="0"/>
    <cs:fontRef idx="minor">
      <a:schemeClr val="dk1">
        <a:lumMod val="65000"/>
        <a:lumOff val="35000"/>
      </a:schemeClr>
    </cs:fontRef>
    <cs:defRPr sz="1197" kern="1200"/>
  </cs:axisTitle>
  <cs:categoryAxis>
    <cs:lnRef idx="0"/>
    <cs:fillRef idx="0"/>
    <cs:effectRef idx="0"/>
    <cs:fontRef idx="minor">
      <a:schemeClr val="dk1">
        <a:lumMod val="65000"/>
        <a:lumOff val="35000"/>
      </a:schemeClr>
    </cs:fontRef>
    <cs:defRPr sz="1197" kern="1200"/>
  </cs:categoryAxis>
  <cs:chartArea>
    <cs:lnRef idx="0"/>
    <cs:fillRef idx="0"/>
    <cs:effectRef idx="0"/>
    <cs:fontRef idx="minor">
      <a:schemeClr val="dk1"/>
    </cs:fontRef>
    <cs:spPr>
      <a:pattFill prst="dkDnDiag">
        <a:fgClr>
          <a:schemeClr val="lt1">
            <a:lumMod val="95000"/>
          </a:schemeClr>
        </a:fgClr>
        <a:bgClr>
          <a:schemeClr val="lt1"/>
        </a:bgClr>
      </a:pattFill>
      <a:ln w="9525" cap="flat" cmpd="sng" algn="ctr">
        <a:solidFill>
          <a:schemeClr val="dk1">
            <a:lumMod val="15000"/>
            <a:lumOff val="8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317500" algn="ctr" rotWithShape="0">
          <a:prstClr val="black">
            <a:alpha val="25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20000"/>
          </a:prstClr>
        </a:outerShdw>
      </a:effectLst>
      <a:scene3d>
        <a:camera prst="orthographicFront"/>
        <a:lightRig rig="threePt" dir="t"/>
      </a:scene3d>
      <a:sp3d prstMaterial="matte"/>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noFill/>
      <a:ln w="9525" cap="flat" cmpd="sng" algn="ctr">
        <a:solidFill>
          <a:schemeClr val="dk1">
            <a:lumMod val="15000"/>
            <a:lumOff val="85000"/>
          </a:schemeClr>
        </a:solidFill>
        <a:round/>
      </a:ln>
    </cs:spPr>
    <cs:defRPr sz="1197"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65000"/>
            <a:lumOff val="35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65000"/>
            <a:lumOff val="35000"/>
          </a:schemeClr>
        </a:solidFill>
        <a:round/>
      </a:ln>
    </cs:spPr>
  </cs:errorBar>
  <cs:floor>
    <cs:lnRef idx="0"/>
    <cs:fillRef idx="0"/>
    <cs:effectRef idx="0"/>
    <cs:fontRef idx="minor">
      <a:schemeClr val="dk1"/>
    </cs:fontRef>
    <cs:spPr>
      <a:noFill/>
      <a:ln>
        <a:noFill/>
      </a:ln>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50000"/>
            <a:lumOff val="50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78000"/>
        </a:schemeClr>
      </a:solidFill>
    </cs:spPr>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dk1">
        <a:lumMod val="65000"/>
        <a:lumOff val="35000"/>
      </a:schemeClr>
    </cs:fontRef>
    <cs:defRPr sz="1197"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inor">
      <a:schemeClr val="dk1">
        <a:lumMod val="65000"/>
        <a:lumOff val="35000"/>
      </a:schemeClr>
    </cs:fontRef>
    <cs:defRPr sz="2200" b="1" kern="120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cap="flat" cmpd="sng" algn="ctr">
        <a:solidFill>
          <a:schemeClr val="dk1">
            <a:lumMod val="65000"/>
            <a:lumOff val="35000"/>
          </a:schemeClr>
        </a:solidFill>
        <a:round/>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472A55-33E6-4055-9656-C8A12E6F8EE5}" type="datetimeFigureOut">
              <a:rPr lang="en-IN" smtClean="0"/>
              <a:t>27-10-2026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E6D6A5-F162-4182-BBF4-EC8926A11C31}" type="slidenum">
              <a:rPr lang="en-IN" smtClean="0"/>
              <a:t>‹#›</a:t>
            </a:fld>
            <a:endParaRPr lang="en-IN"/>
          </a:p>
        </p:txBody>
      </p:sp>
    </p:spTree>
    <p:extLst>
      <p:ext uri="{BB962C8B-B14F-4D97-AF65-F5344CB8AC3E}">
        <p14:creationId xmlns:p14="http://schemas.microsoft.com/office/powerpoint/2010/main" val="28484434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E9E6D6A5-F162-4182-BBF4-EC8926A11C31}" type="slidenum">
              <a:rPr lang="en-IN" smtClean="0"/>
              <a:t>4</a:t>
            </a:fld>
            <a:endParaRPr lang="en-IN"/>
          </a:p>
        </p:txBody>
      </p:sp>
    </p:spTree>
    <p:extLst>
      <p:ext uri="{BB962C8B-B14F-4D97-AF65-F5344CB8AC3E}">
        <p14:creationId xmlns:p14="http://schemas.microsoft.com/office/powerpoint/2010/main" val="35915136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10/27/2026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10/27/2026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hart" Target="../charts/chart1.xml"/><Relationship Id="rId1" Type="http://schemas.openxmlformats.org/officeDocument/2006/relationships/slideLayout" Target="../slideLayouts/slideLayout7.xml"/><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hart" Target="../charts/chart2.xml"/><Relationship Id="rId1" Type="http://schemas.openxmlformats.org/officeDocument/2006/relationships/slideLayout" Target="../slideLayouts/slideLayout7.xml"/><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chart" Target="../charts/chart3.xml"/></Relationships>
</file>

<file path=ppt/slides/_rels/slide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hart" Target="../charts/chart4.xml"/><Relationship Id="rId1" Type="http://schemas.openxmlformats.org/officeDocument/2006/relationships/slideLayout" Target="../slideLayouts/slideLayout7.xml"/><Relationship Id="rId4" Type="http://schemas.microsoft.com/office/2007/relationships/hdphoto" Target="../media/hdphoto1.wdp"/></Relationships>
</file>

<file path=ppt/slides/_rels/slide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chart" Target="../charts/char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9F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7EABAA"/>
          </a:solidFill>
          <a:ln>
            <a:solidFill>
              <a:srgbClr val="7EABAA"/>
            </a:solidFill>
          </a:ln>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spcBef>
                <a:spcPts val="0"/>
              </a:spcBef>
              <a:spcAft>
                <a:spcPts val="300"/>
              </a:spcAft>
            </a:pPr>
            <a:endParaRPr/>
          </a:p>
        </p:txBody>
      </p:sp>
      <p:sp>
        <p:nvSpPr>
          <p:cNvPr id="3" name="Oval 2"/>
          <p:cNvSpPr/>
          <p:nvPr/>
        </p:nvSpPr>
        <p:spPr>
          <a:xfrm>
            <a:off x="7818120" y="822960"/>
            <a:ext cx="2606040" cy="2514600"/>
          </a:xfrm>
          <a:prstGeom prst="ellipse">
            <a:avLst/>
          </a:prstGeom>
          <a:blipFill dpi="0" rotWithShape="1">
            <a:blip r:embed="rId2">
              <a:extLst>
                <a:ext uri="{28A0092B-C50C-407E-A947-70E740481C1C}">
                  <a14:useLocalDpi xmlns:a14="http://schemas.microsoft.com/office/drawing/2010/main" val="0"/>
                </a:ext>
              </a:extLst>
            </a:blip>
            <a:srcRect/>
            <a:stretch>
              <a:fillRect/>
            </a:stretch>
          </a:blipFill>
          <a:ln>
            <a:solidFill>
              <a:srgbClr val="DCE7E4"/>
            </a:solidFill>
          </a:ln>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spcBef>
                <a:spcPts val="0"/>
              </a:spcBef>
              <a:spcAft>
                <a:spcPts val="300"/>
              </a:spcAft>
            </a:pPr>
            <a:endParaRPr/>
          </a:p>
        </p:txBody>
      </p:sp>
      <p:sp>
        <p:nvSpPr>
          <p:cNvPr id="4" name="Oval 3"/>
          <p:cNvSpPr/>
          <p:nvPr/>
        </p:nvSpPr>
        <p:spPr>
          <a:xfrm>
            <a:off x="9037320" y="2760751"/>
            <a:ext cx="2026920" cy="1996440"/>
          </a:xfrm>
          <a:prstGeom prst="ellipse">
            <a:avLst/>
          </a:prstGeom>
          <a:blipFill dpi="0" rotWithShape="1">
            <a:blip r:embed="rId3">
              <a:extLst>
                <a:ext uri="{28A0092B-C50C-407E-A947-70E740481C1C}">
                  <a14:useLocalDpi xmlns:a14="http://schemas.microsoft.com/office/drawing/2010/main" val="0"/>
                </a:ext>
              </a:extLst>
            </a:blip>
            <a:srcRect/>
            <a:stretch>
              <a:fillRect/>
            </a:stretch>
          </a:blipFill>
          <a:ln>
            <a:solidFill>
              <a:srgbClr val="DCE7E4"/>
            </a:solidFill>
          </a:ln>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spcBef>
                <a:spcPts val="0"/>
              </a:spcBef>
              <a:spcAft>
                <a:spcPts val="300"/>
              </a:spcAft>
            </a:pPr>
            <a:endParaRPr/>
          </a:p>
        </p:txBody>
      </p:sp>
      <p:sp>
        <p:nvSpPr>
          <p:cNvPr id="5" name="Oval 4"/>
          <p:cNvSpPr/>
          <p:nvPr/>
        </p:nvSpPr>
        <p:spPr>
          <a:xfrm>
            <a:off x="7490460" y="3590175"/>
            <a:ext cx="914400" cy="914400"/>
          </a:xfrm>
          <a:prstGeom prst="ellipse">
            <a:avLst/>
          </a:prstGeom>
          <a:solidFill>
            <a:srgbClr val="BE776F"/>
          </a:solidFill>
          <a:ln>
            <a:solidFill>
              <a:srgbClr val="BE776F"/>
            </a:solidFill>
          </a:ln>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spcBef>
                <a:spcPts val="0"/>
              </a:spcBef>
              <a:spcAft>
                <a:spcPts val="300"/>
              </a:spcAft>
            </a:pPr>
            <a:endParaRPr/>
          </a:p>
        </p:txBody>
      </p:sp>
      <p:sp>
        <p:nvSpPr>
          <p:cNvPr id="6" name="TextBox 5"/>
          <p:cNvSpPr txBox="1"/>
          <p:nvPr/>
        </p:nvSpPr>
        <p:spPr>
          <a:xfrm>
            <a:off x="777240" y="1686098"/>
            <a:ext cx="6126480" cy="1074653"/>
          </a:xfrm>
          <a:prstGeom prst="rect">
            <a:avLst/>
          </a:prstGeom>
          <a:noFill/>
        </p:spPr>
        <p:txBody>
          <a:bodyPr wrap="square" lIns="38100" tIns="25400" rIns="38100" bIns="25400" anchor="t">
            <a:spAutoFit/>
          </a:bodyPr>
          <a:lstStyle/>
          <a:p>
            <a:pPr algn="l">
              <a:spcBef>
                <a:spcPts val="0"/>
              </a:spcBef>
              <a:spcAft>
                <a:spcPts val="300"/>
              </a:spcAft>
            </a:pPr>
            <a:r>
              <a:rPr sz="3200" b="1" i="0" dirty="0">
                <a:solidFill>
                  <a:srgbClr val="395B5E"/>
                </a:solidFill>
                <a:latin typeface="Times New Roman"/>
              </a:rPr>
              <a:t>SOCIAL MEDIA </a:t>
            </a:r>
            <a:r>
              <a:rPr lang="en-IN" sz="3200" b="1" dirty="0">
                <a:solidFill>
                  <a:srgbClr val="395B5E"/>
                </a:solidFill>
                <a:latin typeface="Times New Roman"/>
              </a:rPr>
              <a:t> </a:t>
            </a:r>
            <a:endParaRPr lang="en-IN" sz="3200" b="1" dirty="0" smtClean="0">
              <a:solidFill>
                <a:srgbClr val="395B5E"/>
              </a:solidFill>
              <a:latin typeface="Times New Roman"/>
            </a:endParaRPr>
          </a:p>
          <a:p>
            <a:pPr algn="l">
              <a:spcBef>
                <a:spcPts val="0"/>
              </a:spcBef>
              <a:spcAft>
                <a:spcPts val="300"/>
              </a:spcAft>
            </a:pPr>
            <a:r>
              <a:rPr lang="en-IN" sz="3200" b="1" dirty="0" smtClean="0">
                <a:solidFill>
                  <a:srgbClr val="395B5E"/>
                </a:solidFill>
                <a:latin typeface="Times New Roman"/>
              </a:rPr>
              <a:t>ENGAGEMENT ANALYSIS</a:t>
            </a:r>
            <a:endParaRPr sz="3200" b="1" i="0" dirty="0">
              <a:solidFill>
                <a:srgbClr val="395B5E"/>
              </a:solidFill>
              <a:latin typeface="Times New Roman"/>
            </a:endParaRPr>
          </a:p>
        </p:txBody>
      </p:sp>
      <p:sp>
        <p:nvSpPr>
          <p:cNvPr id="9" name="Rounded Rectangle 8"/>
          <p:cNvSpPr/>
          <p:nvPr/>
        </p:nvSpPr>
        <p:spPr>
          <a:xfrm>
            <a:off x="2948940" y="5579490"/>
            <a:ext cx="5212080" cy="777240"/>
          </a:xfrm>
          <a:prstGeom prst="roundRect">
            <a:avLst/>
          </a:prstGeom>
          <a:solidFill>
            <a:srgbClr val="FFFFFF"/>
          </a:solidFill>
          <a:ln>
            <a:solidFill>
              <a:srgbClr val="DCE7E4"/>
            </a:solidFill>
          </a:ln>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spcBef>
                <a:spcPts val="0"/>
              </a:spcBef>
              <a:spcAft>
                <a:spcPts val="300"/>
              </a:spcAft>
            </a:pPr>
            <a:endParaRPr/>
          </a:p>
        </p:txBody>
      </p:sp>
      <p:sp>
        <p:nvSpPr>
          <p:cNvPr id="10" name="TextBox 9"/>
          <p:cNvSpPr txBox="1"/>
          <p:nvPr/>
        </p:nvSpPr>
        <p:spPr>
          <a:xfrm>
            <a:off x="2948940" y="5819351"/>
            <a:ext cx="4754880" cy="328295"/>
          </a:xfrm>
          <a:prstGeom prst="rect">
            <a:avLst/>
          </a:prstGeom>
          <a:noFill/>
        </p:spPr>
        <p:txBody>
          <a:bodyPr wrap="square" lIns="38100" tIns="25400" rIns="38100" bIns="25400" anchor="t">
            <a:spAutoFit/>
          </a:bodyPr>
          <a:lstStyle/>
          <a:p>
            <a:pPr algn="ctr">
              <a:spcBef>
                <a:spcPts val="0"/>
              </a:spcBef>
              <a:spcAft>
                <a:spcPts val="300"/>
              </a:spcAft>
            </a:pPr>
            <a:r>
              <a:rPr lang="en-IN" b="1" dirty="0" smtClean="0">
                <a:solidFill>
                  <a:srgbClr val="587070"/>
                </a:solidFill>
                <a:latin typeface="Times New Roman"/>
              </a:rPr>
              <a:t>Submitted by: Mahesh </a:t>
            </a:r>
            <a:r>
              <a:rPr lang="en-IN" b="1" dirty="0" err="1" smtClean="0">
                <a:solidFill>
                  <a:srgbClr val="587070"/>
                </a:solidFill>
                <a:latin typeface="Times New Roman"/>
              </a:rPr>
              <a:t>Nagargoje</a:t>
            </a:r>
            <a:endParaRPr b="1" i="0" dirty="0">
              <a:solidFill>
                <a:srgbClr val="587070"/>
              </a:solidFill>
              <a:latin typeface="Times New Roman"/>
            </a:endParaRPr>
          </a:p>
        </p:txBody>
      </p:sp>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49280" y="2631261"/>
            <a:ext cx="4573799" cy="2574129"/>
          </a:xfrm>
          <a:prstGeom prst="ellipse">
            <a:avLst/>
          </a:prstGeom>
          <a:ln>
            <a:noFill/>
          </a:ln>
          <a:effectLst>
            <a:softEdge rad="112500"/>
          </a:effectLst>
          <a:scene3d>
            <a:camera prst="isometricOffAxis1Right"/>
            <a:lightRig rig="threePt" dir="t"/>
          </a:scene3d>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7EABAA"/>
          </a:solidFill>
          <a:ln>
            <a:solidFill>
              <a:srgbClr val="7EABAA"/>
            </a:solidFill>
          </a:ln>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spcBef>
                <a:spcPts val="0"/>
              </a:spcBef>
              <a:spcAft>
                <a:spcPts val="300"/>
              </a:spcAft>
            </a:pPr>
            <a:endParaRPr/>
          </a:p>
        </p:txBody>
      </p:sp>
      <p:sp>
        <p:nvSpPr>
          <p:cNvPr id="3" name="TextBox 2"/>
          <p:cNvSpPr txBox="1"/>
          <p:nvPr/>
        </p:nvSpPr>
        <p:spPr>
          <a:xfrm>
            <a:off x="182880" y="420620"/>
            <a:ext cx="10881360" cy="420628"/>
          </a:xfrm>
          <a:prstGeom prst="rect">
            <a:avLst/>
          </a:prstGeom>
          <a:noFill/>
        </p:spPr>
        <p:txBody>
          <a:bodyPr wrap="square" lIns="38100" tIns="25400" rIns="38100" bIns="25400" anchor="t">
            <a:spAutoFit/>
          </a:bodyPr>
          <a:lstStyle/>
          <a:p>
            <a:pPr algn="l">
              <a:spcBef>
                <a:spcPts val="0"/>
              </a:spcBef>
              <a:spcAft>
                <a:spcPts val="300"/>
              </a:spcAft>
            </a:pPr>
            <a:r>
              <a:rPr lang="en-IN" sz="2400" b="1" i="0" dirty="0" smtClean="0">
                <a:solidFill>
                  <a:srgbClr val="587070"/>
                </a:solidFill>
                <a:latin typeface="Times New Roman"/>
              </a:rPr>
              <a:t>01 | INTRODUCTION</a:t>
            </a:r>
            <a:endParaRPr sz="2400" b="1" i="0" dirty="0">
              <a:solidFill>
                <a:srgbClr val="587070"/>
              </a:solidFill>
              <a:latin typeface="Times New Roman"/>
            </a:endParaRPr>
          </a:p>
        </p:txBody>
      </p:sp>
      <p:sp>
        <p:nvSpPr>
          <p:cNvPr id="8" name="Rounded Rectangle 7"/>
          <p:cNvSpPr/>
          <p:nvPr/>
        </p:nvSpPr>
        <p:spPr>
          <a:xfrm>
            <a:off x="640080" y="1874519"/>
            <a:ext cx="2606040" cy="1143000"/>
          </a:xfrm>
          <a:prstGeom prst="roundRect">
            <a:avLst/>
          </a:prstGeom>
          <a:solidFill>
            <a:srgbClr val="FFFFFF"/>
          </a:solidFill>
          <a:ln>
            <a:solidFill>
              <a:srgbClr val="DCE7E4"/>
            </a:solidFill>
          </a:ln>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spcBef>
                <a:spcPts val="0"/>
              </a:spcBef>
              <a:spcAft>
                <a:spcPts val="300"/>
              </a:spcAft>
            </a:pPr>
            <a:endParaRPr/>
          </a:p>
        </p:txBody>
      </p:sp>
      <p:sp>
        <p:nvSpPr>
          <p:cNvPr id="9" name="TextBox 8"/>
          <p:cNvSpPr txBox="1"/>
          <p:nvPr/>
        </p:nvSpPr>
        <p:spPr>
          <a:xfrm>
            <a:off x="804671" y="1984248"/>
            <a:ext cx="2276856" cy="201168"/>
          </a:xfrm>
          <a:prstGeom prst="rect">
            <a:avLst/>
          </a:prstGeom>
          <a:noFill/>
        </p:spPr>
        <p:txBody>
          <a:bodyPr wrap="square" lIns="38100" tIns="25400" rIns="38100" bIns="25400" anchor="t">
            <a:spAutoFit/>
          </a:bodyPr>
          <a:lstStyle/>
          <a:p>
            <a:pPr algn="l">
              <a:spcBef>
                <a:spcPts val="0"/>
              </a:spcBef>
              <a:spcAft>
                <a:spcPts val="300"/>
              </a:spcAft>
            </a:pPr>
            <a:r>
              <a:rPr sz="1100" b="1" i="0" dirty="0">
                <a:solidFill>
                  <a:srgbClr val="587070"/>
                </a:solidFill>
                <a:latin typeface="Times New Roman"/>
              </a:rPr>
              <a:t>REGISTERED USERS</a:t>
            </a:r>
          </a:p>
        </p:txBody>
      </p:sp>
      <p:sp>
        <p:nvSpPr>
          <p:cNvPr id="10" name="TextBox 9"/>
          <p:cNvSpPr txBox="1"/>
          <p:nvPr/>
        </p:nvSpPr>
        <p:spPr>
          <a:xfrm>
            <a:off x="804671" y="2203703"/>
            <a:ext cx="2276856" cy="438912"/>
          </a:xfrm>
          <a:prstGeom prst="rect">
            <a:avLst/>
          </a:prstGeom>
          <a:noFill/>
        </p:spPr>
        <p:txBody>
          <a:bodyPr wrap="square" lIns="38100" tIns="25400" rIns="38100" bIns="25400" anchor="t">
            <a:spAutoFit/>
          </a:bodyPr>
          <a:lstStyle/>
          <a:p>
            <a:pPr algn="l">
              <a:spcBef>
                <a:spcPts val="0"/>
              </a:spcBef>
              <a:spcAft>
                <a:spcPts val="300"/>
              </a:spcAft>
            </a:pPr>
            <a:r>
              <a:rPr sz="1600" b="1" i="0" dirty="0">
                <a:solidFill>
                  <a:srgbClr val="193132"/>
                </a:solidFill>
                <a:latin typeface="Times New Roman"/>
              </a:rPr>
              <a:t>100</a:t>
            </a:r>
          </a:p>
        </p:txBody>
      </p:sp>
      <p:sp>
        <p:nvSpPr>
          <p:cNvPr id="11" name="TextBox 10"/>
          <p:cNvSpPr txBox="1"/>
          <p:nvPr/>
        </p:nvSpPr>
        <p:spPr>
          <a:xfrm>
            <a:off x="804671" y="2679191"/>
            <a:ext cx="2276856" cy="235962"/>
          </a:xfrm>
          <a:prstGeom prst="rect">
            <a:avLst/>
          </a:prstGeom>
          <a:noFill/>
        </p:spPr>
        <p:txBody>
          <a:bodyPr wrap="square" lIns="38100" tIns="25400" rIns="38100" bIns="25400" anchor="t">
            <a:spAutoFit/>
          </a:bodyPr>
          <a:lstStyle/>
          <a:p>
            <a:pPr algn="l">
              <a:spcBef>
                <a:spcPts val="0"/>
              </a:spcBef>
              <a:spcAft>
                <a:spcPts val="300"/>
              </a:spcAft>
            </a:pPr>
            <a:r>
              <a:rPr sz="1200" b="0" i="0" dirty="0">
                <a:solidFill>
                  <a:srgbClr val="24393A"/>
                </a:solidFill>
                <a:latin typeface="Times New Roman"/>
              </a:rPr>
              <a:t>Base population</a:t>
            </a:r>
          </a:p>
        </p:txBody>
      </p:sp>
      <p:sp>
        <p:nvSpPr>
          <p:cNvPr id="12" name="Rounded Rectangle 11"/>
          <p:cNvSpPr/>
          <p:nvPr/>
        </p:nvSpPr>
        <p:spPr>
          <a:xfrm>
            <a:off x="3383280" y="1874519"/>
            <a:ext cx="2606040" cy="1143000"/>
          </a:xfrm>
          <a:prstGeom prst="roundRect">
            <a:avLst/>
          </a:prstGeom>
          <a:solidFill>
            <a:srgbClr val="FFFFFF"/>
          </a:solidFill>
          <a:ln>
            <a:solidFill>
              <a:srgbClr val="DCE7E4"/>
            </a:solidFill>
          </a:ln>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spcBef>
                <a:spcPts val="0"/>
              </a:spcBef>
              <a:spcAft>
                <a:spcPts val="300"/>
              </a:spcAft>
            </a:pPr>
            <a:endParaRPr/>
          </a:p>
        </p:txBody>
      </p:sp>
      <p:sp>
        <p:nvSpPr>
          <p:cNvPr id="13" name="TextBox 12"/>
          <p:cNvSpPr txBox="1"/>
          <p:nvPr/>
        </p:nvSpPr>
        <p:spPr>
          <a:xfrm>
            <a:off x="3547872" y="1984248"/>
            <a:ext cx="2276856" cy="201168"/>
          </a:xfrm>
          <a:prstGeom prst="rect">
            <a:avLst/>
          </a:prstGeom>
          <a:noFill/>
        </p:spPr>
        <p:txBody>
          <a:bodyPr wrap="square" lIns="38100" tIns="25400" rIns="38100" bIns="25400" anchor="t">
            <a:spAutoFit/>
          </a:bodyPr>
          <a:lstStyle/>
          <a:p>
            <a:pPr algn="l">
              <a:spcBef>
                <a:spcPts val="0"/>
              </a:spcBef>
              <a:spcAft>
                <a:spcPts val="300"/>
              </a:spcAft>
            </a:pPr>
            <a:r>
              <a:rPr sz="1100" b="1" i="0">
                <a:solidFill>
                  <a:srgbClr val="587070"/>
                </a:solidFill>
                <a:latin typeface="Times New Roman"/>
              </a:rPr>
              <a:t>POSTED AT LEAST ONCE</a:t>
            </a:r>
          </a:p>
        </p:txBody>
      </p:sp>
      <p:sp>
        <p:nvSpPr>
          <p:cNvPr id="14" name="TextBox 13"/>
          <p:cNvSpPr txBox="1"/>
          <p:nvPr/>
        </p:nvSpPr>
        <p:spPr>
          <a:xfrm>
            <a:off x="3547872" y="2203703"/>
            <a:ext cx="2276856" cy="438912"/>
          </a:xfrm>
          <a:prstGeom prst="rect">
            <a:avLst/>
          </a:prstGeom>
          <a:noFill/>
        </p:spPr>
        <p:txBody>
          <a:bodyPr wrap="square" lIns="38100" tIns="25400" rIns="38100" bIns="25400" anchor="t">
            <a:spAutoFit/>
          </a:bodyPr>
          <a:lstStyle/>
          <a:p>
            <a:pPr algn="l">
              <a:spcBef>
                <a:spcPts val="0"/>
              </a:spcBef>
              <a:spcAft>
                <a:spcPts val="300"/>
              </a:spcAft>
            </a:pPr>
            <a:r>
              <a:rPr sz="1600" b="1" i="0">
                <a:solidFill>
                  <a:srgbClr val="193132"/>
                </a:solidFill>
                <a:latin typeface="Times New Roman"/>
              </a:rPr>
              <a:t>74%</a:t>
            </a:r>
          </a:p>
        </p:txBody>
      </p:sp>
      <p:sp>
        <p:nvSpPr>
          <p:cNvPr id="15" name="TextBox 14"/>
          <p:cNvSpPr txBox="1"/>
          <p:nvPr/>
        </p:nvSpPr>
        <p:spPr>
          <a:xfrm>
            <a:off x="3547872" y="2679191"/>
            <a:ext cx="2276856" cy="235962"/>
          </a:xfrm>
          <a:prstGeom prst="rect">
            <a:avLst/>
          </a:prstGeom>
          <a:noFill/>
        </p:spPr>
        <p:txBody>
          <a:bodyPr wrap="square" lIns="38100" tIns="25400" rIns="38100" bIns="25400" anchor="t">
            <a:spAutoFit/>
          </a:bodyPr>
          <a:lstStyle/>
          <a:p>
            <a:pPr algn="l">
              <a:spcBef>
                <a:spcPts val="0"/>
              </a:spcBef>
              <a:spcAft>
                <a:spcPts val="300"/>
              </a:spcAft>
            </a:pPr>
            <a:r>
              <a:rPr sz="1200" b="0" i="0" dirty="0">
                <a:solidFill>
                  <a:srgbClr val="24393A"/>
                </a:solidFill>
                <a:latin typeface="Times New Roman"/>
              </a:rPr>
              <a:t>74 of 100 users</a:t>
            </a:r>
          </a:p>
        </p:txBody>
      </p:sp>
      <p:sp>
        <p:nvSpPr>
          <p:cNvPr id="16" name="Rounded Rectangle 15"/>
          <p:cNvSpPr/>
          <p:nvPr/>
        </p:nvSpPr>
        <p:spPr>
          <a:xfrm>
            <a:off x="6126480" y="1874519"/>
            <a:ext cx="2606040" cy="1143000"/>
          </a:xfrm>
          <a:prstGeom prst="roundRect">
            <a:avLst/>
          </a:prstGeom>
          <a:solidFill>
            <a:srgbClr val="FFFFFF"/>
          </a:solidFill>
          <a:ln>
            <a:solidFill>
              <a:srgbClr val="DCE7E4"/>
            </a:solidFill>
          </a:ln>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spcBef>
                <a:spcPts val="0"/>
              </a:spcBef>
              <a:spcAft>
                <a:spcPts val="300"/>
              </a:spcAft>
            </a:pPr>
            <a:endParaRPr/>
          </a:p>
        </p:txBody>
      </p:sp>
      <p:sp>
        <p:nvSpPr>
          <p:cNvPr id="17" name="TextBox 16"/>
          <p:cNvSpPr txBox="1"/>
          <p:nvPr/>
        </p:nvSpPr>
        <p:spPr>
          <a:xfrm>
            <a:off x="6291072" y="1984248"/>
            <a:ext cx="2276856" cy="201168"/>
          </a:xfrm>
          <a:prstGeom prst="rect">
            <a:avLst/>
          </a:prstGeom>
          <a:noFill/>
        </p:spPr>
        <p:txBody>
          <a:bodyPr wrap="square" lIns="38100" tIns="25400" rIns="38100" bIns="25400" anchor="t">
            <a:spAutoFit/>
          </a:bodyPr>
          <a:lstStyle/>
          <a:p>
            <a:pPr algn="l">
              <a:spcBef>
                <a:spcPts val="0"/>
              </a:spcBef>
              <a:spcAft>
                <a:spcPts val="300"/>
              </a:spcAft>
            </a:pPr>
            <a:r>
              <a:rPr sz="1100" b="1" i="0">
                <a:solidFill>
                  <a:srgbClr val="587070"/>
                </a:solidFill>
                <a:latin typeface="Times New Roman"/>
              </a:rPr>
              <a:t>LIKES RECORDED</a:t>
            </a:r>
          </a:p>
        </p:txBody>
      </p:sp>
      <p:sp>
        <p:nvSpPr>
          <p:cNvPr id="18" name="TextBox 17"/>
          <p:cNvSpPr txBox="1"/>
          <p:nvPr/>
        </p:nvSpPr>
        <p:spPr>
          <a:xfrm>
            <a:off x="6291072" y="2203703"/>
            <a:ext cx="2276856" cy="438912"/>
          </a:xfrm>
          <a:prstGeom prst="rect">
            <a:avLst/>
          </a:prstGeom>
          <a:noFill/>
        </p:spPr>
        <p:txBody>
          <a:bodyPr wrap="square" lIns="38100" tIns="25400" rIns="38100" bIns="25400" anchor="t">
            <a:spAutoFit/>
          </a:bodyPr>
          <a:lstStyle/>
          <a:p>
            <a:pPr algn="l">
              <a:spcBef>
                <a:spcPts val="0"/>
              </a:spcBef>
              <a:spcAft>
                <a:spcPts val="300"/>
              </a:spcAft>
            </a:pPr>
            <a:r>
              <a:rPr sz="1600" b="1" i="0">
                <a:solidFill>
                  <a:srgbClr val="193132"/>
                </a:solidFill>
                <a:latin typeface="Times New Roman"/>
              </a:rPr>
              <a:t>8,782</a:t>
            </a:r>
          </a:p>
        </p:txBody>
      </p:sp>
      <p:sp>
        <p:nvSpPr>
          <p:cNvPr id="19" name="TextBox 18"/>
          <p:cNvSpPr txBox="1"/>
          <p:nvPr/>
        </p:nvSpPr>
        <p:spPr>
          <a:xfrm>
            <a:off x="6291072" y="2679191"/>
            <a:ext cx="2276856" cy="235962"/>
          </a:xfrm>
          <a:prstGeom prst="rect">
            <a:avLst/>
          </a:prstGeom>
          <a:noFill/>
        </p:spPr>
        <p:txBody>
          <a:bodyPr wrap="square" lIns="38100" tIns="25400" rIns="38100" bIns="25400" anchor="t">
            <a:spAutoFit/>
          </a:bodyPr>
          <a:lstStyle/>
          <a:p>
            <a:pPr algn="l">
              <a:spcBef>
                <a:spcPts val="0"/>
              </a:spcBef>
              <a:spcAft>
                <a:spcPts val="300"/>
              </a:spcAft>
            </a:pPr>
            <a:r>
              <a:rPr sz="1200" b="0" i="0" dirty="0">
                <a:solidFill>
                  <a:srgbClr val="24393A"/>
                </a:solidFill>
                <a:latin typeface="Times New Roman"/>
              </a:rPr>
              <a:t>Platform total</a:t>
            </a:r>
          </a:p>
        </p:txBody>
      </p:sp>
      <p:sp>
        <p:nvSpPr>
          <p:cNvPr id="20" name="Rounded Rectangle 19"/>
          <p:cNvSpPr/>
          <p:nvPr/>
        </p:nvSpPr>
        <p:spPr>
          <a:xfrm>
            <a:off x="8869680" y="1874519"/>
            <a:ext cx="2606040" cy="1143000"/>
          </a:xfrm>
          <a:prstGeom prst="roundRect">
            <a:avLst/>
          </a:prstGeom>
          <a:solidFill>
            <a:srgbClr val="FFFFFF"/>
          </a:solidFill>
          <a:ln>
            <a:solidFill>
              <a:srgbClr val="DCE7E4"/>
            </a:solidFill>
          </a:ln>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spcBef>
                <a:spcPts val="0"/>
              </a:spcBef>
              <a:spcAft>
                <a:spcPts val="300"/>
              </a:spcAft>
            </a:pPr>
            <a:endParaRPr/>
          </a:p>
        </p:txBody>
      </p:sp>
      <p:sp>
        <p:nvSpPr>
          <p:cNvPr id="21" name="TextBox 20"/>
          <p:cNvSpPr txBox="1"/>
          <p:nvPr/>
        </p:nvSpPr>
        <p:spPr>
          <a:xfrm>
            <a:off x="9034272" y="1984248"/>
            <a:ext cx="2276856" cy="201168"/>
          </a:xfrm>
          <a:prstGeom prst="rect">
            <a:avLst/>
          </a:prstGeom>
          <a:noFill/>
        </p:spPr>
        <p:txBody>
          <a:bodyPr wrap="square" lIns="38100" tIns="25400" rIns="38100" bIns="25400" anchor="t">
            <a:spAutoFit/>
          </a:bodyPr>
          <a:lstStyle/>
          <a:p>
            <a:pPr algn="l">
              <a:spcBef>
                <a:spcPts val="0"/>
              </a:spcBef>
              <a:spcAft>
                <a:spcPts val="300"/>
              </a:spcAft>
            </a:pPr>
            <a:r>
              <a:rPr sz="1100" b="1" i="0">
                <a:solidFill>
                  <a:srgbClr val="587070"/>
                </a:solidFill>
                <a:latin typeface="Times New Roman"/>
              </a:rPr>
              <a:t>COMMENTS RECORDED</a:t>
            </a:r>
          </a:p>
        </p:txBody>
      </p:sp>
      <p:sp>
        <p:nvSpPr>
          <p:cNvPr id="22" name="TextBox 21"/>
          <p:cNvSpPr txBox="1"/>
          <p:nvPr/>
        </p:nvSpPr>
        <p:spPr>
          <a:xfrm>
            <a:off x="9034272" y="2203703"/>
            <a:ext cx="2276856" cy="438912"/>
          </a:xfrm>
          <a:prstGeom prst="rect">
            <a:avLst/>
          </a:prstGeom>
          <a:noFill/>
        </p:spPr>
        <p:txBody>
          <a:bodyPr wrap="square" lIns="38100" tIns="25400" rIns="38100" bIns="25400" anchor="t">
            <a:spAutoFit/>
          </a:bodyPr>
          <a:lstStyle/>
          <a:p>
            <a:pPr algn="l">
              <a:spcBef>
                <a:spcPts val="0"/>
              </a:spcBef>
              <a:spcAft>
                <a:spcPts val="300"/>
              </a:spcAft>
            </a:pPr>
            <a:r>
              <a:rPr sz="1600" b="1" i="0">
                <a:solidFill>
                  <a:srgbClr val="193132"/>
                </a:solidFill>
                <a:latin typeface="Times New Roman"/>
              </a:rPr>
              <a:t>7,488</a:t>
            </a:r>
          </a:p>
        </p:txBody>
      </p:sp>
      <p:sp>
        <p:nvSpPr>
          <p:cNvPr id="23" name="TextBox 22"/>
          <p:cNvSpPr txBox="1"/>
          <p:nvPr/>
        </p:nvSpPr>
        <p:spPr>
          <a:xfrm>
            <a:off x="9034272" y="2679191"/>
            <a:ext cx="2276856" cy="235962"/>
          </a:xfrm>
          <a:prstGeom prst="rect">
            <a:avLst/>
          </a:prstGeom>
          <a:noFill/>
        </p:spPr>
        <p:txBody>
          <a:bodyPr wrap="square" lIns="38100" tIns="25400" rIns="38100" bIns="25400" anchor="t">
            <a:spAutoFit/>
          </a:bodyPr>
          <a:lstStyle/>
          <a:p>
            <a:pPr algn="l">
              <a:spcBef>
                <a:spcPts val="0"/>
              </a:spcBef>
              <a:spcAft>
                <a:spcPts val="300"/>
              </a:spcAft>
            </a:pPr>
            <a:r>
              <a:rPr sz="1200" b="0" i="0" dirty="0">
                <a:solidFill>
                  <a:srgbClr val="24393A"/>
                </a:solidFill>
                <a:latin typeface="Times New Roman"/>
              </a:rPr>
              <a:t>Platform total</a:t>
            </a:r>
          </a:p>
        </p:txBody>
      </p:sp>
      <p:sp>
        <p:nvSpPr>
          <p:cNvPr id="24" name="Rounded Rectangle 23"/>
          <p:cNvSpPr/>
          <p:nvPr/>
        </p:nvSpPr>
        <p:spPr>
          <a:xfrm>
            <a:off x="640080" y="3429000"/>
            <a:ext cx="5349240" cy="1965960"/>
          </a:xfrm>
          <a:prstGeom prst="roundRect">
            <a:avLst/>
          </a:prstGeom>
          <a:solidFill>
            <a:srgbClr val="FFFFFF"/>
          </a:solidFill>
          <a:ln>
            <a:solidFill>
              <a:srgbClr val="DCE7E4"/>
            </a:solidFill>
          </a:ln>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spcBef>
                <a:spcPts val="0"/>
              </a:spcBef>
              <a:spcAft>
                <a:spcPts val="300"/>
              </a:spcAft>
            </a:pPr>
            <a:endParaRPr/>
          </a:p>
        </p:txBody>
      </p:sp>
      <p:sp>
        <p:nvSpPr>
          <p:cNvPr id="25" name="TextBox 24"/>
          <p:cNvSpPr txBox="1"/>
          <p:nvPr/>
        </p:nvSpPr>
        <p:spPr>
          <a:xfrm>
            <a:off x="804671" y="3566160"/>
            <a:ext cx="5020055" cy="274320"/>
          </a:xfrm>
          <a:prstGeom prst="rect">
            <a:avLst/>
          </a:prstGeom>
          <a:noFill/>
        </p:spPr>
        <p:txBody>
          <a:bodyPr wrap="square" lIns="38100" tIns="25400" rIns="38100" bIns="25400" anchor="t">
            <a:spAutoFit/>
          </a:bodyPr>
          <a:lstStyle/>
          <a:p>
            <a:pPr algn="l">
              <a:spcBef>
                <a:spcPts val="0"/>
              </a:spcBef>
              <a:spcAft>
                <a:spcPts val="300"/>
              </a:spcAft>
            </a:pPr>
            <a:r>
              <a:rPr sz="1400" b="1" i="0">
                <a:solidFill>
                  <a:srgbClr val="395B5E"/>
                </a:solidFill>
                <a:latin typeface="Times New Roman"/>
              </a:rPr>
              <a:t>THE CORE TENSION</a:t>
            </a:r>
          </a:p>
        </p:txBody>
      </p:sp>
      <p:sp>
        <p:nvSpPr>
          <p:cNvPr id="26" name="TextBox 25"/>
          <p:cNvSpPr txBox="1"/>
          <p:nvPr/>
        </p:nvSpPr>
        <p:spPr>
          <a:xfrm>
            <a:off x="804671" y="3904487"/>
            <a:ext cx="5020055" cy="235962"/>
          </a:xfrm>
          <a:prstGeom prst="rect">
            <a:avLst/>
          </a:prstGeom>
          <a:noFill/>
        </p:spPr>
        <p:txBody>
          <a:bodyPr wrap="square" lIns="38100" tIns="25400" rIns="38100" bIns="25400" anchor="t">
            <a:spAutoFit/>
          </a:bodyPr>
          <a:lstStyle/>
          <a:p>
            <a:pPr>
              <a:spcAft>
                <a:spcPts val="300"/>
              </a:spcAft>
            </a:pPr>
            <a:r>
              <a:rPr lang="en-US" sz="1200" dirty="0" smtClean="0">
                <a:latin typeface="Times New Roman" panose="02020603050405020304" pitchFamily="18" charset="0"/>
                <a:cs typeface="Times New Roman" panose="02020603050405020304" pitchFamily="18" charset="0"/>
              </a:rPr>
              <a:t>Creation </a:t>
            </a:r>
            <a:r>
              <a:rPr lang="en-US" sz="1200" dirty="0">
                <a:latin typeface="Times New Roman" panose="02020603050405020304" pitchFamily="18" charset="0"/>
                <a:cs typeface="Times New Roman" panose="02020603050405020304" pitchFamily="18" charset="0"/>
              </a:rPr>
              <a:t>is uneven: 26 users have never posted and 23 never like a post</a:t>
            </a:r>
            <a:r>
              <a:rPr lang="en-US" sz="1200" dirty="0" smtClean="0">
                <a:latin typeface="Times New Roman" panose="02020603050405020304" pitchFamily="18" charset="0"/>
                <a:cs typeface="Times New Roman" panose="02020603050405020304" pitchFamily="18" charset="0"/>
              </a:rPr>
              <a:t>.</a:t>
            </a:r>
            <a:endParaRPr sz="1200" b="0" i="0" dirty="0">
              <a:solidFill>
                <a:srgbClr val="24393A"/>
              </a:solidFill>
              <a:latin typeface="Times New Roman" panose="02020603050405020304" pitchFamily="18" charset="0"/>
              <a:cs typeface="Times New Roman" panose="02020603050405020304" pitchFamily="18" charset="0"/>
            </a:endParaRPr>
          </a:p>
        </p:txBody>
      </p:sp>
      <p:sp>
        <p:nvSpPr>
          <p:cNvPr id="27" name="Rounded Rectangle 26"/>
          <p:cNvSpPr/>
          <p:nvPr/>
        </p:nvSpPr>
        <p:spPr>
          <a:xfrm>
            <a:off x="6217920" y="3429000"/>
            <a:ext cx="5257800" cy="1965960"/>
          </a:xfrm>
          <a:prstGeom prst="roundRect">
            <a:avLst/>
          </a:prstGeom>
          <a:solidFill>
            <a:srgbClr val="FFFFFF"/>
          </a:solidFill>
          <a:ln>
            <a:solidFill>
              <a:srgbClr val="DCE7E4"/>
            </a:solidFill>
          </a:ln>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spcBef>
                <a:spcPts val="0"/>
              </a:spcBef>
              <a:spcAft>
                <a:spcPts val="300"/>
              </a:spcAft>
            </a:pPr>
            <a:endParaRPr/>
          </a:p>
        </p:txBody>
      </p:sp>
      <p:sp>
        <p:nvSpPr>
          <p:cNvPr id="28" name="TextBox 27"/>
          <p:cNvSpPr txBox="1"/>
          <p:nvPr/>
        </p:nvSpPr>
        <p:spPr>
          <a:xfrm>
            <a:off x="6382512" y="3566160"/>
            <a:ext cx="4928616" cy="274320"/>
          </a:xfrm>
          <a:prstGeom prst="rect">
            <a:avLst/>
          </a:prstGeom>
          <a:noFill/>
        </p:spPr>
        <p:txBody>
          <a:bodyPr wrap="square" lIns="38100" tIns="25400" rIns="38100" bIns="25400" anchor="t">
            <a:spAutoFit/>
          </a:bodyPr>
          <a:lstStyle/>
          <a:p>
            <a:pPr algn="l">
              <a:spcBef>
                <a:spcPts val="0"/>
              </a:spcBef>
              <a:spcAft>
                <a:spcPts val="300"/>
              </a:spcAft>
            </a:pPr>
            <a:r>
              <a:rPr sz="1400" b="1" i="0">
                <a:solidFill>
                  <a:srgbClr val="395B5E"/>
                </a:solidFill>
                <a:latin typeface="Times New Roman"/>
              </a:rPr>
              <a:t>THE STRATEGIC OPENING</a:t>
            </a:r>
          </a:p>
        </p:txBody>
      </p:sp>
      <p:sp>
        <p:nvSpPr>
          <p:cNvPr id="29" name="TextBox 28"/>
          <p:cNvSpPr txBox="1"/>
          <p:nvPr/>
        </p:nvSpPr>
        <p:spPr>
          <a:xfrm>
            <a:off x="6382512" y="3904487"/>
            <a:ext cx="4928616" cy="420628"/>
          </a:xfrm>
          <a:prstGeom prst="rect">
            <a:avLst/>
          </a:prstGeom>
          <a:noFill/>
        </p:spPr>
        <p:txBody>
          <a:bodyPr wrap="square" lIns="38100" tIns="25400" rIns="38100" bIns="25400" anchor="t">
            <a:spAutoFit/>
          </a:bodyPr>
          <a:lstStyle/>
          <a:p>
            <a:pPr algn="l">
              <a:spcBef>
                <a:spcPts val="0"/>
              </a:spcBef>
              <a:spcAft>
                <a:spcPts val="300"/>
              </a:spcAft>
            </a:pPr>
            <a:r>
              <a:rPr sz="1200" b="0" i="0" dirty="0">
                <a:solidFill>
                  <a:srgbClr val="24393A"/>
                </a:solidFill>
                <a:latin typeface="Times New Roman"/>
              </a:rPr>
              <a:t>Segment the audience by </a:t>
            </a:r>
            <a:r>
              <a:rPr sz="1200" b="0" i="0" dirty="0" err="1">
                <a:solidFill>
                  <a:srgbClr val="24393A"/>
                </a:solidFill>
                <a:latin typeface="Times New Roman"/>
              </a:rPr>
              <a:t>behaviour</a:t>
            </a:r>
            <a:r>
              <a:rPr sz="1200" b="0" i="0" dirty="0">
                <a:solidFill>
                  <a:srgbClr val="24393A"/>
                </a:solidFill>
                <a:latin typeface="Times New Roman"/>
              </a:rPr>
              <a:t>: activate silent users, encourage watchers to create, and reward creators and contributors differently.</a:t>
            </a:r>
          </a:p>
        </p:txBody>
      </p:sp>
      <p:pic>
        <p:nvPicPr>
          <p:cNvPr id="30" name="Picture 2" descr="Instagram logo blue Images - Free Download on Magnific (formerly Freepik)"/>
          <p:cNvPicPr>
            <a:picLocks noChangeAspect="1" noChangeArrowheads="1"/>
          </p:cNvPicPr>
          <p:nvPr/>
        </p:nvPicPr>
        <p:blipFill rotWithShape="1">
          <a:blip r:embed="rId2">
            <a:extLst>
              <a:ext uri="{BEBA8EAE-BF5A-486C-A8C5-ECC9F3942E4B}">
                <a14:imgProps xmlns:a14="http://schemas.microsoft.com/office/drawing/2010/main">
                  <a14:imgLayer r:embed="rId3">
                    <a14:imgEffect>
                      <a14:brightnessContrast bright="20000"/>
                    </a14:imgEffect>
                  </a14:imgLayer>
                </a14:imgProps>
              </a:ext>
              <a:ext uri="{28A0092B-C50C-407E-A947-70E740481C1C}">
                <a14:useLocalDpi xmlns:a14="http://schemas.microsoft.com/office/drawing/2010/main" val="0"/>
              </a:ext>
            </a:extLst>
          </a:blip>
          <a:srcRect l="22466" t="23995" r="23087" b="23130"/>
          <a:stretch/>
        </p:blipFill>
        <p:spPr bwMode="auto">
          <a:xfrm>
            <a:off x="544484" y="5796824"/>
            <a:ext cx="831272" cy="807264"/>
          </a:xfrm>
          <a:prstGeom prst="rect">
            <a:avLst/>
          </a:prstGeom>
          <a:noFill/>
          <a:ln w="34925">
            <a:solidFill>
              <a:srgbClr val="FFFFFF"/>
            </a:solidFill>
          </a:ln>
          <a:effectLst>
            <a:outerShdw blurRad="317500" dir="2700000" algn="ctr">
              <a:srgbClr val="000000">
                <a:alpha val="43000"/>
              </a:srgbClr>
            </a:outerShdw>
          </a:effectLst>
          <a:scene3d>
            <a:camera prst="perspectiveFront" fov="2700000">
              <a:rot lat="19086000" lon="19067999" rev="3108000"/>
            </a:camera>
            <a:lightRig rig="threePt" dir="t">
              <a:rot lat="0" lon="0" rev="0"/>
            </a:lightRig>
          </a:scene3d>
          <a:sp3d extrusionH="38100" prstMaterial="clear">
            <a:bevelT w="260350" h="50800" prst="softRound"/>
            <a:bevelB prst="softRound"/>
          </a:sp3d>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7EABAA"/>
          </a:solidFill>
          <a:ln>
            <a:solidFill>
              <a:srgbClr val="7EABAA"/>
            </a:solidFill>
          </a:ln>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spcBef>
                <a:spcPts val="0"/>
              </a:spcBef>
              <a:spcAft>
                <a:spcPts val="300"/>
              </a:spcAft>
            </a:pPr>
            <a:endParaRPr/>
          </a:p>
        </p:txBody>
      </p:sp>
      <p:sp>
        <p:nvSpPr>
          <p:cNvPr id="8" name="Rounded Rectangle 7"/>
          <p:cNvSpPr/>
          <p:nvPr/>
        </p:nvSpPr>
        <p:spPr>
          <a:xfrm>
            <a:off x="845820" y="1138244"/>
            <a:ext cx="2514600" cy="1143000"/>
          </a:xfrm>
          <a:prstGeom prst="roundRect">
            <a:avLst/>
          </a:prstGeom>
          <a:solidFill>
            <a:srgbClr val="FFFFFF"/>
          </a:solidFill>
          <a:ln>
            <a:solidFill>
              <a:srgbClr val="DCE7E4"/>
            </a:solidFill>
          </a:ln>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spcBef>
                <a:spcPts val="0"/>
              </a:spcBef>
              <a:spcAft>
                <a:spcPts val="300"/>
              </a:spcAft>
            </a:pPr>
            <a:endParaRPr/>
          </a:p>
        </p:txBody>
      </p:sp>
      <p:sp>
        <p:nvSpPr>
          <p:cNvPr id="9" name="TextBox 8"/>
          <p:cNvSpPr txBox="1"/>
          <p:nvPr/>
        </p:nvSpPr>
        <p:spPr>
          <a:xfrm>
            <a:off x="1010412" y="1247972"/>
            <a:ext cx="2185416" cy="201168"/>
          </a:xfrm>
          <a:prstGeom prst="rect">
            <a:avLst/>
          </a:prstGeom>
          <a:noFill/>
        </p:spPr>
        <p:txBody>
          <a:bodyPr wrap="square" lIns="38100" tIns="25400" rIns="38100" bIns="25400" anchor="t">
            <a:spAutoFit/>
          </a:bodyPr>
          <a:lstStyle/>
          <a:p>
            <a:pPr algn="l">
              <a:spcBef>
                <a:spcPts val="0"/>
              </a:spcBef>
              <a:spcAft>
                <a:spcPts val="300"/>
              </a:spcAft>
            </a:pPr>
            <a:r>
              <a:rPr sz="1100" b="1" i="0">
                <a:solidFill>
                  <a:srgbClr val="587070"/>
                </a:solidFill>
                <a:latin typeface="Times New Roman"/>
              </a:rPr>
              <a:t>USERS</a:t>
            </a:r>
          </a:p>
        </p:txBody>
      </p:sp>
      <p:sp>
        <p:nvSpPr>
          <p:cNvPr id="10" name="TextBox 9"/>
          <p:cNvSpPr txBox="1"/>
          <p:nvPr/>
        </p:nvSpPr>
        <p:spPr>
          <a:xfrm>
            <a:off x="1010412" y="1467428"/>
            <a:ext cx="2185416" cy="438912"/>
          </a:xfrm>
          <a:prstGeom prst="rect">
            <a:avLst/>
          </a:prstGeom>
          <a:noFill/>
        </p:spPr>
        <p:txBody>
          <a:bodyPr wrap="square" lIns="38100" tIns="25400" rIns="38100" bIns="25400" anchor="t">
            <a:spAutoFit/>
          </a:bodyPr>
          <a:lstStyle/>
          <a:p>
            <a:pPr algn="l">
              <a:spcBef>
                <a:spcPts val="0"/>
              </a:spcBef>
              <a:spcAft>
                <a:spcPts val="300"/>
              </a:spcAft>
            </a:pPr>
            <a:r>
              <a:rPr sz="1600" b="1" i="0">
                <a:solidFill>
                  <a:srgbClr val="193132"/>
                </a:solidFill>
                <a:latin typeface="Times New Roman"/>
              </a:rPr>
              <a:t>100</a:t>
            </a:r>
          </a:p>
        </p:txBody>
      </p:sp>
      <p:sp>
        <p:nvSpPr>
          <p:cNvPr id="11" name="TextBox 10"/>
          <p:cNvSpPr txBox="1"/>
          <p:nvPr/>
        </p:nvSpPr>
        <p:spPr>
          <a:xfrm>
            <a:off x="1010412" y="1942916"/>
            <a:ext cx="2185416" cy="235962"/>
          </a:xfrm>
          <a:prstGeom prst="rect">
            <a:avLst/>
          </a:prstGeom>
          <a:noFill/>
        </p:spPr>
        <p:txBody>
          <a:bodyPr wrap="square" lIns="38100" tIns="25400" rIns="38100" bIns="25400" anchor="t">
            <a:spAutoFit/>
          </a:bodyPr>
          <a:lstStyle/>
          <a:p>
            <a:pPr algn="l">
              <a:spcBef>
                <a:spcPts val="0"/>
              </a:spcBef>
              <a:spcAft>
                <a:spcPts val="300"/>
              </a:spcAft>
            </a:pPr>
            <a:r>
              <a:rPr sz="1200" b="0" i="0" dirty="0">
                <a:solidFill>
                  <a:srgbClr val="24393A"/>
                </a:solidFill>
                <a:latin typeface="Times New Roman"/>
              </a:rPr>
              <a:t>User profiles</a:t>
            </a:r>
          </a:p>
        </p:txBody>
      </p:sp>
      <p:sp>
        <p:nvSpPr>
          <p:cNvPr id="12" name="Rounded Rectangle 11"/>
          <p:cNvSpPr/>
          <p:nvPr/>
        </p:nvSpPr>
        <p:spPr>
          <a:xfrm>
            <a:off x="3497580" y="1138244"/>
            <a:ext cx="2514600" cy="1143000"/>
          </a:xfrm>
          <a:prstGeom prst="roundRect">
            <a:avLst/>
          </a:prstGeom>
          <a:solidFill>
            <a:srgbClr val="FFFFFF"/>
          </a:solidFill>
          <a:ln>
            <a:solidFill>
              <a:srgbClr val="DCE7E4"/>
            </a:solidFill>
          </a:ln>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spcBef>
                <a:spcPts val="0"/>
              </a:spcBef>
              <a:spcAft>
                <a:spcPts val="300"/>
              </a:spcAft>
            </a:pPr>
            <a:endParaRPr/>
          </a:p>
        </p:txBody>
      </p:sp>
      <p:sp>
        <p:nvSpPr>
          <p:cNvPr id="13" name="TextBox 12"/>
          <p:cNvSpPr txBox="1"/>
          <p:nvPr/>
        </p:nvSpPr>
        <p:spPr>
          <a:xfrm>
            <a:off x="3662172" y="1247972"/>
            <a:ext cx="2185416" cy="201168"/>
          </a:xfrm>
          <a:prstGeom prst="rect">
            <a:avLst/>
          </a:prstGeom>
          <a:noFill/>
        </p:spPr>
        <p:txBody>
          <a:bodyPr wrap="square" lIns="38100" tIns="25400" rIns="38100" bIns="25400" anchor="t">
            <a:spAutoFit/>
          </a:bodyPr>
          <a:lstStyle/>
          <a:p>
            <a:pPr algn="l">
              <a:spcBef>
                <a:spcPts val="0"/>
              </a:spcBef>
              <a:spcAft>
                <a:spcPts val="300"/>
              </a:spcAft>
            </a:pPr>
            <a:r>
              <a:rPr sz="1100" b="1" i="0" dirty="0">
                <a:solidFill>
                  <a:srgbClr val="587070"/>
                </a:solidFill>
                <a:latin typeface="Times New Roman"/>
              </a:rPr>
              <a:t>PHOTOS</a:t>
            </a:r>
          </a:p>
        </p:txBody>
      </p:sp>
      <p:sp>
        <p:nvSpPr>
          <p:cNvPr id="14" name="TextBox 13"/>
          <p:cNvSpPr txBox="1"/>
          <p:nvPr/>
        </p:nvSpPr>
        <p:spPr>
          <a:xfrm>
            <a:off x="3662172" y="1467428"/>
            <a:ext cx="2185416" cy="438912"/>
          </a:xfrm>
          <a:prstGeom prst="rect">
            <a:avLst/>
          </a:prstGeom>
          <a:noFill/>
        </p:spPr>
        <p:txBody>
          <a:bodyPr wrap="square" lIns="38100" tIns="25400" rIns="38100" bIns="25400" anchor="t">
            <a:spAutoFit/>
          </a:bodyPr>
          <a:lstStyle/>
          <a:p>
            <a:pPr algn="l">
              <a:spcBef>
                <a:spcPts val="0"/>
              </a:spcBef>
              <a:spcAft>
                <a:spcPts val="300"/>
              </a:spcAft>
            </a:pPr>
            <a:r>
              <a:rPr sz="1600" b="1" i="0">
                <a:solidFill>
                  <a:srgbClr val="193132"/>
                </a:solidFill>
                <a:latin typeface="Times New Roman"/>
              </a:rPr>
              <a:t>257</a:t>
            </a:r>
          </a:p>
        </p:txBody>
      </p:sp>
      <p:sp>
        <p:nvSpPr>
          <p:cNvPr id="15" name="TextBox 14"/>
          <p:cNvSpPr txBox="1"/>
          <p:nvPr/>
        </p:nvSpPr>
        <p:spPr>
          <a:xfrm>
            <a:off x="3662172" y="1942916"/>
            <a:ext cx="2185416" cy="235962"/>
          </a:xfrm>
          <a:prstGeom prst="rect">
            <a:avLst/>
          </a:prstGeom>
          <a:noFill/>
        </p:spPr>
        <p:txBody>
          <a:bodyPr wrap="square" lIns="38100" tIns="25400" rIns="38100" bIns="25400" anchor="t">
            <a:spAutoFit/>
          </a:bodyPr>
          <a:lstStyle/>
          <a:p>
            <a:pPr algn="l">
              <a:spcBef>
                <a:spcPts val="0"/>
              </a:spcBef>
              <a:spcAft>
                <a:spcPts val="300"/>
              </a:spcAft>
            </a:pPr>
            <a:r>
              <a:rPr sz="1100" b="0" i="0" dirty="0">
                <a:solidFill>
                  <a:srgbClr val="24393A"/>
                </a:solidFill>
                <a:latin typeface="Times New Roman"/>
              </a:rPr>
              <a:t>1–12 per posting </a:t>
            </a:r>
            <a:r>
              <a:rPr sz="1200" b="0" i="0" dirty="0">
                <a:solidFill>
                  <a:srgbClr val="24393A"/>
                </a:solidFill>
                <a:latin typeface="Times New Roman"/>
              </a:rPr>
              <a:t>user</a:t>
            </a:r>
            <a:endParaRPr sz="1100" b="0" i="0" dirty="0">
              <a:solidFill>
                <a:srgbClr val="24393A"/>
              </a:solidFill>
              <a:latin typeface="Times New Roman"/>
            </a:endParaRPr>
          </a:p>
        </p:txBody>
      </p:sp>
      <p:sp>
        <p:nvSpPr>
          <p:cNvPr id="16" name="Rounded Rectangle 15"/>
          <p:cNvSpPr/>
          <p:nvPr/>
        </p:nvSpPr>
        <p:spPr>
          <a:xfrm>
            <a:off x="6149340" y="1138244"/>
            <a:ext cx="2514600" cy="1143000"/>
          </a:xfrm>
          <a:prstGeom prst="roundRect">
            <a:avLst/>
          </a:prstGeom>
          <a:solidFill>
            <a:srgbClr val="FFFFFF"/>
          </a:solidFill>
          <a:ln>
            <a:solidFill>
              <a:srgbClr val="DCE7E4"/>
            </a:solidFill>
          </a:ln>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spcBef>
                <a:spcPts val="0"/>
              </a:spcBef>
              <a:spcAft>
                <a:spcPts val="300"/>
              </a:spcAft>
            </a:pPr>
            <a:endParaRPr/>
          </a:p>
        </p:txBody>
      </p:sp>
      <p:sp>
        <p:nvSpPr>
          <p:cNvPr id="17" name="TextBox 16"/>
          <p:cNvSpPr txBox="1"/>
          <p:nvPr/>
        </p:nvSpPr>
        <p:spPr>
          <a:xfrm>
            <a:off x="6313931" y="1247972"/>
            <a:ext cx="2185416" cy="201168"/>
          </a:xfrm>
          <a:prstGeom prst="rect">
            <a:avLst/>
          </a:prstGeom>
          <a:noFill/>
        </p:spPr>
        <p:txBody>
          <a:bodyPr wrap="square" lIns="38100" tIns="25400" rIns="38100" bIns="25400" anchor="t">
            <a:spAutoFit/>
          </a:bodyPr>
          <a:lstStyle/>
          <a:p>
            <a:pPr algn="l">
              <a:spcBef>
                <a:spcPts val="0"/>
              </a:spcBef>
              <a:spcAft>
                <a:spcPts val="300"/>
              </a:spcAft>
            </a:pPr>
            <a:r>
              <a:rPr sz="1100" b="1" i="0">
                <a:solidFill>
                  <a:srgbClr val="587070"/>
                </a:solidFill>
                <a:latin typeface="Times New Roman"/>
              </a:rPr>
              <a:t>PHOTO TAGS</a:t>
            </a:r>
          </a:p>
        </p:txBody>
      </p:sp>
      <p:sp>
        <p:nvSpPr>
          <p:cNvPr id="18" name="TextBox 17"/>
          <p:cNvSpPr txBox="1"/>
          <p:nvPr/>
        </p:nvSpPr>
        <p:spPr>
          <a:xfrm>
            <a:off x="6313931" y="1467428"/>
            <a:ext cx="2185416" cy="438912"/>
          </a:xfrm>
          <a:prstGeom prst="rect">
            <a:avLst/>
          </a:prstGeom>
          <a:noFill/>
        </p:spPr>
        <p:txBody>
          <a:bodyPr wrap="square" lIns="38100" tIns="25400" rIns="38100" bIns="25400" anchor="t">
            <a:spAutoFit/>
          </a:bodyPr>
          <a:lstStyle/>
          <a:p>
            <a:pPr algn="l">
              <a:spcBef>
                <a:spcPts val="0"/>
              </a:spcBef>
              <a:spcAft>
                <a:spcPts val="300"/>
              </a:spcAft>
            </a:pPr>
            <a:r>
              <a:rPr sz="1600" b="1" i="0">
                <a:solidFill>
                  <a:srgbClr val="193132"/>
                </a:solidFill>
                <a:latin typeface="Times New Roman"/>
              </a:rPr>
              <a:t>501</a:t>
            </a:r>
          </a:p>
        </p:txBody>
      </p:sp>
      <p:sp>
        <p:nvSpPr>
          <p:cNvPr id="19" name="TextBox 18"/>
          <p:cNvSpPr txBox="1"/>
          <p:nvPr/>
        </p:nvSpPr>
        <p:spPr>
          <a:xfrm>
            <a:off x="6313931" y="1942916"/>
            <a:ext cx="2185416" cy="235962"/>
          </a:xfrm>
          <a:prstGeom prst="rect">
            <a:avLst/>
          </a:prstGeom>
          <a:noFill/>
        </p:spPr>
        <p:txBody>
          <a:bodyPr wrap="square" lIns="38100" tIns="25400" rIns="38100" bIns="25400" anchor="t">
            <a:spAutoFit/>
          </a:bodyPr>
          <a:lstStyle/>
          <a:p>
            <a:pPr algn="l">
              <a:spcBef>
                <a:spcPts val="0"/>
              </a:spcBef>
              <a:spcAft>
                <a:spcPts val="300"/>
              </a:spcAft>
            </a:pPr>
            <a:r>
              <a:rPr sz="1100" b="0" i="0" dirty="0">
                <a:solidFill>
                  <a:srgbClr val="24393A"/>
                </a:solidFill>
                <a:latin typeface="Times New Roman"/>
              </a:rPr>
              <a:t>Across all </a:t>
            </a:r>
            <a:r>
              <a:rPr sz="1200" b="0" i="0" dirty="0">
                <a:solidFill>
                  <a:srgbClr val="24393A"/>
                </a:solidFill>
                <a:latin typeface="Times New Roman"/>
              </a:rPr>
              <a:t>photos</a:t>
            </a:r>
            <a:endParaRPr sz="1100" b="0" i="0" dirty="0">
              <a:solidFill>
                <a:srgbClr val="24393A"/>
              </a:solidFill>
              <a:latin typeface="Times New Roman"/>
            </a:endParaRPr>
          </a:p>
        </p:txBody>
      </p:sp>
      <p:sp>
        <p:nvSpPr>
          <p:cNvPr id="20" name="Rounded Rectangle 19"/>
          <p:cNvSpPr/>
          <p:nvPr/>
        </p:nvSpPr>
        <p:spPr>
          <a:xfrm>
            <a:off x="8801100" y="1138244"/>
            <a:ext cx="2514600" cy="1143000"/>
          </a:xfrm>
          <a:prstGeom prst="roundRect">
            <a:avLst/>
          </a:prstGeom>
          <a:solidFill>
            <a:srgbClr val="FFFFFF"/>
          </a:solidFill>
          <a:ln>
            <a:solidFill>
              <a:srgbClr val="DCE7E4"/>
            </a:solidFill>
          </a:ln>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spcBef>
                <a:spcPts val="0"/>
              </a:spcBef>
              <a:spcAft>
                <a:spcPts val="300"/>
              </a:spcAft>
            </a:pPr>
            <a:endParaRPr/>
          </a:p>
        </p:txBody>
      </p:sp>
      <p:sp>
        <p:nvSpPr>
          <p:cNvPr id="21" name="TextBox 20"/>
          <p:cNvSpPr txBox="1"/>
          <p:nvPr/>
        </p:nvSpPr>
        <p:spPr>
          <a:xfrm>
            <a:off x="8965692" y="1247972"/>
            <a:ext cx="2185416" cy="201168"/>
          </a:xfrm>
          <a:prstGeom prst="rect">
            <a:avLst/>
          </a:prstGeom>
          <a:noFill/>
        </p:spPr>
        <p:txBody>
          <a:bodyPr wrap="square" lIns="38100" tIns="25400" rIns="38100" bIns="25400" anchor="t">
            <a:spAutoFit/>
          </a:bodyPr>
          <a:lstStyle/>
          <a:p>
            <a:pPr algn="l">
              <a:spcBef>
                <a:spcPts val="0"/>
              </a:spcBef>
              <a:spcAft>
                <a:spcPts val="300"/>
              </a:spcAft>
            </a:pPr>
            <a:r>
              <a:rPr sz="1100" b="1" i="0">
                <a:solidFill>
                  <a:srgbClr val="587070"/>
                </a:solidFill>
                <a:latin typeface="Times New Roman"/>
              </a:rPr>
              <a:t>UNTAGGED PHOTOS</a:t>
            </a:r>
          </a:p>
        </p:txBody>
      </p:sp>
      <p:sp>
        <p:nvSpPr>
          <p:cNvPr id="22" name="TextBox 21"/>
          <p:cNvSpPr txBox="1"/>
          <p:nvPr/>
        </p:nvSpPr>
        <p:spPr>
          <a:xfrm>
            <a:off x="8965692" y="1467428"/>
            <a:ext cx="2185416" cy="438912"/>
          </a:xfrm>
          <a:prstGeom prst="rect">
            <a:avLst/>
          </a:prstGeom>
          <a:noFill/>
        </p:spPr>
        <p:txBody>
          <a:bodyPr wrap="square" lIns="38100" tIns="25400" rIns="38100" bIns="25400" anchor="t">
            <a:spAutoFit/>
          </a:bodyPr>
          <a:lstStyle/>
          <a:p>
            <a:pPr algn="l">
              <a:spcBef>
                <a:spcPts val="0"/>
              </a:spcBef>
              <a:spcAft>
                <a:spcPts val="300"/>
              </a:spcAft>
            </a:pPr>
            <a:r>
              <a:rPr sz="1000" b="1" i="0">
                <a:solidFill>
                  <a:srgbClr val="587070"/>
                </a:solidFill>
                <a:latin typeface="Times New Roman"/>
              </a:rPr>
              <a:t>67</a:t>
            </a:r>
          </a:p>
        </p:txBody>
      </p:sp>
      <p:sp>
        <p:nvSpPr>
          <p:cNvPr id="23" name="TextBox 22"/>
          <p:cNvSpPr txBox="1"/>
          <p:nvPr/>
        </p:nvSpPr>
        <p:spPr>
          <a:xfrm>
            <a:off x="8965692" y="1942916"/>
            <a:ext cx="2185416" cy="219456"/>
          </a:xfrm>
          <a:prstGeom prst="rect">
            <a:avLst/>
          </a:prstGeom>
          <a:noFill/>
        </p:spPr>
        <p:txBody>
          <a:bodyPr wrap="square" lIns="38100" tIns="25400" rIns="38100" bIns="25400" anchor="t">
            <a:spAutoFit/>
          </a:bodyPr>
          <a:lstStyle/>
          <a:p>
            <a:pPr algn="l">
              <a:spcBef>
                <a:spcPts val="0"/>
              </a:spcBef>
              <a:spcAft>
                <a:spcPts val="300"/>
              </a:spcAft>
            </a:pPr>
            <a:r>
              <a:rPr sz="1100" b="0" i="0" dirty="0">
                <a:solidFill>
                  <a:srgbClr val="24393A"/>
                </a:solidFill>
                <a:latin typeface="Times New Roman"/>
              </a:rPr>
              <a:t>~26% of all photos</a:t>
            </a:r>
          </a:p>
        </p:txBody>
      </p:sp>
      <p:sp>
        <p:nvSpPr>
          <p:cNvPr id="24" name="TextBox 23"/>
          <p:cNvSpPr txBox="1"/>
          <p:nvPr/>
        </p:nvSpPr>
        <p:spPr>
          <a:xfrm>
            <a:off x="4782820" y="2333752"/>
            <a:ext cx="2011680" cy="274320"/>
          </a:xfrm>
          <a:prstGeom prst="rect">
            <a:avLst/>
          </a:prstGeom>
          <a:noFill/>
        </p:spPr>
        <p:txBody>
          <a:bodyPr wrap="square" lIns="38100" tIns="25400" rIns="38100" bIns="25400" anchor="t">
            <a:spAutoFit/>
          </a:bodyPr>
          <a:lstStyle/>
          <a:p>
            <a:pPr algn="ctr">
              <a:spcBef>
                <a:spcPts val="0"/>
              </a:spcBef>
              <a:spcAft>
                <a:spcPts val="300"/>
              </a:spcAft>
            </a:pPr>
            <a:r>
              <a:rPr sz="1400" b="1" i="0" dirty="0" smtClean="0">
                <a:solidFill>
                  <a:srgbClr val="24393A"/>
                </a:solidFill>
                <a:latin typeface="Times New Roman"/>
              </a:rPr>
              <a:t>Tables</a:t>
            </a:r>
            <a:endParaRPr sz="1400" b="1" i="0" dirty="0">
              <a:solidFill>
                <a:srgbClr val="24393A"/>
              </a:solidFill>
              <a:latin typeface="Times New Roman"/>
            </a:endParaRPr>
          </a:p>
        </p:txBody>
      </p:sp>
      <p:sp>
        <p:nvSpPr>
          <p:cNvPr id="40" name="TextBox 39"/>
          <p:cNvSpPr txBox="1"/>
          <p:nvPr/>
        </p:nvSpPr>
        <p:spPr>
          <a:xfrm>
            <a:off x="234188" y="342458"/>
            <a:ext cx="10881360" cy="420628"/>
          </a:xfrm>
          <a:prstGeom prst="rect">
            <a:avLst/>
          </a:prstGeom>
          <a:noFill/>
        </p:spPr>
        <p:txBody>
          <a:bodyPr wrap="square" lIns="38100" tIns="25400" rIns="38100" bIns="25400" anchor="t">
            <a:spAutoFit/>
          </a:bodyPr>
          <a:lstStyle/>
          <a:p>
            <a:pPr algn="l">
              <a:spcBef>
                <a:spcPts val="0"/>
              </a:spcBef>
              <a:spcAft>
                <a:spcPts val="300"/>
              </a:spcAft>
            </a:pPr>
            <a:r>
              <a:rPr lang="en-IN" sz="2400" b="1" i="0" dirty="0" smtClean="0">
                <a:solidFill>
                  <a:srgbClr val="587070"/>
                </a:solidFill>
                <a:latin typeface="Times New Roman"/>
              </a:rPr>
              <a:t>02 | DATA</a:t>
            </a:r>
            <a:endParaRPr sz="2400" b="1" i="0" dirty="0">
              <a:solidFill>
                <a:srgbClr val="587070"/>
              </a:solidFill>
              <a:latin typeface="Times New Roman"/>
            </a:endParaRPr>
          </a:p>
        </p:txBody>
      </p:sp>
      <p:sp>
        <p:nvSpPr>
          <p:cNvPr id="5" name="Rounded Rectangle 4"/>
          <p:cNvSpPr/>
          <p:nvPr/>
        </p:nvSpPr>
        <p:spPr>
          <a:xfrm>
            <a:off x="845820" y="2608072"/>
            <a:ext cx="10469880" cy="3566132"/>
          </a:xfrm>
          <a:prstGeom prst="roundRect">
            <a:avLst/>
          </a:prstGeom>
          <a:solidFill>
            <a:schemeClr val="bg1"/>
          </a:solidFill>
          <a:ln>
            <a:solidFill>
              <a:schemeClr val="accent5">
                <a:lumMod val="40000"/>
                <a:lumOff val="60000"/>
              </a:schemeClr>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graphicFrame>
        <p:nvGraphicFramePr>
          <p:cNvPr id="3" name="Table 2"/>
          <p:cNvGraphicFramePr>
            <a:graphicFrameLocks noGrp="1"/>
          </p:cNvGraphicFramePr>
          <p:nvPr>
            <p:extLst>
              <p:ext uri="{D42A27DB-BD31-4B8C-83A1-F6EECF244321}">
                <p14:modId xmlns:p14="http://schemas.microsoft.com/office/powerpoint/2010/main" val="46632959"/>
              </p:ext>
            </p:extLst>
          </p:nvPr>
        </p:nvGraphicFramePr>
        <p:xfrm>
          <a:off x="1010410" y="2671134"/>
          <a:ext cx="10580880" cy="3428972"/>
        </p:xfrm>
        <a:graphic>
          <a:graphicData uri="http://schemas.openxmlformats.org/drawingml/2006/table">
            <a:tbl>
              <a:tblPr/>
              <a:tblGrid>
                <a:gridCol w="2116176">
                  <a:extLst>
                    <a:ext uri="{9D8B030D-6E8A-4147-A177-3AD203B41FA5}">
                      <a16:colId xmlns:a16="http://schemas.microsoft.com/office/drawing/2014/main" val="2768041938"/>
                    </a:ext>
                  </a:extLst>
                </a:gridCol>
                <a:gridCol w="2116176">
                  <a:extLst>
                    <a:ext uri="{9D8B030D-6E8A-4147-A177-3AD203B41FA5}">
                      <a16:colId xmlns:a16="http://schemas.microsoft.com/office/drawing/2014/main" val="1594675923"/>
                    </a:ext>
                  </a:extLst>
                </a:gridCol>
                <a:gridCol w="2116176">
                  <a:extLst>
                    <a:ext uri="{9D8B030D-6E8A-4147-A177-3AD203B41FA5}">
                      <a16:colId xmlns:a16="http://schemas.microsoft.com/office/drawing/2014/main" val="607179330"/>
                    </a:ext>
                  </a:extLst>
                </a:gridCol>
                <a:gridCol w="2116176">
                  <a:extLst>
                    <a:ext uri="{9D8B030D-6E8A-4147-A177-3AD203B41FA5}">
                      <a16:colId xmlns:a16="http://schemas.microsoft.com/office/drawing/2014/main" val="1773583620"/>
                    </a:ext>
                  </a:extLst>
                </a:gridCol>
                <a:gridCol w="2116176">
                  <a:extLst>
                    <a:ext uri="{9D8B030D-6E8A-4147-A177-3AD203B41FA5}">
                      <a16:colId xmlns:a16="http://schemas.microsoft.com/office/drawing/2014/main" val="3220106260"/>
                    </a:ext>
                  </a:extLst>
                </a:gridCol>
              </a:tblGrid>
              <a:tr h="582925">
                <a:tc>
                  <a:txBody>
                    <a:bodyPr/>
                    <a:lstStyle/>
                    <a:p>
                      <a:r>
                        <a:rPr lang="en-IN" sz="1200" b="1" dirty="0">
                          <a:solidFill>
                            <a:srgbClr val="587070"/>
                          </a:solidFill>
                          <a:effectLst/>
                          <a:latin typeface="Times New Roman" panose="02020603050405020304" pitchFamily="18" charset="0"/>
                          <a:cs typeface="Times New Roman" panose="02020603050405020304" pitchFamily="18" charset="0"/>
                        </a:rPr>
                        <a:t>Table Name</a:t>
                      </a:r>
                    </a:p>
                  </a:txBody>
                  <a:tcPr marL="114299" marR="114299" marT="85724" marB="85724"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r>
                        <a:rPr lang="en-IN" sz="1200" b="1" dirty="0">
                          <a:solidFill>
                            <a:srgbClr val="587070"/>
                          </a:solidFill>
                          <a:effectLst/>
                          <a:latin typeface="Times New Roman" panose="02020603050405020304" pitchFamily="18" charset="0"/>
                          <a:cs typeface="Times New Roman" panose="02020603050405020304" pitchFamily="18" charset="0"/>
                        </a:rPr>
                        <a:t>Key Category</a:t>
                      </a:r>
                    </a:p>
                  </a:txBody>
                  <a:tcPr marL="114299" marR="114299" marT="85724" marB="85724"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r>
                        <a:rPr lang="en-IN" sz="1200" b="1" dirty="0">
                          <a:solidFill>
                            <a:srgbClr val="587070"/>
                          </a:solidFill>
                          <a:effectLst/>
                          <a:latin typeface="Times New Roman" panose="02020603050405020304" pitchFamily="18" charset="0"/>
                          <a:cs typeface="Times New Roman" panose="02020603050405020304" pitchFamily="18" charset="0"/>
                        </a:rPr>
                        <a:t>Primary Key (PK)</a:t>
                      </a:r>
                    </a:p>
                  </a:txBody>
                  <a:tcPr marL="114299" marR="114299" marT="85724" marB="85724"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r>
                        <a:rPr lang="en-IN" sz="1200" b="1" dirty="0">
                          <a:solidFill>
                            <a:srgbClr val="587070"/>
                          </a:solidFill>
                          <a:effectLst/>
                          <a:latin typeface="Times New Roman" panose="02020603050405020304" pitchFamily="18" charset="0"/>
                          <a:cs typeface="Times New Roman" panose="02020603050405020304" pitchFamily="18" charset="0"/>
                        </a:rPr>
                        <a:t>Foreign Keys (FK)</a:t>
                      </a:r>
                    </a:p>
                  </a:txBody>
                  <a:tcPr marL="114299" marR="114299" marT="85724" marB="85724"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r>
                        <a:rPr lang="en-IN" sz="1200" b="1" dirty="0">
                          <a:solidFill>
                            <a:srgbClr val="587070"/>
                          </a:solidFill>
                          <a:effectLst/>
                          <a:latin typeface="Times New Roman" panose="02020603050405020304" pitchFamily="18" charset="0"/>
                          <a:cs typeface="Times New Roman" panose="02020603050405020304" pitchFamily="18" charset="0"/>
                        </a:rPr>
                        <a:t>Target Referenced Table</a:t>
                      </a:r>
                    </a:p>
                  </a:txBody>
                  <a:tcPr marL="114299" marR="114299" marT="85724" marB="85724"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346777190"/>
                  </a:ext>
                </a:extLst>
              </a:tr>
              <a:tr h="377187">
                <a:tc>
                  <a:txBody>
                    <a:bodyPr/>
                    <a:lstStyle/>
                    <a:p>
                      <a:r>
                        <a:rPr lang="en-IN" sz="1200" b="1" dirty="0">
                          <a:solidFill>
                            <a:srgbClr val="587070"/>
                          </a:solidFill>
                          <a:effectLst/>
                          <a:latin typeface="Times New Roman" panose="02020603050405020304" pitchFamily="18" charset="0"/>
                          <a:cs typeface="Times New Roman" panose="02020603050405020304" pitchFamily="18" charset="0"/>
                        </a:rPr>
                        <a:t>users</a:t>
                      </a:r>
                    </a:p>
                  </a:txBody>
                  <a:tcPr marL="114299" marR="114299" marT="85724" marB="85724"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r>
                        <a:rPr lang="en-IN" sz="1200" dirty="0">
                          <a:effectLst/>
                          <a:latin typeface="Times New Roman" panose="02020603050405020304" pitchFamily="18" charset="0"/>
                          <a:cs typeface="Times New Roman" panose="02020603050405020304" pitchFamily="18" charset="0"/>
                        </a:rPr>
                        <a:t>Standard PK</a:t>
                      </a:r>
                      <a:endParaRPr lang="en-IN" sz="1200" b="0" dirty="0">
                        <a:solidFill>
                          <a:schemeClr val="tx1"/>
                        </a:solidFill>
                        <a:effectLst/>
                        <a:latin typeface="Times New Roman" panose="02020603050405020304" pitchFamily="18" charset="0"/>
                        <a:cs typeface="Times New Roman" panose="02020603050405020304" pitchFamily="18" charset="0"/>
                      </a:endParaRPr>
                    </a:p>
                  </a:txBody>
                  <a:tcPr marL="114299" marR="114299" marT="85724" marB="85724"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r>
                        <a:rPr lang="en-IN" sz="1200">
                          <a:effectLst/>
                          <a:latin typeface="Times New Roman" panose="02020603050405020304" pitchFamily="18" charset="0"/>
                          <a:cs typeface="Times New Roman" panose="02020603050405020304" pitchFamily="18" charset="0"/>
                        </a:rPr>
                        <a:t>id</a:t>
                      </a:r>
                      <a:endParaRPr lang="en-IN" sz="1200" b="0">
                        <a:solidFill>
                          <a:schemeClr val="tx1"/>
                        </a:solidFill>
                        <a:effectLst/>
                        <a:latin typeface="Times New Roman" panose="02020603050405020304" pitchFamily="18" charset="0"/>
                        <a:cs typeface="Times New Roman" panose="02020603050405020304" pitchFamily="18" charset="0"/>
                      </a:endParaRPr>
                    </a:p>
                  </a:txBody>
                  <a:tcPr marL="114299" marR="114299" marT="85724" marB="85724"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r>
                        <a:rPr lang="en-IN" sz="1200">
                          <a:effectLst/>
                          <a:latin typeface="Times New Roman" panose="02020603050405020304" pitchFamily="18" charset="0"/>
                          <a:cs typeface="Times New Roman" panose="02020603050405020304" pitchFamily="18" charset="0"/>
                        </a:rPr>
                        <a:t>—</a:t>
                      </a:r>
                      <a:endParaRPr lang="en-IN" sz="1200" b="0">
                        <a:solidFill>
                          <a:schemeClr val="tx1"/>
                        </a:solidFill>
                        <a:effectLst/>
                        <a:latin typeface="Times New Roman" panose="02020603050405020304" pitchFamily="18" charset="0"/>
                        <a:cs typeface="Times New Roman" panose="02020603050405020304" pitchFamily="18" charset="0"/>
                      </a:endParaRPr>
                    </a:p>
                  </a:txBody>
                  <a:tcPr marL="114299" marR="114299" marT="85724" marB="85724"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r>
                        <a:rPr lang="en-IN" sz="1200">
                          <a:effectLst/>
                          <a:latin typeface="Times New Roman" panose="02020603050405020304" pitchFamily="18" charset="0"/>
                          <a:cs typeface="Times New Roman" panose="02020603050405020304" pitchFamily="18" charset="0"/>
                        </a:rPr>
                        <a:t>—</a:t>
                      </a:r>
                      <a:endParaRPr lang="en-IN" sz="1200" b="0">
                        <a:solidFill>
                          <a:schemeClr val="tx1"/>
                        </a:solidFill>
                        <a:effectLst/>
                        <a:latin typeface="Times New Roman" panose="02020603050405020304" pitchFamily="18" charset="0"/>
                        <a:cs typeface="Times New Roman" panose="02020603050405020304" pitchFamily="18" charset="0"/>
                      </a:endParaRPr>
                    </a:p>
                  </a:txBody>
                  <a:tcPr marL="114299" marR="114299" marT="85724" marB="85724"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442504379"/>
                  </a:ext>
                </a:extLst>
              </a:tr>
              <a:tr h="377187">
                <a:tc>
                  <a:txBody>
                    <a:bodyPr/>
                    <a:lstStyle/>
                    <a:p>
                      <a:r>
                        <a:rPr lang="en-IN" sz="1200" b="1" dirty="0">
                          <a:solidFill>
                            <a:srgbClr val="587070"/>
                          </a:solidFill>
                          <a:effectLst/>
                          <a:latin typeface="Times New Roman" panose="02020603050405020304" pitchFamily="18" charset="0"/>
                          <a:cs typeface="Times New Roman" panose="02020603050405020304" pitchFamily="18" charset="0"/>
                        </a:rPr>
                        <a:t>photos</a:t>
                      </a:r>
                    </a:p>
                  </a:txBody>
                  <a:tcPr marL="114299" marR="114299" marT="85724" marB="85724"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r>
                        <a:rPr lang="en-IN" sz="1200" dirty="0">
                          <a:effectLst/>
                          <a:latin typeface="Times New Roman" panose="02020603050405020304" pitchFamily="18" charset="0"/>
                          <a:cs typeface="Times New Roman" panose="02020603050405020304" pitchFamily="18" charset="0"/>
                        </a:rPr>
                        <a:t>PK + FK</a:t>
                      </a:r>
                      <a:endParaRPr lang="en-IN" sz="1200" b="0" dirty="0">
                        <a:solidFill>
                          <a:schemeClr val="tx1"/>
                        </a:solidFill>
                        <a:effectLst/>
                        <a:latin typeface="Times New Roman" panose="02020603050405020304" pitchFamily="18" charset="0"/>
                        <a:cs typeface="Times New Roman" panose="02020603050405020304" pitchFamily="18" charset="0"/>
                      </a:endParaRPr>
                    </a:p>
                  </a:txBody>
                  <a:tcPr marL="114299" marR="114299" marT="85724" marB="85724"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r>
                        <a:rPr lang="en-IN" sz="1200" dirty="0">
                          <a:effectLst/>
                          <a:latin typeface="Times New Roman" panose="02020603050405020304" pitchFamily="18" charset="0"/>
                          <a:cs typeface="Times New Roman" panose="02020603050405020304" pitchFamily="18" charset="0"/>
                        </a:rPr>
                        <a:t>id</a:t>
                      </a:r>
                      <a:endParaRPr lang="en-IN" sz="1200" b="0" dirty="0">
                        <a:solidFill>
                          <a:schemeClr val="tx1"/>
                        </a:solidFill>
                        <a:effectLst/>
                        <a:latin typeface="Times New Roman" panose="02020603050405020304" pitchFamily="18" charset="0"/>
                        <a:cs typeface="Times New Roman" panose="02020603050405020304" pitchFamily="18" charset="0"/>
                      </a:endParaRPr>
                    </a:p>
                  </a:txBody>
                  <a:tcPr marL="114299" marR="114299" marT="85724" marB="85724"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r>
                        <a:rPr lang="en-IN" sz="1200" dirty="0" err="1">
                          <a:effectLst/>
                          <a:latin typeface="Times New Roman" panose="02020603050405020304" pitchFamily="18" charset="0"/>
                          <a:cs typeface="Times New Roman" panose="02020603050405020304" pitchFamily="18" charset="0"/>
                        </a:rPr>
                        <a:t>user_id</a:t>
                      </a:r>
                      <a:endParaRPr lang="en-IN" sz="1200" b="0" dirty="0">
                        <a:solidFill>
                          <a:schemeClr val="tx1"/>
                        </a:solidFill>
                        <a:effectLst/>
                        <a:latin typeface="Times New Roman" panose="02020603050405020304" pitchFamily="18" charset="0"/>
                        <a:cs typeface="Times New Roman" panose="02020603050405020304" pitchFamily="18" charset="0"/>
                      </a:endParaRPr>
                    </a:p>
                  </a:txBody>
                  <a:tcPr marL="114299" marR="114299" marT="85724" marB="85724"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r>
                        <a:rPr lang="en-IN" sz="1200" dirty="0">
                          <a:effectLst/>
                          <a:latin typeface="Times New Roman" panose="02020603050405020304" pitchFamily="18" charset="0"/>
                          <a:cs typeface="Times New Roman" panose="02020603050405020304" pitchFamily="18" charset="0"/>
                        </a:rPr>
                        <a:t>users(id)</a:t>
                      </a:r>
                      <a:endParaRPr lang="en-IN" sz="1200" b="0" dirty="0">
                        <a:solidFill>
                          <a:schemeClr val="tx1"/>
                        </a:solidFill>
                        <a:effectLst/>
                        <a:latin typeface="Times New Roman" panose="02020603050405020304" pitchFamily="18" charset="0"/>
                        <a:cs typeface="Times New Roman" panose="02020603050405020304" pitchFamily="18" charset="0"/>
                      </a:endParaRPr>
                    </a:p>
                  </a:txBody>
                  <a:tcPr marL="114299" marR="114299" marT="85724" marB="85724"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126768710"/>
                  </a:ext>
                </a:extLst>
              </a:tr>
              <a:tr h="377187">
                <a:tc>
                  <a:txBody>
                    <a:bodyPr/>
                    <a:lstStyle/>
                    <a:p>
                      <a:r>
                        <a:rPr lang="en-IN" sz="1200" b="1" dirty="0">
                          <a:solidFill>
                            <a:srgbClr val="587070"/>
                          </a:solidFill>
                          <a:effectLst/>
                          <a:latin typeface="Times New Roman" panose="02020603050405020304" pitchFamily="18" charset="0"/>
                          <a:cs typeface="Times New Roman" panose="02020603050405020304" pitchFamily="18" charset="0"/>
                        </a:rPr>
                        <a:t>comments</a:t>
                      </a:r>
                    </a:p>
                  </a:txBody>
                  <a:tcPr marL="114299" marR="114299" marT="85724" marB="85724"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r>
                        <a:rPr lang="en-IN" sz="1200" dirty="0">
                          <a:effectLst/>
                          <a:latin typeface="Times New Roman" panose="02020603050405020304" pitchFamily="18" charset="0"/>
                          <a:cs typeface="Times New Roman" panose="02020603050405020304" pitchFamily="18" charset="0"/>
                        </a:rPr>
                        <a:t>PK + Multi-FK</a:t>
                      </a:r>
                      <a:endParaRPr lang="en-IN" sz="1200" b="0" dirty="0">
                        <a:solidFill>
                          <a:schemeClr val="tx1"/>
                        </a:solidFill>
                        <a:effectLst/>
                        <a:latin typeface="Times New Roman" panose="02020603050405020304" pitchFamily="18" charset="0"/>
                        <a:cs typeface="Times New Roman" panose="02020603050405020304" pitchFamily="18" charset="0"/>
                      </a:endParaRPr>
                    </a:p>
                  </a:txBody>
                  <a:tcPr marL="114299" marR="114299" marT="85724" marB="85724"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r>
                        <a:rPr lang="en-IN" sz="1200" dirty="0">
                          <a:effectLst/>
                          <a:latin typeface="Times New Roman" panose="02020603050405020304" pitchFamily="18" charset="0"/>
                          <a:cs typeface="Times New Roman" panose="02020603050405020304" pitchFamily="18" charset="0"/>
                        </a:rPr>
                        <a:t>id</a:t>
                      </a:r>
                      <a:endParaRPr lang="en-IN" sz="1200" b="0" dirty="0">
                        <a:solidFill>
                          <a:schemeClr val="tx1"/>
                        </a:solidFill>
                        <a:effectLst/>
                        <a:latin typeface="Times New Roman" panose="02020603050405020304" pitchFamily="18" charset="0"/>
                        <a:cs typeface="Times New Roman" panose="02020603050405020304" pitchFamily="18" charset="0"/>
                      </a:endParaRPr>
                    </a:p>
                  </a:txBody>
                  <a:tcPr marL="114299" marR="114299" marT="85724" marB="85724"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r>
                        <a:rPr lang="en-IN" sz="1200">
                          <a:effectLst/>
                          <a:latin typeface="Times New Roman" panose="02020603050405020304" pitchFamily="18" charset="0"/>
                          <a:cs typeface="Times New Roman" panose="02020603050405020304" pitchFamily="18" charset="0"/>
                        </a:rPr>
                        <a:t>user_id, photo_id</a:t>
                      </a:r>
                      <a:endParaRPr lang="en-IN" sz="1200" b="0">
                        <a:solidFill>
                          <a:schemeClr val="tx1"/>
                        </a:solidFill>
                        <a:effectLst/>
                        <a:latin typeface="Times New Roman" panose="02020603050405020304" pitchFamily="18" charset="0"/>
                        <a:cs typeface="Times New Roman" panose="02020603050405020304" pitchFamily="18" charset="0"/>
                      </a:endParaRPr>
                    </a:p>
                  </a:txBody>
                  <a:tcPr marL="114299" marR="114299" marT="85724" marB="85724"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r>
                        <a:rPr lang="en-IN" sz="1200">
                          <a:effectLst/>
                          <a:latin typeface="Times New Roman" panose="02020603050405020304" pitchFamily="18" charset="0"/>
                          <a:cs typeface="Times New Roman" panose="02020603050405020304" pitchFamily="18" charset="0"/>
                        </a:rPr>
                        <a:t>users(id), photos(id)</a:t>
                      </a:r>
                      <a:endParaRPr lang="en-IN" sz="1200" b="0">
                        <a:solidFill>
                          <a:schemeClr val="tx1"/>
                        </a:solidFill>
                        <a:effectLst/>
                        <a:latin typeface="Times New Roman" panose="02020603050405020304" pitchFamily="18" charset="0"/>
                        <a:cs typeface="Times New Roman" panose="02020603050405020304" pitchFamily="18" charset="0"/>
                      </a:endParaRPr>
                    </a:p>
                  </a:txBody>
                  <a:tcPr marL="114299" marR="114299" marT="85724" marB="85724"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2849747417"/>
                  </a:ext>
                </a:extLst>
              </a:tr>
              <a:tr h="377187">
                <a:tc>
                  <a:txBody>
                    <a:bodyPr/>
                    <a:lstStyle/>
                    <a:p>
                      <a:r>
                        <a:rPr lang="en-IN" sz="1200" b="1" dirty="0">
                          <a:solidFill>
                            <a:srgbClr val="587070"/>
                          </a:solidFill>
                          <a:effectLst/>
                          <a:latin typeface="Times New Roman" panose="02020603050405020304" pitchFamily="18" charset="0"/>
                          <a:cs typeface="Times New Roman" panose="02020603050405020304" pitchFamily="18" charset="0"/>
                        </a:rPr>
                        <a:t>likes</a:t>
                      </a:r>
                    </a:p>
                  </a:txBody>
                  <a:tcPr marL="114299" marR="114299" marT="85724" marB="85724"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r>
                        <a:rPr lang="en-IN" sz="1200">
                          <a:effectLst/>
                          <a:latin typeface="Times New Roman" panose="02020603050405020304" pitchFamily="18" charset="0"/>
                          <a:cs typeface="Times New Roman" panose="02020603050405020304" pitchFamily="18" charset="0"/>
                        </a:rPr>
                        <a:t>Composite PK + FK</a:t>
                      </a:r>
                      <a:endParaRPr lang="en-IN" sz="1200" b="0">
                        <a:solidFill>
                          <a:schemeClr val="tx1"/>
                        </a:solidFill>
                        <a:effectLst/>
                        <a:latin typeface="Times New Roman" panose="02020603050405020304" pitchFamily="18" charset="0"/>
                        <a:cs typeface="Times New Roman" panose="02020603050405020304" pitchFamily="18" charset="0"/>
                      </a:endParaRPr>
                    </a:p>
                  </a:txBody>
                  <a:tcPr marL="114299" marR="114299" marT="85724" marB="85724"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r>
                        <a:rPr lang="en-IN" sz="1200" dirty="0">
                          <a:effectLst/>
                          <a:latin typeface="Times New Roman" panose="02020603050405020304" pitchFamily="18" charset="0"/>
                          <a:cs typeface="Times New Roman" panose="02020603050405020304" pitchFamily="18" charset="0"/>
                        </a:rPr>
                        <a:t>(</a:t>
                      </a:r>
                      <a:r>
                        <a:rPr lang="en-IN" sz="1200" dirty="0" err="1">
                          <a:effectLst/>
                          <a:latin typeface="Times New Roman" panose="02020603050405020304" pitchFamily="18" charset="0"/>
                          <a:cs typeface="Times New Roman" panose="02020603050405020304" pitchFamily="18" charset="0"/>
                        </a:rPr>
                        <a:t>user_id</a:t>
                      </a:r>
                      <a:r>
                        <a:rPr lang="en-IN" sz="1200" dirty="0">
                          <a:effectLst/>
                          <a:latin typeface="Times New Roman" panose="02020603050405020304" pitchFamily="18" charset="0"/>
                          <a:cs typeface="Times New Roman" panose="02020603050405020304" pitchFamily="18" charset="0"/>
                        </a:rPr>
                        <a:t>, </a:t>
                      </a:r>
                      <a:r>
                        <a:rPr lang="en-IN" sz="1200" dirty="0" err="1">
                          <a:effectLst/>
                          <a:latin typeface="Times New Roman" panose="02020603050405020304" pitchFamily="18" charset="0"/>
                          <a:cs typeface="Times New Roman" panose="02020603050405020304" pitchFamily="18" charset="0"/>
                        </a:rPr>
                        <a:t>photo_id</a:t>
                      </a:r>
                      <a:r>
                        <a:rPr lang="en-IN" sz="1200" dirty="0">
                          <a:effectLst/>
                          <a:latin typeface="Times New Roman" panose="02020603050405020304" pitchFamily="18" charset="0"/>
                          <a:cs typeface="Times New Roman" panose="02020603050405020304" pitchFamily="18" charset="0"/>
                        </a:rPr>
                        <a:t>)</a:t>
                      </a:r>
                      <a:endParaRPr lang="en-IN" sz="1200" b="0" dirty="0">
                        <a:solidFill>
                          <a:schemeClr val="tx1"/>
                        </a:solidFill>
                        <a:effectLst/>
                        <a:latin typeface="Times New Roman" panose="02020603050405020304" pitchFamily="18" charset="0"/>
                        <a:cs typeface="Times New Roman" panose="02020603050405020304" pitchFamily="18" charset="0"/>
                      </a:endParaRPr>
                    </a:p>
                  </a:txBody>
                  <a:tcPr marL="114299" marR="114299" marT="85724" marB="85724"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r>
                        <a:rPr lang="en-IN" sz="1200" dirty="0" err="1">
                          <a:effectLst/>
                          <a:latin typeface="Times New Roman" panose="02020603050405020304" pitchFamily="18" charset="0"/>
                          <a:cs typeface="Times New Roman" panose="02020603050405020304" pitchFamily="18" charset="0"/>
                        </a:rPr>
                        <a:t>user_id</a:t>
                      </a:r>
                      <a:r>
                        <a:rPr lang="en-IN" sz="1200" dirty="0">
                          <a:effectLst/>
                          <a:latin typeface="Times New Roman" panose="02020603050405020304" pitchFamily="18" charset="0"/>
                          <a:cs typeface="Times New Roman" panose="02020603050405020304" pitchFamily="18" charset="0"/>
                        </a:rPr>
                        <a:t>, </a:t>
                      </a:r>
                      <a:r>
                        <a:rPr lang="en-IN" sz="1200" dirty="0" err="1">
                          <a:effectLst/>
                          <a:latin typeface="Times New Roman" panose="02020603050405020304" pitchFamily="18" charset="0"/>
                          <a:cs typeface="Times New Roman" panose="02020603050405020304" pitchFamily="18" charset="0"/>
                        </a:rPr>
                        <a:t>photo_id</a:t>
                      </a:r>
                      <a:endParaRPr lang="en-IN" sz="1200" b="0" dirty="0">
                        <a:solidFill>
                          <a:schemeClr val="tx1"/>
                        </a:solidFill>
                        <a:effectLst/>
                        <a:latin typeface="Times New Roman" panose="02020603050405020304" pitchFamily="18" charset="0"/>
                        <a:cs typeface="Times New Roman" panose="02020603050405020304" pitchFamily="18" charset="0"/>
                      </a:endParaRPr>
                    </a:p>
                  </a:txBody>
                  <a:tcPr marL="114299" marR="114299" marT="85724" marB="85724"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r>
                        <a:rPr lang="en-IN" sz="1200">
                          <a:effectLst/>
                          <a:latin typeface="Times New Roman" panose="02020603050405020304" pitchFamily="18" charset="0"/>
                          <a:cs typeface="Times New Roman" panose="02020603050405020304" pitchFamily="18" charset="0"/>
                        </a:rPr>
                        <a:t>users(id), photos(id)</a:t>
                      </a:r>
                      <a:endParaRPr lang="en-IN" sz="1200" b="0">
                        <a:solidFill>
                          <a:schemeClr val="tx1"/>
                        </a:solidFill>
                        <a:effectLst/>
                        <a:latin typeface="Times New Roman" panose="02020603050405020304" pitchFamily="18" charset="0"/>
                        <a:cs typeface="Times New Roman" panose="02020603050405020304" pitchFamily="18" charset="0"/>
                      </a:endParaRPr>
                    </a:p>
                  </a:txBody>
                  <a:tcPr marL="114299" marR="114299" marT="85724" marB="85724"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2037583295"/>
                  </a:ext>
                </a:extLst>
              </a:tr>
              <a:tr h="582925">
                <a:tc>
                  <a:txBody>
                    <a:bodyPr/>
                    <a:lstStyle/>
                    <a:p>
                      <a:r>
                        <a:rPr lang="en-IN" sz="1200" b="1" dirty="0">
                          <a:solidFill>
                            <a:srgbClr val="587070"/>
                          </a:solidFill>
                          <a:effectLst/>
                          <a:latin typeface="Times New Roman" panose="02020603050405020304" pitchFamily="18" charset="0"/>
                          <a:cs typeface="Times New Roman" panose="02020603050405020304" pitchFamily="18" charset="0"/>
                        </a:rPr>
                        <a:t>follows</a:t>
                      </a:r>
                    </a:p>
                  </a:txBody>
                  <a:tcPr marL="114299" marR="114299" marT="85724" marB="85724"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r>
                        <a:rPr lang="en-IN" sz="1200" dirty="0">
                          <a:effectLst/>
                          <a:latin typeface="Times New Roman" panose="02020603050405020304" pitchFamily="18" charset="0"/>
                          <a:cs typeface="Times New Roman" panose="02020603050405020304" pitchFamily="18" charset="0"/>
                        </a:rPr>
                        <a:t>Composite Self-FK</a:t>
                      </a:r>
                      <a:endParaRPr lang="en-IN" sz="1200" b="0" dirty="0">
                        <a:solidFill>
                          <a:schemeClr val="tx1"/>
                        </a:solidFill>
                        <a:effectLst/>
                        <a:latin typeface="Times New Roman" panose="02020603050405020304" pitchFamily="18" charset="0"/>
                        <a:cs typeface="Times New Roman" panose="02020603050405020304" pitchFamily="18" charset="0"/>
                      </a:endParaRPr>
                    </a:p>
                  </a:txBody>
                  <a:tcPr marL="114299" marR="114299" marT="85724" marB="85724"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r>
                        <a:rPr lang="en-IN" sz="1200">
                          <a:effectLst/>
                          <a:latin typeface="Times New Roman" panose="02020603050405020304" pitchFamily="18" charset="0"/>
                          <a:cs typeface="Times New Roman" panose="02020603050405020304" pitchFamily="18" charset="0"/>
                        </a:rPr>
                        <a:t>(follower_id, followee_id)</a:t>
                      </a:r>
                      <a:endParaRPr lang="en-IN" sz="1200" b="0">
                        <a:solidFill>
                          <a:schemeClr val="tx1"/>
                        </a:solidFill>
                        <a:effectLst/>
                        <a:latin typeface="Times New Roman" panose="02020603050405020304" pitchFamily="18" charset="0"/>
                        <a:cs typeface="Times New Roman" panose="02020603050405020304" pitchFamily="18" charset="0"/>
                      </a:endParaRPr>
                    </a:p>
                  </a:txBody>
                  <a:tcPr marL="114299" marR="114299" marT="85724" marB="85724"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r>
                        <a:rPr lang="en-IN" sz="1200" dirty="0" err="1">
                          <a:effectLst/>
                          <a:latin typeface="Times New Roman" panose="02020603050405020304" pitchFamily="18" charset="0"/>
                          <a:cs typeface="Times New Roman" panose="02020603050405020304" pitchFamily="18" charset="0"/>
                        </a:rPr>
                        <a:t>follower_id</a:t>
                      </a:r>
                      <a:r>
                        <a:rPr lang="en-IN" sz="1200" dirty="0">
                          <a:effectLst/>
                          <a:latin typeface="Times New Roman" panose="02020603050405020304" pitchFamily="18" charset="0"/>
                          <a:cs typeface="Times New Roman" panose="02020603050405020304" pitchFamily="18" charset="0"/>
                        </a:rPr>
                        <a:t>, </a:t>
                      </a:r>
                      <a:r>
                        <a:rPr lang="en-IN" sz="1200" dirty="0" err="1">
                          <a:effectLst/>
                          <a:latin typeface="Times New Roman" panose="02020603050405020304" pitchFamily="18" charset="0"/>
                          <a:cs typeface="Times New Roman" panose="02020603050405020304" pitchFamily="18" charset="0"/>
                        </a:rPr>
                        <a:t>followee_id</a:t>
                      </a:r>
                      <a:endParaRPr lang="en-IN" sz="1200" b="0" dirty="0">
                        <a:solidFill>
                          <a:schemeClr val="tx1"/>
                        </a:solidFill>
                        <a:effectLst/>
                        <a:latin typeface="Times New Roman" panose="02020603050405020304" pitchFamily="18" charset="0"/>
                        <a:cs typeface="Times New Roman" panose="02020603050405020304" pitchFamily="18" charset="0"/>
                      </a:endParaRPr>
                    </a:p>
                  </a:txBody>
                  <a:tcPr marL="114299" marR="114299" marT="85724" marB="85724"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r>
                        <a:rPr lang="en-IN" sz="1200" dirty="0">
                          <a:effectLst/>
                          <a:latin typeface="Times New Roman" panose="02020603050405020304" pitchFamily="18" charset="0"/>
                          <a:cs typeface="Times New Roman" panose="02020603050405020304" pitchFamily="18" charset="0"/>
                        </a:rPr>
                        <a:t>users(id) [Self-Ref]</a:t>
                      </a:r>
                      <a:endParaRPr lang="en-IN" sz="1200" b="0" dirty="0">
                        <a:solidFill>
                          <a:schemeClr val="tx1"/>
                        </a:solidFill>
                        <a:effectLst/>
                        <a:latin typeface="Times New Roman" panose="02020603050405020304" pitchFamily="18" charset="0"/>
                        <a:cs typeface="Times New Roman" panose="02020603050405020304" pitchFamily="18" charset="0"/>
                      </a:endParaRPr>
                    </a:p>
                  </a:txBody>
                  <a:tcPr marL="114299" marR="114299" marT="85724" marB="85724"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2543313901"/>
                  </a:ext>
                </a:extLst>
              </a:tr>
              <a:tr h="377187">
                <a:tc>
                  <a:txBody>
                    <a:bodyPr/>
                    <a:lstStyle/>
                    <a:p>
                      <a:r>
                        <a:rPr lang="en-IN" sz="1200" b="1" dirty="0">
                          <a:solidFill>
                            <a:srgbClr val="587070"/>
                          </a:solidFill>
                          <a:effectLst/>
                          <a:latin typeface="Times New Roman" panose="02020603050405020304" pitchFamily="18" charset="0"/>
                          <a:cs typeface="Times New Roman" panose="02020603050405020304" pitchFamily="18" charset="0"/>
                        </a:rPr>
                        <a:t>tags</a:t>
                      </a:r>
                    </a:p>
                  </a:txBody>
                  <a:tcPr marL="114299" marR="114299" marT="85724" marB="85724"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r>
                        <a:rPr lang="en-IN" sz="1200">
                          <a:effectLst/>
                          <a:latin typeface="Times New Roman" panose="02020603050405020304" pitchFamily="18" charset="0"/>
                          <a:cs typeface="Times New Roman" panose="02020603050405020304" pitchFamily="18" charset="0"/>
                        </a:rPr>
                        <a:t>Standard PK</a:t>
                      </a:r>
                      <a:endParaRPr lang="en-IN" sz="1200" b="0">
                        <a:solidFill>
                          <a:schemeClr val="tx1"/>
                        </a:solidFill>
                        <a:effectLst/>
                        <a:latin typeface="Times New Roman" panose="02020603050405020304" pitchFamily="18" charset="0"/>
                        <a:cs typeface="Times New Roman" panose="02020603050405020304" pitchFamily="18" charset="0"/>
                      </a:endParaRPr>
                    </a:p>
                  </a:txBody>
                  <a:tcPr marL="114299" marR="114299" marT="85724" marB="85724"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r>
                        <a:rPr lang="en-IN" sz="1200">
                          <a:effectLst/>
                          <a:latin typeface="Times New Roman" panose="02020603050405020304" pitchFamily="18" charset="0"/>
                          <a:cs typeface="Times New Roman" panose="02020603050405020304" pitchFamily="18" charset="0"/>
                        </a:rPr>
                        <a:t>id</a:t>
                      </a:r>
                      <a:endParaRPr lang="en-IN" sz="1200" b="0">
                        <a:solidFill>
                          <a:schemeClr val="tx1"/>
                        </a:solidFill>
                        <a:effectLst/>
                        <a:latin typeface="Times New Roman" panose="02020603050405020304" pitchFamily="18" charset="0"/>
                        <a:cs typeface="Times New Roman" panose="02020603050405020304" pitchFamily="18" charset="0"/>
                      </a:endParaRPr>
                    </a:p>
                  </a:txBody>
                  <a:tcPr marL="114299" marR="114299" marT="85724" marB="85724"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r>
                        <a:rPr lang="en-IN" sz="1200">
                          <a:effectLst/>
                          <a:latin typeface="Times New Roman" panose="02020603050405020304" pitchFamily="18" charset="0"/>
                          <a:cs typeface="Times New Roman" panose="02020603050405020304" pitchFamily="18" charset="0"/>
                        </a:rPr>
                        <a:t>—</a:t>
                      </a:r>
                      <a:endParaRPr lang="en-IN" sz="1200" b="0">
                        <a:solidFill>
                          <a:schemeClr val="tx1"/>
                        </a:solidFill>
                        <a:effectLst/>
                        <a:latin typeface="Times New Roman" panose="02020603050405020304" pitchFamily="18" charset="0"/>
                        <a:cs typeface="Times New Roman" panose="02020603050405020304" pitchFamily="18" charset="0"/>
                      </a:endParaRPr>
                    </a:p>
                  </a:txBody>
                  <a:tcPr marL="114299" marR="114299" marT="85724" marB="85724"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r>
                        <a:rPr lang="en-IN" sz="1200" dirty="0">
                          <a:effectLst/>
                          <a:latin typeface="Times New Roman" panose="02020603050405020304" pitchFamily="18" charset="0"/>
                          <a:cs typeface="Times New Roman" panose="02020603050405020304" pitchFamily="18" charset="0"/>
                        </a:rPr>
                        <a:t>—</a:t>
                      </a:r>
                      <a:endParaRPr lang="en-IN" sz="1200" b="0" dirty="0">
                        <a:solidFill>
                          <a:schemeClr val="tx1"/>
                        </a:solidFill>
                        <a:effectLst/>
                        <a:latin typeface="Times New Roman" panose="02020603050405020304" pitchFamily="18" charset="0"/>
                        <a:cs typeface="Times New Roman" panose="02020603050405020304" pitchFamily="18" charset="0"/>
                      </a:endParaRPr>
                    </a:p>
                  </a:txBody>
                  <a:tcPr marL="114299" marR="114299" marT="85724" marB="85724"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3878366352"/>
                  </a:ext>
                </a:extLst>
              </a:tr>
              <a:tr h="377187">
                <a:tc>
                  <a:txBody>
                    <a:bodyPr/>
                    <a:lstStyle/>
                    <a:p>
                      <a:r>
                        <a:rPr lang="en-IN" sz="1200" b="1" dirty="0" err="1">
                          <a:solidFill>
                            <a:srgbClr val="587070"/>
                          </a:solidFill>
                          <a:effectLst/>
                          <a:latin typeface="Times New Roman" panose="02020603050405020304" pitchFamily="18" charset="0"/>
                          <a:cs typeface="Times New Roman" panose="02020603050405020304" pitchFamily="18" charset="0"/>
                        </a:rPr>
                        <a:t>photo_tags</a:t>
                      </a:r>
                      <a:endParaRPr lang="en-IN" sz="1200" b="1" dirty="0">
                        <a:solidFill>
                          <a:srgbClr val="587070"/>
                        </a:solidFill>
                        <a:effectLst/>
                        <a:latin typeface="Times New Roman" panose="02020603050405020304" pitchFamily="18" charset="0"/>
                        <a:cs typeface="Times New Roman" panose="02020603050405020304" pitchFamily="18" charset="0"/>
                      </a:endParaRPr>
                    </a:p>
                  </a:txBody>
                  <a:tcPr marL="114299" marR="114299" marT="85724" marB="85724"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r>
                        <a:rPr lang="en-IN" sz="1200">
                          <a:effectLst/>
                          <a:latin typeface="Times New Roman" panose="02020603050405020304" pitchFamily="18" charset="0"/>
                          <a:cs typeface="Times New Roman" panose="02020603050405020304" pitchFamily="18" charset="0"/>
                        </a:rPr>
                        <a:t>Composite Junction</a:t>
                      </a:r>
                      <a:endParaRPr lang="en-IN" sz="1200" b="0">
                        <a:solidFill>
                          <a:schemeClr val="tx1"/>
                        </a:solidFill>
                        <a:effectLst/>
                        <a:latin typeface="Times New Roman" panose="02020603050405020304" pitchFamily="18" charset="0"/>
                        <a:cs typeface="Times New Roman" panose="02020603050405020304" pitchFamily="18" charset="0"/>
                      </a:endParaRPr>
                    </a:p>
                  </a:txBody>
                  <a:tcPr marL="114299" marR="114299" marT="85724" marB="85724"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r>
                        <a:rPr lang="en-IN" sz="1200">
                          <a:effectLst/>
                          <a:latin typeface="Times New Roman" panose="02020603050405020304" pitchFamily="18" charset="0"/>
                          <a:cs typeface="Times New Roman" panose="02020603050405020304" pitchFamily="18" charset="0"/>
                        </a:rPr>
                        <a:t>(photo_id, tag_id)</a:t>
                      </a:r>
                      <a:endParaRPr lang="en-IN" sz="1200" b="0">
                        <a:solidFill>
                          <a:schemeClr val="tx1"/>
                        </a:solidFill>
                        <a:effectLst/>
                        <a:latin typeface="Times New Roman" panose="02020603050405020304" pitchFamily="18" charset="0"/>
                        <a:cs typeface="Times New Roman" panose="02020603050405020304" pitchFamily="18" charset="0"/>
                      </a:endParaRPr>
                    </a:p>
                  </a:txBody>
                  <a:tcPr marL="114299" marR="114299" marT="85724" marB="85724"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r>
                        <a:rPr lang="en-IN" sz="1200">
                          <a:effectLst/>
                          <a:latin typeface="Times New Roman" panose="02020603050405020304" pitchFamily="18" charset="0"/>
                          <a:cs typeface="Times New Roman" panose="02020603050405020304" pitchFamily="18" charset="0"/>
                        </a:rPr>
                        <a:t>photo_id, tag_id</a:t>
                      </a:r>
                      <a:endParaRPr lang="en-IN" sz="1200" b="0">
                        <a:solidFill>
                          <a:schemeClr val="tx1"/>
                        </a:solidFill>
                        <a:effectLst/>
                        <a:latin typeface="Times New Roman" panose="02020603050405020304" pitchFamily="18" charset="0"/>
                        <a:cs typeface="Times New Roman" panose="02020603050405020304" pitchFamily="18" charset="0"/>
                      </a:endParaRPr>
                    </a:p>
                  </a:txBody>
                  <a:tcPr marL="114299" marR="114299" marT="85724" marB="85724"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a:txBody>
                    <a:bodyPr/>
                    <a:lstStyle/>
                    <a:p>
                      <a:r>
                        <a:rPr lang="en-IN" sz="1200" dirty="0">
                          <a:effectLst/>
                          <a:latin typeface="Times New Roman" panose="02020603050405020304" pitchFamily="18" charset="0"/>
                          <a:cs typeface="Times New Roman" panose="02020603050405020304" pitchFamily="18" charset="0"/>
                        </a:rPr>
                        <a:t>photos(id), tags(id)</a:t>
                      </a:r>
                      <a:endParaRPr lang="en-IN" sz="1200" b="0" dirty="0">
                        <a:solidFill>
                          <a:schemeClr val="tx1"/>
                        </a:solidFill>
                        <a:effectLst/>
                        <a:latin typeface="Times New Roman" panose="02020603050405020304" pitchFamily="18" charset="0"/>
                        <a:cs typeface="Times New Roman" panose="02020603050405020304" pitchFamily="18" charset="0"/>
                      </a:endParaRPr>
                    </a:p>
                  </a:txBody>
                  <a:tcPr marL="114299" marR="114299" marT="85724" marB="85724"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223422762"/>
                  </a:ext>
                </a:extLst>
              </a:tr>
            </a:tbl>
          </a:graphicData>
        </a:graphic>
      </p:graphicFrame>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Connector 1"/>
          <p:cNvCxnSpPr/>
          <p:nvPr/>
        </p:nvCxnSpPr>
        <p:spPr>
          <a:xfrm>
            <a:off x="3337560" y="3291840"/>
            <a:ext cx="274320" cy="0"/>
          </a:xfrm>
          <a:prstGeom prst="line">
            <a:avLst/>
          </a:prstGeom>
          <a:ln w="13335">
            <a:solidFill>
              <a:srgbClr val="7D9796"/>
            </a:solidFill>
            <a:prstDash val="dash"/>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flipV="1">
            <a:off x="3611880" y="1428841"/>
            <a:ext cx="0" cy="1862999"/>
          </a:xfrm>
          <a:prstGeom prst="line">
            <a:avLst/>
          </a:prstGeom>
          <a:ln w="13335">
            <a:solidFill>
              <a:srgbClr val="7D9796"/>
            </a:solidFill>
            <a:prstDash val="dash"/>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3611880" y="1428841"/>
            <a:ext cx="429768" cy="0"/>
          </a:xfrm>
          <a:prstGeom prst="line">
            <a:avLst/>
          </a:prstGeom>
          <a:ln w="13335">
            <a:solidFill>
              <a:srgbClr val="7D9796"/>
            </a:solidFill>
            <a:prstDash val="dash"/>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3337560" y="3840480"/>
            <a:ext cx="320040" cy="0"/>
          </a:xfrm>
          <a:prstGeom prst="line">
            <a:avLst/>
          </a:prstGeom>
          <a:ln w="13335">
            <a:solidFill>
              <a:srgbClr val="7D979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3657600" y="3639312"/>
            <a:ext cx="0" cy="201168"/>
          </a:xfrm>
          <a:prstGeom prst="line">
            <a:avLst/>
          </a:prstGeom>
          <a:ln w="13335">
            <a:solidFill>
              <a:srgbClr val="7D979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3657600" y="3639312"/>
            <a:ext cx="4553712" cy="0"/>
          </a:xfrm>
          <a:prstGeom prst="line">
            <a:avLst/>
          </a:prstGeom>
          <a:ln w="13335">
            <a:solidFill>
              <a:srgbClr val="7D979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683453" y="1828800"/>
            <a:ext cx="0" cy="457200"/>
          </a:xfrm>
          <a:prstGeom prst="line">
            <a:avLst/>
          </a:prstGeom>
          <a:ln w="13335">
            <a:solidFill>
              <a:srgbClr val="7D979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683453" y="2286000"/>
            <a:ext cx="2939339" cy="0"/>
          </a:xfrm>
          <a:prstGeom prst="line">
            <a:avLst/>
          </a:prstGeom>
          <a:ln w="13335">
            <a:solidFill>
              <a:srgbClr val="7D979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8622792" y="2286000"/>
            <a:ext cx="0" cy="640080"/>
          </a:xfrm>
          <a:prstGeom prst="line">
            <a:avLst/>
          </a:prstGeom>
          <a:ln w="13335">
            <a:solidFill>
              <a:srgbClr val="7D979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971800" y="5852160"/>
            <a:ext cx="338328" cy="0"/>
          </a:xfrm>
          <a:prstGeom prst="line">
            <a:avLst/>
          </a:prstGeom>
          <a:ln w="13335">
            <a:solidFill>
              <a:srgbClr val="7D979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3310128" y="2487168"/>
            <a:ext cx="0" cy="3364992"/>
          </a:xfrm>
          <a:prstGeom prst="line">
            <a:avLst/>
          </a:prstGeom>
          <a:ln w="13335">
            <a:solidFill>
              <a:srgbClr val="7D979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310128" y="2487168"/>
            <a:ext cx="1051560" cy="0"/>
          </a:xfrm>
          <a:prstGeom prst="line">
            <a:avLst/>
          </a:prstGeom>
          <a:ln w="13335">
            <a:solidFill>
              <a:srgbClr val="7D979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4361688" y="1828800"/>
            <a:ext cx="0" cy="658368"/>
          </a:xfrm>
          <a:prstGeom prst="line">
            <a:avLst/>
          </a:prstGeom>
          <a:ln w="13335">
            <a:solidFill>
              <a:srgbClr val="7D979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971800" y="5550408"/>
            <a:ext cx="502920" cy="0"/>
          </a:xfrm>
          <a:prstGeom prst="line">
            <a:avLst/>
          </a:prstGeom>
          <a:ln w="13335">
            <a:solidFill>
              <a:srgbClr val="7D9796"/>
            </a:solidFill>
            <a:prstDash val="dash"/>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3474720" y="4681728"/>
            <a:ext cx="0" cy="868680"/>
          </a:xfrm>
          <a:prstGeom prst="line">
            <a:avLst/>
          </a:prstGeom>
          <a:ln w="13335">
            <a:solidFill>
              <a:srgbClr val="7D9796"/>
            </a:solidFill>
            <a:prstDash val="dash"/>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474720" y="4681728"/>
            <a:ext cx="4480559" cy="0"/>
          </a:xfrm>
          <a:prstGeom prst="line">
            <a:avLst/>
          </a:prstGeom>
          <a:ln w="13335">
            <a:solidFill>
              <a:srgbClr val="7D9796"/>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7955279" y="3764584"/>
            <a:ext cx="0" cy="917144"/>
          </a:xfrm>
          <a:prstGeom prst="line">
            <a:avLst/>
          </a:prstGeom>
          <a:ln w="13335">
            <a:solidFill>
              <a:srgbClr val="7D9796"/>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7955279" y="3764584"/>
            <a:ext cx="256033" cy="0"/>
          </a:xfrm>
          <a:prstGeom prst="line">
            <a:avLst/>
          </a:prstGeom>
          <a:ln w="13335">
            <a:solidFill>
              <a:srgbClr val="7D9796"/>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178600" y="1828800"/>
            <a:ext cx="0" cy="3017520"/>
          </a:xfrm>
          <a:prstGeom prst="line">
            <a:avLst/>
          </a:prstGeom>
          <a:ln w="13335">
            <a:solidFill>
              <a:srgbClr val="7D979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5372100" y="4846320"/>
            <a:ext cx="806500" cy="0"/>
          </a:xfrm>
          <a:prstGeom prst="line">
            <a:avLst/>
          </a:prstGeom>
          <a:ln w="13335">
            <a:solidFill>
              <a:srgbClr val="7D979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5372100" y="4846320"/>
            <a:ext cx="0" cy="292608"/>
          </a:xfrm>
          <a:prstGeom prst="line">
            <a:avLst/>
          </a:prstGeom>
          <a:ln w="13335">
            <a:solidFill>
              <a:srgbClr val="7D979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6629400" y="5733288"/>
            <a:ext cx="1005840" cy="0"/>
          </a:xfrm>
          <a:prstGeom prst="line">
            <a:avLst/>
          </a:prstGeom>
          <a:ln w="13335">
            <a:solidFill>
              <a:srgbClr val="7D979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635240" y="5733288"/>
            <a:ext cx="0" cy="0"/>
          </a:xfrm>
          <a:prstGeom prst="line">
            <a:avLst/>
          </a:prstGeom>
          <a:ln w="13335">
            <a:solidFill>
              <a:srgbClr val="7D9796"/>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635240" y="5733288"/>
            <a:ext cx="594360" cy="0"/>
          </a:xfrm>
          <a:prstGeom prst="line">
            <a:avLst/>
          </a:prstGeom>
          <a:ln w="13335">
            <a:solidFill>
              <a:srgbClr val="7D979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449055" y="2295144"/>
            <a:ext cx="0" cy="219456"/>
          </a:xfrm>
          <a:prstGeom prst="line">
            <a:avLst/>
          </a:prstGeom>
          <a:ln w="13335">
            <a:solidFill>
              <a:srgbClr val="7D9796"/>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49055" y="2514600"/>
            <a:ext cx="384049" cy="0"/>
          </a:xfrm>
          <a:prstGeom prst="line">
            <a:avLst/>
          </a:prstGeom>
          <a:ln w="13335">
            <a:solidFill>
              <a:srgbClr val="7D9796"/>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833104" y="2514600"/>
            <a:ext cx="0" cy="411480"/>
          </a:xfrm>
          <a:prstGeom prst="line">
            <a:avLst/>
          </a:prstGeom>
          <a:ln w="13335">
            <a:solidFill>
              <a:srgbClr val="7D9796"/>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9710927" y="2267712"/>
            <a:ext cx="0" cy="27432"/>
          </a:xfrm>
          <a:prstGeom prst="line">
            <a:avLst/>
          </a:prstGeom>
          <a:ln w="13335">
            <a:solidFill>
              <a:srgbClr val="7D9796"/>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710927" y="2267712"/>
            <a:ext cx="457201" cy="0"/>
          </a:xfrm>
          <a:prstGeom prst="line">
            <a:avLst/>
          </a:prstGeom>
          <a:ln w="13335">
            <a:solidFill>
              <a:srgbClr val="7D9796"/>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0168128" y="2267712"/>
            <a:ext cx="0" cy="658368"/>
          </a:xfrm>
          <a:prstGeom prst="line">
            <a:avLst/>
          </a:prstGeom>
          <a:ln w="13335">
            <a:solidFill>
              <a:srgbClr val="7D9796"/>
            </a:solidFill>
            <a:prstDash val="dash"/>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4041648" y="850392"/>
            <a:ext cx="2606040" cy="1481328"/>
          </a:xfrm>
          <a:prstGeom prst="roundRect">
            <a:avLst/>
          </a:prstGeom>
          <a:solidFill>
            <a:srgbClr val="FFFFFF"/>
          </a:solidFill>
          <a:ln w="12700">
            <a:solidFill>
              <a:srgbClr val="B1CBC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4041648" y="850392"/>
            <a:ext cx="2606040" cy="347472"/>
          </a:xfrm>
          <a:prstGeom prst="roundRect">
            <a:avLst/>
          </a:prstGeom>
          <a:solidFill>
            <a:srgbClr val="BEDAD8"/>
          </a:solidFill>
          <a:ln w="7620">
            <a:solidFill>
              <a:srgbClr val="B1CBC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4041648" y="1115568"/>
            <a:ext cx="2606040" cy="82296"/>
          </a:xfrm>
          <a:prstGeom prst="rect">
            <a:avLst/>
          </a:prstGeom>
          <a:solidFill>
            <a:srgbClr val="BEDA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160520" y="859536"/>
            <a:ext cx="2404872" cy="338328"/>
          </a:xfrm>
          <a:prstGeom prst="rect">
            <a:avLst/>
          </a:prstGeom>
          <a:noFill/>
        </p:spPr>
        <p:txBody>
          <a:bodyPr wrap="none" lIns="0" tIns="0" rIns="0" bIns="0" anchor="ctr">
            <a:spAutoFit/>
          </a:bodyPr>
          <a:lstStyle/>
          <a:p>
            <a:pPr>
              <a:defRPr sz="1300" b="1">
                <a:solidFill>
                  <a:srgbClr val="395B5E"/>
                </a:solidFill>
                <a:latin typeface="Times New Roman"/>
              </a:defRPr>
            </a:pPr>
            <a:r>
              <a:t>photos</a:t>
            </a:r>
          </a:p>
        </p:txBody>
      </p:sp>
      <p:sp>
        <p:nvSpPr>
          <p:cNvPr id="36" name="Oval 35"/>
          <p:cNvSpPr/>
          <p:nvPr/>
        </p:nvSpPr>
        <p:spPr>
          <a:xfrm>
            <a:off x="4151376" y="1293876"/>
            <a:ext cx="68580" cy="6858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288536" y="1211580"/>
            <a:ext cx="2295144" cy="265176"/>
          </a:xfrm>
          <a:prstGeom prst="rect">
            <a:avLst/>
          </a:prstGeom>
          <a:noFill/>
        </p:spPr>
        <p:txBody>
          <a:bodyPr wrap="none" lIns="0" tIns="0" rIns="0" bIns="0" anchor="ctr">
            <a:spAutoFit/>
          </a:bodyPr>
          <a:lstStyle/>
          <a:p>
            <a:pPr>
              <a:defRPr sz="950">
                <a:solidFill>
                  <a:srgbClr val="24393A"/>
                </a:solidFill>
                <a:latin typeface="Times New Roman"/>
              </a:defRPr>
            </a:pPr>
            <a:r>
              <a:t>id INT</a:t>
            </a:r>
          </a:p>
        </p:txBody>
      </p:sp>
      <p:sp>
        <p:nvSpPr>
          <p:cNvPr id="38" name="Oval 37"/>
          <p:cNvSpPr/>
          <p:nvPr/>
        </p:nvSpPr>
        <p:spPr>
          <a:xfrm>
            <a:off x="4151376" y="1577340"/>
            <a:ext cx="68580" cy="68580"/>
          </a:xfrm>
          <a:prstGeom prst="ellipse">
            <a:avLst/>
          </a:prstGeom>
          <a:solidFill>
            <a:srgbClr val="7EAB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288536" y="1554535"/>
            <a:ext cx="1384995" cy="146194"/>
          </a:xfrm>
          <a:prstGeom prst="rect">
            <a:avLst/>
          </a:prstGeom>
          <a:noFill/>
        </p:spPr>
        <p:txBody>
          <a:bodyPr wrap="none" lIns="0" tIns="0" rIns="0" bIns="0" anchor="ctr">
            <a:spAutoFit/>
          </a:bodyPr>
          <a:lstStyle/>
          <a:p>
            <a:pPr>
              <a:defRPr sz="950">
                <a:solidFill>
                  <a:srgbClr val="24393A"/>
                </a:solidFill>
                <a:latin typeface="Times New Roman"/>
              </a:defRPr>
            </a:pPr>
            <a:r>
              <a:rPr dirty="0" err="1"/>
              <a:t>image_url</a:t>
            </a:r>
            <a:r>
              <a:rPr dirty="0"/>
              <a:t> VARCHAR(355)</a:t>
            </a:r>
          </a:p>
        </p:txBody>
      </p:sp>
      <p:sp>
        <p:nvSpPr>
          <p:cNvPr id="40" name="Oval 39"/>
          <p:cNvSpPr/>
          <p:nvPr/>
        </p:nvSpPr>
        <p:spPr>
          <a:xfrm>
            <a:off x="4151376" y="1860804"/>
            <a:ext cx="68580" cy="68580"/>
          </a:xfrm>
          <a:prstGeom prst="ellipse">
            <a:avLst/>
          </a:prstGeom>
          <a:solidFill>
            <a:srgbClr val="FFF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288536" y="1778507"/>
            <a:ext cx="2295144" cy="265176"/>
          </a:xfrm>
          <a:prstGeom prst="rect">
            <a:avLst/>
          </a:prstGeom>
          <a:noFill/>
        </p:spPr>
        <p:txBody>
          <a:bodyPr wrap="none" lIns="0" tIns="0" rIns="0" bIns="0" anchor="ctr">
            <a:spAutoFit/>
          </a:bodyPr>
          <a:lstStyle/>
          <a:p>
            <a:pPr>
              <a:defRPr sz="950">
                <a:solidFill>
                  <a:srgbClr val="24393A"/>
                </a:solidFill>
                <a:latin typeface="Times New Roman"/>
              </a:defRPr>
            </a:pPr>
            <a:r>
              <a:t>user_id INT</a:t>
            </a:r>
          </a:p>
        </p:txBody>
      </p:sp>
      <p:sp>
        <p:nvSpPr>
          <p:cNvPr id="42" name="Oval 41"/>
          <p:cNvSpPr/>
          <p:nvPr/>
        </p:nvSpPr>
        <p:spPr>
          <a:xfrm>
            <a:off x="4151376" y="2144268"/>
            <a:ext cx="68580" cy="68580"/>
          </a:xfrm>
          <a:prstGeom prst="ellipse">
            <a:avLst/>
          </a:prstGeom>
          <a:solidFill>
            <a:schemeClr val="accent1">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288536" y="2121462"/>
            <a:ext cx="1295226" cy="146194"/>
          </a:xfrm>
          <a:prstGeom prst="rect">
            <a:avLst/>
          </a:prstGeom>
          <a:noFill/>
        </p:spPr>
        <p:txBody>
          <a:bodyPr wrap="none" lIns="0" tIns="0" rIns="0" bIns="0" anchor="ctr">
            <a:spAutoFit/>
          </a:bodyPr>
          <a:lstStyle/>
          <a:p>
            <a:pPr>
              <a:defRPr sz="950">
                <a:solidFill>
                  <a:srgbClr val="24393A"/>
                </a:solidFill>
                <a:latin typeface="Times New Roman"/>
              </a:defRPr>
            </a:pPr>
            <a:r>
              <a:rPr dirty="0" smtClean="0"/>
              <a:t>created_</a:t>
            </a:r>
            <a:r>
              <a:rPr lang="en-IN" dirty="0" smtClean="0"/>
              <a:t>d</a:t>
            </a:r>
            <a:r>
              <a:rPr dirty="0" smtClean="0"/>
              <a:t>at </a:t>
            </a:r>
            <a:r>
              <a:rPr dirty="0"/>
              <a:t>TIMESTAMP</a:t>
            </a:r>
          </a:p>
        </p:txBody>
      </p:sp>
      <p:sp>
        <p:nvSpPr>
          <p:cNvPr id="44" name="Rounded Rectangle 43"/>
          <p:cNvSpPr/>
          <p:nvPr/>
        </p:nvSpPr>
        <p:spPr>
          <a:xfrm>
            <a:off x="7882127" y="1600200"/>
            <a:ext cx="2331720" cy="1197864"/>
          </a:xfrm>
          <a:prstGeom prst="roundRect">
            <a:avLst/>
          </a:prstGeom>
          <a:solidFill>
            <a:srgbClr val="FFFFFF"/>
          </a:solidFill>
          <a:ln w="12700">
            <a:solidFill>
              <a:srgbClr val="B1CBC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44"/>
          <p:cNvSpPr/>
          <p:nvPr/>
        </p:nvSpPr>
        <p:spPr>
          <a:xfrm>
            <a:off x="7882127" y="1600200"/>
            <a:ext cx="2331720" cy="347472"/>
          </a:xfrm>
          <a:prstGeom prst="roundRect">
            <a:avLst/>
          </a:prstGeom>
          <a:solidFill>
            <a:srgbClr val="BEDAD8"/>
          </a:solidFill>
          <a:ln w="7620">
            <a:solidFill>
              <a:srgbClr val="B1CBC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7882127" y="1865376"/>
            <a:ext cx="2331720" cy="82296"/>
          </a:xfrm>
          <a:prstGeom prst="rect">
            <a:avLst/>
          </a:prstGeom>
          <a:solidFill>
            <a:srgbClr val="BEDA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8001000" y="1609344"/>
            <a:ext cx="2130551" cy="338328"/>
          </a:xfrm>
          <a:prstGeom prst="rect">
            <a:avLst/>
          </a:prstGeom>
          <a:noFill/>
        </p:spPr>
        <p:txBody>
          <a:bodyPr wrap="none" lIns="0" tIns="0" rIns="0" bIns="0" anchor="ctr">
            <a:spAutoFit/>
          </a:bodyPr>
          <a:lstStyle/>
          <a:p>
            <a:pPr>
              <a:defRPr sz="1300" b="1">
                <a:solidFill>
                  <a:srgbClr val="395B5E"/>
                </a:solidFill>
                <a:latin typeface="Times New Roman"/>
              </a:defRPr>
            </a:pPr>
            <a:r>
              <a:t>follows</a:t>
            </a:r>
          </a:p>
        </p:txBody>
      </p:sp>
      <p:sp>
        <p:nvSpPr>
          <p:cNvPr id="48" name="Oval 47"/>
          <p:cNvSpPr/>
          <p:nvPr/>
        </p:nvSpPr>
        <p:spPr>
          <a:xfrm>
            <a:off x="7991855" y="2043684"/>
            <a:ext cx="68580" cy="68580"/>
          </a:xfrm>
          <a:prstGeom prst="ellipse">
            <a:avLst/>
          </a:prstGeom>
          <a:solidFill>
            <a:srgbClr val="00B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8129015" y="1961388"/>
            <a:ext cx="2020824" cy="265176"/>
          </a:xfrm>
          <a:prstGeom prst="rect">
            <a:avLst/>
          </a:prstGeom>
          <a:noFill/>
        </p:spPr>
        <p:txBody>
          <a:bodyPr wrap="none" lIns="0" tIns="0" rIns="0" bIns="0" anchor="ctr">
            <a:spAutoFit/>
          </a:bodyPr>
          <a:lstStyle/>
          <a:p>
            <a:pPr>
              <a:defRPr sz="950">
                <a:solidFill>
                  <a:srgbClr val="24393A"/>
                </a:solidFill>
                <a:latin typeface="Times New Roman"/>
              </a:defRPr>
            </a:pPr>
            <a:r>
              <a:t>follower_id INT</a:t>
            </a:r>
          </a:p>
        </p:txBody>
      </p:sp>
      <p:sp>
        <p:nvSpPr>
          <p:cNvPr id="50" name="Oval 49"/>
          <p:cNvSpPr/>
          <p:nvPr/>
        </p:nvSpPr>
        <p:spPr>
          <a:xfrm>
            <a:off x="7991855" y="2327148"/>
            <a:ext cx="68580" cy="68580"/>
          </a:xfrm>
          <a:prstGeom prst="ellipse">
            <a:avLst/>
          </a:prstGeom>
          <a:solidFill>
            <a:srgbClr val="00B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129015" y="2304343"/>
            <a:ext cx="814325" cy="146194"/>
          </a:xfrm>
          <a:prstGeom prst="rect">
            <a:avLst/>
          </a:prstGeom>
          <a:noFill/>
        </p:spPr>
        <p:txBody>
          <a:bodyPr wrap="none" lIns="0" tIns="0" rIns="0" bIns="0" anchor="ctr">
            <a:spAutoFit/>
          </a:bodyPr>
          <a:lstStyle/>
          <a:p>
            <a:pPr>
              <a:defRPr sz="950">
                <a:solidFill>
                  <a:srgbClr val="24393A"/>
                </a:solidFill>
                <a:latin typeface="Times New Roman"/>
              </a:defRPr>
            </a:pPr>
            <a:r>
              <a:rPr dirty="0" err="1" smtClean="0"/>
              <a:t>followe</a:t>
            </a:r>
            <a:r>
              <a:rPr lang="en-IN" dirty="0" smtClean="0"/>
              <a:t>e</a:t>
            </a:r>
            <a:r>
              <a:rPr dirty="0" smtClean="0"/>
              <a:t>_id </a:t>
            </a:r>
            <a:r>
              <a:rPr dirty="0"/>
              <a:t>INT</a:t>
            </a:r>
          </a:p>
        </p:txBody>
      </p:sp>
      <p:sp>
        <p:nvSpPr>
          <p:cNvPr id="52" name="Oval 51"/>
          <p:cNvSpPr/>
          <p:nvPr/>
        </p:nvSpPr>
        <p:spPr>
          <a:xfrm>
            <a:off x="7991855" y="2610612"/>
            <a:ext cx="68580" cy="68580"/>
          </a:xfrm>
          <a:prstGeom prst="ellipse">
            <a:avLst/>
          </a:prstGeom>
          <a:solidFill>
            <a:srgbClr val="7EAB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8129015" y="2528316"/>
            <a:ext cx="2020824" cy="265176"/>
          </a:xfrm>
          <a:prstGeom prst="rect">
            <a:avLst/>
          </a:prstGeom>
          <a:noFill/>
        </p:spPr>
        <p:txBody>
          <a:bodyPr wrap="none" lIns="0" tIns="0" rIns="0" bIns="0" anchor="ctr">
            <a:spAutoFit/>
          </a:bodyPr>
          <a:lstStyle/>
          <a:p>
            <a:pPr>
              <a:defRPr sz="950">
                <a:solidFill>
                  <a:srgbClr val="24393A"/>
                </a:solidFill>
                <a:latin typeface="Times New Roman"/>
              </a:defRPr>
            </a:pPr>
            <a:r>
              <a:t>created_at TIMESTAMP</a:t>
            </a:r>
          </a:p>
        </p:txBody>
      </p:sp>
      <p:sp>
        <p:nvSpPr>
          <p:cNvPr id="54" name="Rounded Rectangle 53"/>
          <p:cNvSpPr/>
          <p:nvPr/>
        </p:nvSpPr>
        <p:spPr>
          <a:xfrm>
            <a:off x="640080" y="2907792"/>
            <a:ext cx="2697480" cy="1764792"/>
          </a:xfrm>
          <a:prstGeom prst="roundRect">
            <a:avLst/>
          </a:prstGeom>
          <a:solidFill>
            <a:srgbClr val="FFFFFF"/>
          </a:solidFill>
          <a:ln w="12700">
            <a:solidFill>
              <a:srgbClr val="B1CBC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ounded Rectangle 54"/>
          <p:cNvSpPr/>
          <p:nvPr/>
        </p:nvSpPr>
        <p:spPr>
          <a:xfrm>
            <a:off x="640080" y="2907792"/>
            <a:ext cx="2697480" cy="347472"/>
          </a:xfrm>
          <a:prstGeom prst="roundRect">
            <a:avLst/>
          </a:prstGeom>
          <a:solidFill>
            <a:srgbClr val="BEDAD8"/>
          </a:solidFill>
          <a:ln w="7620">
            <a:solidFill>
              <a:srgbClr val="B1CBC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640080" y="3172968"/>
            <a:ext cx="2697480" cy="82296"/>
          </a:xfrm>
          <a:prstGeom prst="rect">
            <a:avLst/>
          </a:prstGeom>
          <a:solidFill>
            <a:srgbClr val="BEDA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758952" y="2916936"/>
            <a:ext cx="2496312" cy="338328"/>
          </a:xfrm>
          <a:prstGeom prst="rect">
            <a:avLst/>
          </a:prstGeom>
          <a:noFill/>
        </p:spPr>
        <p:txBody>
          <a:bodyPr wrap="none" lIns="0" tIns="0" rIns="0" bIns="0" anchor="ctr">
            <a:spAutoFit/>
          </a:bodyPr>
          <a:lstStyle/>
          <a:p>
            <a:pPr>
              <a:defRPr sz="1300" b="1">
                <a:solidFill>
                  <a:srgbClr val="395B5E"/>
                </a:solidFill>
                <a:latin typeface="Times New Roman"/>
              </a:defRPr>
            </a:pPr>
            <a:r>
              <a:t>comments</a:t>
            </a:r>
          </a:p>
        </p:txBody>
      </p:sp>
      <p:sp>
        <p:nvSpPr>
          <p:cNvPr id="58" name="Oval 57"/>
          <p:cNvSpPr/>
          <p:nvPr/>
        </p:nvSpPr>
        <p:spPr>
          <a:xfrm>
            <a:off x="749808" y="3351276"/>
            <a:ext cx="68580" cy="6858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886968" y="3268980"/>
            <a:ext cx="2386584" cy="265176"/>
          </a:xfrm>
          <a:prstGeom prst="rect">
            <a:avLst/>
          </a:prstGeom>
          <a:noFill/>
        </p:spPr>
        <p:txBody>
          <a:bodyPr wrap="none" lIns="0" tIns="0" rIns="0" bIns="0" anchor="ctr">
            <a:spAutoFit/>
          </a:bodyPr>
          <a:lstStyle/>
          <a:p>
            <a:pPr>
              <a:defRPr sz="950">
                <a:solidFill>
                  <a:srgbClr val="24393A"/>
                </a:solidFill>
                <a:latin typeface="Times New Roman"/>
              </a:defRPr>
            </a:pPr>
            <a:r>
              <a:t>id INT</a:t>
            </a:r>
          </a:p>
        </p:txBody>
      </p:sp>
      <p:sp>
        <p:nvSpPr>
          <p:cNvPr id="60" name="Oval 59"/>
          <p:cNvSpPr/>
          <p:nvPr/>
        </p:nvSpPr>
        <p:spPr>
          <a:xfrm>
            <a:off x="749808" y="3634740"/>
            <a:ext cx="68580" cy="68580"/>
          </a:xfrm>
          <a:prstGeom prst="ellipse">
            <a:avLst/>
          </a:prstGeom>
          <a:solidFill>
            <a:srgbClr val="7EAB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86968" y="3552444"/>
            <a:ext cx="2386584" cy="265176"/>
          </a:xfrm>
          <a:prstGeom prst="rect">
            <a:avLst/>
          </a:prstGeom>
          <a:noFill/>
        </p:spPr>
        <p:txBody>
          <a:bodyPr wrap="none" lIns="0" tIns="0" rIns="0" bIns="0" anchor="ctr">
            <a:spAutoFit/>
          </a:bodyPr>
          <a:lstStyle/>
          <a:p>
            <a:pPr>
              <a:defRPr sz="950">
                <a:solidFill>
                  <a:srgbClr val="24393A"/>
                </a:solidFill>
                <a:latin typeface="Times New Roman"/>
              </a:defRPr>
            </a:pPr>
            <a:r>
              <a:rPr dirty="0" err="1"/>
              <a:t>comment_text</a:t>
            </a:r>
            <a:r>
              <a:rPr dirty="0"/>
              <a:t> VARCHAR(255)</a:t>
            </a:r>
          </a:p>
        </p:txBody>
      </p:sp>
      <p:sp>
        <p:nvSpPr>
          <p:cNvPr id="62" name="Oval 61"/>
          <p:cNvSpPr/>
          <p:nvPr/>
        </p:nvSpPr>
        <p:spPr>
          <a:xfrm>
            <a:off x="749808" y="3918204"/>
            <a:ext cx="68580" cy="68580"/>
          </a:xfrm>
          <a:prstGeom prst="ellipse">
            <a:avLst/>
          </a:prstGeom>
          <a:solidFill>
            <a:srgbClr val="FFF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886968" y="3835907"/>
            <a:ext cx="2386584" cy="265176"/>
          </a:xfrm>
          <a:prstGeom prst="rect">
            <a:avLst/>
          </a:prstGeom>
          <a:noFill/>
        </p:spPr>
        <p:txBody>
          <a:bodyPr wrap="none" lIns="0" tIns="0" rIns="0" bIns="0" anchor="ctr">
            <a:spAutoFit/>
          </a:bodyPr>
          <a:lstStyle/>
          <a:p>
            <a:pPr>
              <a:defRPr sz="950">
                <a:solidFill>
                  <a:srgbClr val="24393A"/>
                </a:solidFill>
                <a:latin typeface="Times New Roman"/>
              </a:defRPr>
            </a:pPr>
            <a:r>
              <a:t>user_id INT</a:t>
            </a:r>
          </a:p>
        </p:txBody>
      </p:sp>
      <p:sp>
        <p:nvSpPr>
          <p:cNvPr id="64" name="Oval 63"/>
          <p:cNvSpPr/>
          <p:nvPr/>
        </p:nvSpPr>
        <p:spPr>
          <a:xfrm>
            <a:off x="749808" y="4201668"/>
            <a:ext cx="68580" cy="68580"/>
          </a:xfrm>
          <a:prstGeom prst="ellipse">
            <a:avLst/>
          </a:prstGeom>
          <a:solidFill>
            <a:srgbClr val="FFF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886968" y="4119372"/>
            <a:ext cx="2386584" cy="265176"/>
          </a:xfrm>
          <a:prstGeom prst="rect">
            <a:avLst/>
          </a:prstGeom>
          <a:noFill/>
        </p:spPr>
        <p:txBody>
          <a:bodyPr wrap="none" lIns="0" tIns="0" rIns="0" bIns="0" anchor="ctr">
            <a:spAutoFit/>
          </a:bodyPr>
          <a:lstStyle/>
          <a:p>
            <a:pPr>
              <a:defRPr sz="950">
                <a:solidFill>
                  <a:srgbClr val="24393A"/>
                </a:solidFill>
                <a:latin typeface="Times New Roman"/>
              </a:defRPr>
            </a:pPr>
            <a:r>
              <a:t>photo_id INT</a:t>
            </a:r>
          </a:p>
        </p:txBody>
      </p:sp>
      <p:sp>
        <p:nvSpPr>
          <p:cNvPr id="66" name="Oval 65"/>
          <p:cNvSpPr/>
          <p:nvPr/>
        </p:nvSpPr>
        <p:spPr>
          <a:xfrm>
            <a:off x="749808" y="4485132"/>
            <a:ext cx="68580" cy="68580"/>
          </a:xfrm>
          <a:prstGeom prst="ellipse">
            <a:avLst/>
          </a:prstGeom>
          <a:solidFill>
            <a:srgbClr val="7EAB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886968" y="4402836"/>
            <a:ext cx="2386584" cy="265176"/>
          </a:xfrm>
          <a:prstGeom prst="rect">
            <a:avLst/>
          </a:prstGeom>
          <a:noFill/>
        </p:spPr>
        <p:txBody>
          <a:bodyPr wrap="none" lIns="0" tIns="0" rIns="0" bIns="0" anchor="ctr">
            <a:spAutoFit/>
          </a:bodyPr>
          <a:lstStyle/>
          <a:p>
            <a:pPr>
              <a:defRPr sz="950">
                <a:solidFill>
                  <a:srgbClr val="24393A"/>
                </a:solidFill>
                <a:latin typeface="Times New Roman"/>
              </a:defRPr>
            </a:pPr>
            <a:r>
              <a:t>created_at TIMESTAMP</a:t>
            </a:r>
          </a:p>
        </p:txBody>
      </p:sp>
      <p:sp>
        <p:nvSpPr>
          <p:cNvPr id="68" name="Rounded Rectangle 67"/>
          <p:cNvSpPr/>
          <p:nvPr/>
        </p:nvSpPr>
        <p:spPr>
          <a:xfrm>
            <a:off x="8211312" y="2926080"/>
            <a:ext cx="2395728" cy="1197864"/>
          </a:xfrm>
          <a:prstGeom prst="roundRect">
            <a:avLst/>
          </a:prstGeom>
          <a:solidFill>
            <a:srgbClr val="FFFFFF"/>
          </a:solidFill>
          <a:ln w="12700">
            <a:solidFill>
              <a:srgbClr val="B1CBC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ounded Rectangle 68"/>
          <p:cNvSpPr/>
          <p:nvPr/>
        </p:nvSpPr>
        <p:spPr>
          <a:xfrm>
            <a:off x="8211312" y="2926080"/>
            <a:ext cx="2395728" cy="347472"/>
          </a:xfrm>
          <a:prstGeom prst="roundRect">
            <a:avLst/>
          </a:prstGeom>
          <a:solidFill>
            <a:srgbClr val="BEDAD8"/>
          </a:solidFill>
          <a:ln w="7620">
            <a:solidFill>
              <a:srgbClr val="B1CBC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ectangle 69"/>
          <p:cNvSpPr/>
          <p:nvPr/>
        </p:nvSpPr>
        <p:spPr>
          <a:xfrm>
            <a:off x="8211312" y="3191256"/>
            <a:ext cx="2395728" cy="82296"/>
          </a:xfrm>
          <a:prstGeom prst="rect">
            <a:avLst/>
          </a:prstGeom>
          <a:solidFill>
            <a:srgbClr val="BEDA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8330184" y="2935224"/>
            <a:ext cx="2194560" cy="338328"/>
          </a:xfrm>
          <a:prstGeom prst="rect">
            <a:avLst/>
          </a:prstGeom>
          <a:noFill/>
        </p:spPr>
        <p:txBody>
          <a:bodyPr wrap="none" lIns="0" tIns="0" rIns="0" bIns="0" anchor="ctr">
            <a:spAutoFit/>
          </a:bodyPr>
          <a:lstStyle/>
          <a:p>
            <a:pPr>
              <a:defRPr sz="1300" b="1">
                <a:solidFill>
                  <a:srgbClr val="395B5E"/>
                </a:solidFill>
                <a:latin typeface="Times New Roman"/>
              </a:defRPr>
            </a:pPr>
            <a:r>
              <a:t>users</a:t>
            </a:r>
          </a:p>
        </p:txBody>
      </p:sp>
      <p:sp>
        <p:nvSpPr>
          <p:cNvPr id="72" name="Oval 71"/>
          <p:cNvSpPr/>
          <p:nvPr/>
        </p:nvSpPr>
        <p:spPr>
          <a:xfrm>
            <a:off x="8321040" y="3369564"/>
            <a:ext cx="68580" cy="6858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8458200" y="3287268"/>
            <a:ext cx="2084832" cy="265176"/>
          </a:xfrm>
          <a:prstGeom prst="rect">
            <a:avLst/>
          </a:prstGeom>
          <a:noFill/>
        </p:spPr>
        <p:txBody>
          <a:bodyPr wrap="none" lIns="0" tIns="0" rIns="0" bIns="0" anchor="ctr">
            <a:spAutoFit/>
          </a:bodyPr>
          <a:lstStyle/>
          <a:p>
            <a:pPr>
              <a:defRPr sz="950">
                <a:solidFill>
                  <a:srgbClr val="24393A"/>
                </a:solidFill>
                <a:latin typeface="Times New Roman"/>
              </a:defRPr>
            </a:pPr>
            <a:r>
              <a:t>id INT</a:t>
            </a:r>
          </a:p>
        </p:txBody>
      </p:sp>
      <p:sp>
        <p:nvSpPr>
          <p:cNvPr id="74" name="Oval 73"/>
          <p:cNvSpPr/>
          <p:nvPr/>
        </p:nvSpPr>
        <p:spPr>
          <a:xfrm>
            <a:off x="8321040" y="3653028"/>
            <a:ext cx="68580" cy="68580"/>
          </a:xfrm>
          <a:prstGeom prst="ellipse">
            <a:avLst/>
          </a:prstGeom>
          <a:solidFill>
            <a:srgbClr val="7EAB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8458200" y="3570732"/>
            <a:ext cx="2084832" cy="265176"/>
          </a:xfrm>
          <a:prstGeom prst="rect">
            <a:avLst/>
          </a:prstGeom>
          <a:noFill/>
        </p:spPr>
        <p:txBody>
          <a:bodyPr wrap="none" lIns="0" tIns="0" rIns="0" bIns="0" anchor="ctr">
            <a:spAutoFit/>
          </a:bodyPr>
          <a:lstStyle/>
          <a:p>
            <a:pPr>
              <a:defRPr sz="950">
                <a:solidFill>
                  <a:srgbClr val="24393A"/>
                </a:solidFill>
                <a:latin typeface="Times New Roman"/>
              </a:defRPr>
            </a:pPr>
            <a:r>
              <a:t>username VARCHAR(255)</a:t>
            </a:r>
          </a:p>
        </p:txBody>
      </p:sp>
      <p:sp>
        <p:nvSpPr>
          <p:cNvPr id="76" name="Oval 75"/>
          <p:cNvSpPr/>
          <p:nvPr/>
        </p:nvSpPr>
        <p:spPr>
          <a:xfrm>
            <a:off x="8321040" y="3936492"/>
            <a:ext cx="68580" cy="68580"/>
          </a:xfrm>
          <a:prstGeom prst="ellipse">
            <a:avLst/>
          </a:prstGeom>
          <a:solidFill>
            <a:srgbClr val="7EAB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8458200" y="3854196"/>
            <a:ext cx="2084832" cy="265176"/>
          </a:xfrm>
          <a:prstGeom prst="rect">
            <a:avLst/>
          </a:prstGeom>
          <a:noFill/>
        </p:spPr>
        <p:txBody>
          <a:bodyPr wrap="none" lIns="0" tIns="0" rIns="0" bIns="0" anchor="ctr">
            <a:spAutoFit/>
          </a:bodyPr>
          <a:lstStyle/>
          <a:p>
            <a:pPr>
              <a:defRPr sz="950">
                <a:solidFill>
                  <a:srgbClr val="24393A"/>
                </a:solidFill>
                <a:latin typeface="Times New Roman"/>
              </a:defRPr>
            </a:pPr>
            <a:r>
              <a:t>created_at TIMESTAMP</a:t>
            </a:r>
          </a:p>
        </p:txBody>
      </p:sp>
      <p:sp>
        <p:nvSpPr>
          <p:cNvPr id="78" name="Rounded Rectangle 77"/>
          <p:cNvSpPr/>
          <p:nvPr/>
        </p:nvSpPr>
        <p:spPr>
          <a:xfrm>
            <a:off x="640080" y="5138928"/>
            <a:ext cx="2331720" cy="1197864"/>
          </a:xfrm>
          <a:prstGeom prst="roundRect">
            <a:avLst/>
          </a:prstGeom>
          <a:solidFill>
            <a:srgbClr val="FFFFFF"/>
          </a:solidFill>
          <a:ln w="12700">
            <a:solidFill>
              <a:srgbClr val="B1CBC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Rounded Rectangle 78"/>
          <p:cNvSpPr/>
          <p:nvPr/>
        </p:nvSpPr>
        <p:spPr>
          <a:xfrm>
            <a:off x="640080" y="5138928"/>
            <a:ext cx="2331720" cy="347472"/>
          </a:xfrm>
          <a:prstGeom prst="roundRect">
            <a:avLst/>
          </a:prstGeom>
          <a:solidFill>
            <a:srgbClr val="BEDAD8"/>
          </a:solidFill>
          <a:ln w="7620">
            <a:solidFill>
              <a:srgbClr val="B1CBC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Rectangle 79"/>
          <p:cNvSpPr/>
          <p:nvPr/>
        </p:nvSpPr>
        <p:spPr>
          <a:xfrm>
            <a:off x="640080" y="5404104"/>
            <a:ext cx="2331720" cy="82296"/>
          </a:xfrm>
          <a:prstGeom prst="rect">
            <a:avLst/>
          </a:prstGeom>
          <a:solidFill>
            <a:srgbClr val="BEDA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758952" y="5148072"/>
            <a:ext cx="2130551" cy="338328"/>
          </a:xfrm>
          <a:prstGeom prst="rect">
            <a:avLst/>
          </a:prstGeom>
          <a:noFill/>
        </p:spPr>
        <p:txBody>
          <a:bodyPr wrap="none" lIns="0" tIns="0" rIns="0" bIns="0" anchor="ctr">
            <a:spAutoFit/>
          </a:bodyPr>
          <a:lstStyle/>
          <a:p>
            <a:pPr>
              <a:defRPr sz="1300" b="1">
                <a:solidFill>
                  <a:srgbClr val="395B5E"/>
                </a:solidFill>
                <a:latin typeface="Times New Roman"/>
              </a:defRPr>
            </a:pPr>
            <a:r>
              <a:t>likes</a:t>
            </a:r>
          </a:p>
        </p:txBody>
      </p:sp>
      <p:sp>
        <p:nvSpPr>
          <p:cNvPr id="82" name="Oval 81"/>
          <p:cNvSpPr/>
          <p:nvPr/>
        </p:nvSpPr>
        <p:spPr>
          <a:xfrm>
            <a:off x="749808" y="5582412"/>
            <a:ext cx="68580" cy="68580"/>
          </a:xfrm>
          <a:prstGeom prst="ellipse">
            <a:avLst/>
          </a:prstGeom>
          <a:solidFill>
            <a:srgbClr val="00B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rgbClr val="FF0000"/>
              </a:solidFill>
            </a:endParaRPr>
          </a:p>
        </p:txBody>
      </p:sp>
      <p:sp>
        <p:nvSpPr>
          <p:cNvPr id="83" name="TextBox 82"/>
          <p:cNvSpPr txBox="1"/>
          <p:nvPr/>
        </p:nvSpPr>
        <p:spPr>
          <a:xfrm>
            <a:off x="886968" y="5500116"/>
            <a:ext cx="2020824" cy="265176"/>
          </a:xfrm>
          <a:prstGeom prst="rect">
            <a:avLst/>
          </a:prstGeom>
          <a:noFill/>
        </p:spPr>
        <p:txBody>
          <a:bodyPr wrap="none" lIns="0" tIns="0" rIns="0" bIns="0" anchor="ctr">
            <a:spAutoFit/>
          </a:bodyPr>
          <a:lstStyle/>
          <a:p>
            <a:pPr>
              <a:defRPr sz="950">
                <a:solidFill>
                  <a:srgbClr val="24393A"/>
                </a:solidFill>
                <a:latin typeface="Times New Roman"/>
              </a:defRPr>
            </a:pPr>
            <a:r>
              <a:t>user_id INT</a:t>
            </a:r>
          </a:p>
        </p:txBody>
      </p:sp>
      <p:sp>
        <p:nvSpPr>
          <p:cNvPr id="84" name="Oval 83"/>
          <p:cNvSpPr/>
          <p:nvPr/>
        </p:nvSpPr>
        <p:spPr>
          <a:xfrm>
            <a:off x="749808" y="5865876"/>
            <a:ext cx="68580" cy="68580"/>
          </a:xfrm>
          <a:prstGeom prst="ellipse">
            <a:avLst/>
          </a:prstGeom>
          <a:solidFill>
            <a:srgbClr val="00B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886968" y="5783579"/>
            <a:ext cx="2020824" cy="265176"/>
          </a:xfrm>
          <a:prstGeom prst="rect">
            <a:avLst/>
          </a:prstGeom>
          <a:noFill/>
        </p:spPr>
        <p:txBody>
          <a:bodyPr wrap="none" lIns="0" tIns="0" rIns="0" bIns="0" anchor="ctr">
            <a:spAutoFit/>
          </a:bodyPr>
          <a:lstStyle/>
          <a:p>
            <a:pPr>
              <a:defRPr sz="950">
                <a:solidFill>
                  <a:srgbClr val="24393A"/>
                </a:solidFill>
                <a:latin typeface="Times New Roman"/>
              </a:defRPr>
            </a:pPr>
            <a:r>
              <a:t>photo_id INT</a:t>
            </a:r>
          </a:p>
        </p:txBody>
      </p:sp>
      <p:sp>
        <p:nvSpPr>
          <p:cNvPr id="86" name="Oval 85"/>
          <p:cNvSpPr/>
          <p:nvPr/>
        </p:nvSpPr>
        <p:spPr>
          <a:xfrm>
            <a:off x="749808" y="6149340"/>
            <a:ext cx="68580" cy="68580"/>
          </a:xfrm>
          <a:prstGeom prst="ellipse">
            <a:avLst/>
          </a:prstGeom>
          <a:solidFill>
            <a:srgbClr val="7EAB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886968" y="6067044"/>
            <a:ext cx="2020824" cy="265176"/>
          </a:xfrm>
          <a:prstGeom prst="rect">
            <a:avLst/>
          </a:prstGeom>
          <a:noFill/>
        </p:spPr>
        <p:txBody>
          <a:bodyPr wrap="none" lIns="0" tIns="0" rIns="0" bIns="0" anchor="ctr">
            <a:spAutoFit/>
          </a:bodyPr>
          <a:lstStyle/>
          <a:p>
            <a:pPr>
              <a:defRPr sz="950">
                <a:solidFill>
                  <a:srgbClr val="24393A"/>
                </a:solidFill>
                <a:latin typeface="Times New Roman"/>
              </a:defRPr>
            </a:pPr>
            <a:r>
              <a:t>created_at TIMESTAMP</a:t>
            </a:r>
          </a:p>
        </p:txBody>
      </p:sp>
      <p:sp>
        <p:nvSpPr>
          <p:cNvPr id="88" name="Rounded Rectangle 87"/>
          <p:cNvSpPr/>
          <p:nvPr/>
        </p:nvSpPr>
        <p:spPr>
          <a:xfrm>
            <a:off x="4114800" y="5138928"/>
            <a:ext cx="2514600" cy="914400"/>
          </a:xfrm>
          <a:prstGeom prst="roundRect">
            <a:avLst/>
          </a:prstGeom>
          <a:solidFill>
            <a:srgbClr val="FFFFFF"/>
          </a:solidFill>
          <a:ln w="12700">
            <a:solidFill>
              <a:srgbClr val="B1CBC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Rounded Rectangle 88"/>
          <p:cNvSpPr/>
          <p:nvPr/>
        </p:nvSpPr>
        <p:spPr>
          <a:xfrm>
            <a:off x="4114800" y="5138928"/>
            <a:ext cx="2514600" cy="347472"/>
          </a:xfrm>
          <a:prstGeom prst="roundRect">
            <a:avLst/>
          </a:prstGeom>
          <a:solidFill>
            <a:srgbClr val="BEDAD8"/>
          </a:solidFill>
          <a:ln w="7620">
            <a:solidFill>
              <a:srgbClr val="B1CBC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Rectangle 89"/>
          <p:cNvSpPr/>
          <p:nvPr/>
        </p:nvSpPr>
        <p:spPr>
          <a:xfrm>
            <a:off x="4114800" y="5404104"/>
            <a:ext cx="2514600" cy="82296"/>
          </a:xfrm>
          <a:prstGeom prst="rect">
            <a:avLst/>
          </a:prstGeom>
          <a:solidFill>
            <a:srgbClr val="BEDA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4233672" y="5148072"/>
            <a:ext cx="2313432" cy="338328"/>
          </a:xfrm>
          <a:prstGeom prst="rect">
            <a:avLst/>
          </a:prstGeom>
          <a:noFill/>
        </p:spPr>
        <p:txBody>
          <a:bodyPr wrap="none" lIns="0" tIns="0" rIns="0" bIns="0" anchor="ctr">
            <a:spAutoFit/>
          </a:bodyPr>
          <a:lstStyle/>
          <a:p>
            <a:pPr>
              <a:defRPr sz="1300" b="1">
                <a:solidFill>
                  <a:srgbClr val="395B5E"/>
                </a:solidFill>
                <a:latin typeface="Times New Roman"/>
              </a:defRPr>
            </a:pPr>
            <a:r>
              <a:t>photo_tags</a:t>
            </a:r>
          </a:p>
        </p:txBody>
      </p:sp>
      <p:sp>
        <p:nvSpPr>
          <p:cNvPr id="92" name="Oval 91"/>
          <p:cNvSpPr/>
          <p:nvPr/>
        </p:nvSpPr>
        <p:spPr>
          <a:xfrm>
            <a:off x="4224528" y="5582412"/>
            <a:ext cx="68580" cy="68580"/>
          </a:xfrm>
          <a:prstGeom prst="ellipse">
            <a:avLst/>
          </a:prstGeom>
          <a:solidFill>
            <a:srgbClr val="00B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4361688" y="5500116"/>
            <a:ext cx="2203704" cy="265176"/>
          </a:xfrm>
          <a:prstGeom prst="rect">
            <a:avLst/>
          </a:prstGeom>
          <a:noFill/>
        </p:spPr>
        <p:txBody>
          <a:bodyPr wrap="none" lIns="0" tIns="0" rIns="0" bIns="0" anchor="ctr">
            <a:spAutoFit/>
          </a:bodyPr>
          <a:lstStyle/>
          <a:p>
            <a:pPr>
              <a:defRPr sz="950">
                <a:solidFill>
                  <a:srgbClr val="24393A"/>
                </a:solidFill>
                <a:latin typeface="Times New Roman"/>
              </a:defRPr>
            </a:pPr>
            <a:r>
              <a:t>photo_id INT</a:t>
            </a:r>
          </a:p>
        </p:txBody>
      </p:sp>
      <p:sp>
        <p:nvSpPr>
          <p:cNvPr id="94" name="Oval 93"/>
          <p:cNvSpPr/>
          <p:nvPr/>
        </p:nvSpPr>
        <p:spPr>
          <a:xfrm>
            <a:off x="4224528" y="5865876"/>
            <a:ext cx="68580" cy="68580"/>
          </a:xfrm>
          <a:prstGeom prst="ellipse">
            <a:avLst/>
          </a:prstGeom>
          <a:solidFill>
            <a:srgbClr val="00B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4361688" y="5783579"/>
            <a:ext cx="2203704" cy="265176"/>
          </a:xfrm>
          <a:prstGeom prst="rect">
            <a:avLst/>
          </a:prstGeom>
          <a:noFill/>
        </p:spPr>
        <p:txBody>
          <a:bodyPr wrap="none" lIns="0" tIns="0" rIns="0" bIns="0" anchor="ctr">
            <a:spAutoFit/>
          </a:bodyPr>
          <a:lstStyle/>
          <a:p>
            <a:pPr>
              <a:defRPr sz="950">
                <a:solidFill>
                  <a:srgbClr val="24393A"/>
                </a:solidFill>
                <a:latin typeface="Times New Roman"/>
              </a:defRPr>
            </a:pPr>
            <a:r>
              <a:t>tag_id INT</a:t>
            </a:r>
          </a:p>
        </p:txBody>
      </p:sp>
      <p:sp>
        <p:nvSpPr>
          <p:cNvPr id="96" name="Rounded Rectangle 95"/>
          <p:cNvSpPr/>
          <p:nvPr/>
        </p:nvSpPr>
        <p:spPr>
          <a:xfrm>
            <a:off x="8229600" y="5138928"/>
            <a:ext cx="2331720" cy="1197864"/>
          </a:xfrm>
          <a:prstGeom prst="roundRect">
            <a:avLst/>
          </a:prstGeom>
          <a:solidFill>
            <a:srgbClr val="FFFFFF"/>
          </a:solidFill>
          <a:ln w="12700">
            <a:solidFill>
              <a:srgbClr val="B1CBC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Rounded Rectangle 96"/>
          <p:cNvSpPr/>
          <p:nvPr/>
        </p:nvSpPr>
        <p:spPr>
          <a:xfrm>
            <a:off x="8229600" y="5138928"/>
            <a:ext cx="2331720" cy="347472"/>
          </a:xfrm>
          <a:prstGeom prst="roundRect">
            <a:avLst/>
          </a:prstGeom>
          <a:solidFill>
            <a:srgbClr val="BEDAD8"/>
          </a:solidFill>
          <a:ln w="7620">
            <a:solidFill>
              <a:srgbClr val="B1CBC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Rectangle 97"/>
          <p:cNvSpPr/>
          <p:nvPr/>
        </p:nvSpPr>
        <p:spPr>
          <a:xfrm>
            <a:off x="8229600" y="5404104"/>
            <a:ext cx="2331720" cy="82296"/>
          </a:xfrm>
          <a:prstGeom prst="rect">
            <a:avLst/>
          </a:prstGeom>
          <a:solidFill>
            <a:srgbClr val="BEDA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TextBox 98"/>
          <p:cNvSpPr txBox="1"/>
          <p:nvPr/>
        </p:nvSpPr>
        <p:spPr>
          <a:xfrm>
            <a:off x="8348472" y="5148072"/>
            <a:ext cx="2130551" cy="338328"/>
          </a:xfrm>
          <a:prstGeom prst="rect">
            <a:avLst/>
          </a:prstGeom>
          <a:noFill/>
        </p:spPr>
        <p:txBody>
          <a:bodyPr wrap="none" lIns="0" tIns="0" rIns="0" bIns="0" anchor="ctr">
            <a:spAutoFit/>
          </a:bodyPr>
          <a:lstStyle/>
          <a:p>
            <a:pPr>
              <a:defRPr sz="1300" b="1">
                <a:solidFill>
                  <a:srgbClr val="395B5E"/>
                </a:solidFill>
                <a:latin typeface="Times New Roman"/>
              </a:defRPr>
            </a:pPr>
            <a:r>
              <a:t>tags</a:t>
            </a:r>
          </a:p>
        </p:txBody>
      </p:sp>
      <p:sp>
        <p:nvSpPr>
          <p:cNvPr id="100" name="Oval 99"/>
          <p:cNvSpPr/>
          <p:nvPr/>
        </p:nvSpPr>
        <p:spPr>
          <a:xfrm>
            <a:off x="8339327" y="5582412"/>
            <a:ext cx="68580" cy="6858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TextBox 100"/>
          <p:cNvSpPr txBox="1"/>
          <p:nvPr/>
        </p:nvSpPr>
        <p:spPr>
          <a:xfrm>
            <a:off x="8476488" y="5500116"/>
            <a:ext cx="2020824" cy="265176"/>
          </a:xfrm>
          <a:prstGeom prst="rect">
            <a:avLst/>
          </a:prstGeom>
          <a:noFill/>
        </p:spPr>
        <p:txBody>
          <a:bodyPr wrap="none" lIns="0" tIns="0" rIns="0" bIns="0" anchor="ctr">
            <a:spAutoFit/>
          </a:bodyPr>
          <a:lstStyle/>
          <a:p>
            <a:pPr>
              <a:defRPr sz="950">
                <a:solidFill>
                  <a:srgbClr val="24393A"/>
                </a:solidFill>
                <a:latin typeface="Times New Roman"/>
              </a:defRPr>
            </a:pPr>
            <a:r>
              <a:t>id INT</a:t>
            </a:r>
          </a:p>
        </p:txBody>
      </p:sp>
      <p:sp>
        <p:nvSpPr>
          <p:cNvPr id="102" name="Oval 101"/>
          <p:cNvSpPr/>
          <p:nvPr/>
        </p:nvSpPr>
        <p:spPr>
          <a:xfrm>
            <a:off x="8339327" y="5865876"/>
            <a:ext cx="68580" cy="68580"/>
          </a:xfrm>
          <a:prstGeom prst="ellipse">
            <a:avLst/>
          </a:prstGeom>
          <a:solidFill>
            <a:srgbClr val="7EAB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TextBox 102"/>
          <p:cNvSpPr txBox="1"/>
          <p:nvPr/>
        </p:nvSpPr>
        <p:spPr>
          <a:xfrm>
            <a:off x="8476488" y="5783579"/>
            <a:ext cx="2020824" cy="265176"/>
          </a:xfrm>
          <a:prstGeom prst="rect">
            <a:avLst/>
          </a:prstGeom>
          <a:noFill/>
        </p:spPr>
        <p:txBody>
          <a:bodyPr wrap="none" lIns="0" tIns="0" rIns="0" bIns="0" anchor="ctr">
            <a:spAutoFit/>
          </a:bodyPr>
          <a:lstStyle/>
          <a:p>
            <a:pPr>
              <a:defRPr sz="950">
                <a:solidFill>
                  <a:srgbClr val="24393A"/>
                </a:solidFill>
                <a:latin typeface="Times New Roman"/>
              </a:defRPr>
            </a:pPr>
            <a:r>
              <a:t>tag_name VARCHAR(255)</a:t>
            </a:r>
          </a:p>
        </p:txBody>
      </p:sp>
      <p:sp>
        <p:nvSpPr>
          <p:cNvPr id="104" name="Oval 103"/>
          <p:cNvSpPr/>
          <p:nvPr/>
        </p:nvSpPr>
        <p:spPr>
          <a:xfrm>
            <a:off x="8339327" y="6149340"/>
            <a:ext cx="68580" cy="68580"/>
          </a:xfrm>
          <a:prstGeom prst="ellipse">
            <a:avLst/>
          </a:prstGeom>
          <a:solidFill>
            <a:srgbClr val="7EAB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TextBox 104"/>
          <p:cNvSpPr txBox="1"/>
          <p:nvPr/>
        </p:nvSpPr>
        <p:spPr>
          <a:xfrm>
            <a:off x="8476488" y="6067044"/>
            <a:ext cx="2020824" cy="265176"/>
          </a:xfrm>
          <a:prstGeom prst="rect">
            <a:avLst/>
          </a:prstGeom>
          <a:noFill/>
        </p:spPr>
        <p:txBody>
          <a:bodyPr wrap="none" lIns="0" tIns="0" rIns="0" bIns="0" anchor="ctr">
            <a:spAutoFit/>
          </a:bodyPr>
          <a:lstStyle/>
          <a:p>
            <a:pPr>
              <a:defRPr sz="950">
                <a:solidFill>
                  <a:srgbClr val="24393A"/>
                </a:solidFill>
                <a:latin typeface="Times New Roman"/>
              </a:defRPr>
            </a:pPr>
            <a:r>
              <a:t>created_at TIMESTAMP</a:t>
            </a:r>
          </a:p>
        </p:txBody>
      </p:sp>
      <p:sp>
        <p:nvSpPr>
          <p:cNvPr id="106" name="Oval 105"/>
          <p:cNvSpPr/>
          <p:nvPr/>
        </p:nvSpPr>
        <p:spPr>
          <a:xfrm>
            <a:off x="685800" y="6519672"/>
            <a:ext cx="82296" cy="82296"/>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TextBox 106"/>
          <p:cNvSpPr txBox="1"/>
          <p:nvPr/>
        </p:nvSpPr>
        <p:spPr>
          <a:xfrm>
            <a:off x="813816" y="6464808"/>
            <a:ext cx="1097280" cy="182880"/>
          </a:xfrm>
          <a:prstGeom prst="rect">
            <a:avLst/>
          </a:prstGeom>
          <a:noFill/>
        </p:spPr>
        <p:txBody>
          <a:bodyPr wrap="none">
            <a:spAutoFit/>
          </a:bodyPr>
          <a:lstStyle/>
          <a:p>
            <a:pPr>
              <a:defRPr sz="850">
                <a:solidFill>
                  <a:srgbClr val="7D9796"/>
                </a:solidFill>
                <a:latin typeface="Times New Roman"/>
              </a:defRPr>
            </a:pPr>
            <a:r>
              <a:rPr dirty="0"/>
              <a:t>Primary key</a:t>
            </a:r>
          </a:p>
        </p:txBody>
      </p:sp>
      <p:sp>
        <p:nvSpPr>
          <p:cNvPr id="108" name="Oval 107"/>
          <p:cNvSpPr/>
          <p:nvPr/>
        </p:nvSpPr>
        <p:spPr>
          <a:xfrm>
            <a:off x="3255264" y="6528816"/>
            <a:ext cx="82296" cy="82296"/>
          </a:xfrm>
          <a:prstGeom prst="ellipse">
            <a:avLst/>
          </a:prstGeom>
          <a:solidFill>
            <a:srgbClr val="00B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TextBox 108"/>
          <p:cNvSpPr txBox="1"/>
          <p:nvPr/>
        </p:nvSpPr>
        <p:spPr>
          <a:xfrm>
            <a:off x="3383280" y="6473952"/>
            <a:ext cx="840295" cy="223138"/>
          </a:xfrm>
          <a:prstGeom prst="rect">
            <a:avLst/>
          </a:prstGeom>
          <a:noFill/>
        </p:spPr>
        <p:txBody>
          <a:bodyPr wrap="none">
            <a:spAutoFit/>
          </a:bodyPr>
          <a:lstStyle/>
          <a:p>
            <a:pPr>
              <a:defRPr sz="850">
                <a:solidFill>
                  <a:srgbClr val="7D9796"/>
                </a:solidFill>
                <a:latin typeface="Times New Roman"/>
              </a:defRPr>
            </a:pPr>
            <a:r>
              <a:rPr lang="en-IN" dirty="0" smtClean="0"/>
              <a:t>Composite key</a:t>
            </a:r>
            <a:endParaRPr dirty="0"/>
          </a:p>
        </p:txBody>
      </p:sp>
      <p:sp>
        <p:nvSpPr>
          <p:cNvPr id="110" name="TextBox 109"/>
          <p:cNvSpPr txBox="1"/>
          <p:nvPr/>
        </p:nvSpPr>
        <p:spPr>
          <a:xfrm>
            <a:off x="137160" y="228598"/>
            <a:ext cx="10881360" cy="420628"/>
          </a:xfrm>
          <a:prstGeom prst="rect">
            <a:avLst/>
          </a:prstGeom>
          <a:noFill/>
        </p:spPr>
        <p:txBody>
          <a:bodyPr wrap="square" lIns="38100" tIns="25400" rIns="38100" bIns="25400" anchor="t">
            <a:spAutoFit/>
          </a:bodyPr>
          <a:lstStyle/>
          <a:p>
            <a:pPr algn="l">
              <a:spcBef>
                <a:spcPts val="0"/>
              </a:spcBef>
              <a:spcAft>
                <a:spcPts val="300"/>
              </a:spcAft>
            </a:pPr>
            <a:r>
              <a:rPr lang="en-IN" sz="2400" b="1" i="0" dirty="0" smtClean="0">
                <a:solidFill>
                  <a:srgbClr val="587070"/>
                </a:solidFill>
                <a:latin typeface="Times New Roman"/>
              </a:rPr>
              <a:t>03 | DATABASE SCHEMA </a:t>
            </a:r>
            <a:endParaRPr sz="2400" b="1" i="0" dirty="0">
              <a:solidFill>
                <a:srgbClr val="587070"/>
              </a:solidFill>
              <a:latin typeface="Times New Roman"/>
            </a:endParaRPr>
          </a:p>
        </p:txBody>
      </p:sp>
      <p:sp>
        <p:nvSpPr>
          <p:cNvPr id="111" name="Oval 110"/>
          <p:cNvSpPr/>
          <p:nvPr/>
        </p:nvSpPr>
        <p:spPr>
          <a:xfrm>
            <a:off x="1783080" y="6519672"/>
            <a:ext cx="82296" cy="82296"/>
          </a:xfrm>
          <a:prstGeom prst="ellipse">
            <a:avLst/>
          </a:prstGeom>
          <a:solidFill>
            <a:srgbClr val="FFF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TextBox 111"/>
          <p:cNvSpPr txBox="1"/>
          <p:nvPr/>
        </p:nvSpPr>
        <p:spPr>
          <a:xfrm>
            <a:off x="1911096" y="6464808"/>
            <a:ext cx="736099" cy="223138"/>
          </a:xfrm>
          <a:prstGeom prst="rect">
            <a:avLst/>
          </a:prstGeom>
          <a:noFill/>
        </p:spPr>
        <p:txBody>
          <a:bodyPr wrap="none">
            <a:spAutoFit/>
          </a:bodyPr>
          <a:lstStyle/>
          <a:p>
            <a:pPr>
              <a:defRPr sz="850">
                <a:solidFill>
                  <a:srgbClr val="7D9796"/>
                </a:solidFill>
                <a:latin typeface="Times New Roman"/>
              </a:defRPr>
            </a:pPr>
            <a:r>
              <a:rPr lang="en-IN" dirty="0" smtClean="0"/>
              <a:t>Foreign </a:t>
            </a:r>
            <a:r>
              <a:rPr dirty="0" smtClean="0"/>
              <a:t> </a:t>
            </a:r>
            <a:r>
              <a:rPr dirty="0"/>
              <a:t>key</a:t>
            </a:r>
          </a:p>
        </p:txBody>
      </p:sp>
      <p:sp>
        <p:nvSpPr>
          <p:cNvPr id="113" name="Oval 112"/>
          <p:cNvSpPr/>
          <p:nvPr/>
        </p:nvSpPr>
        <p:spPr>
          <a:xfrm>
            <a:off x="4352544" y="6528816"/>
            <a:ext cx="82296" cy="82296"/>
          </a:xfrm>
          <a:prstGeom prst="ellipse">
            <a:avLst/>
          </a:prstGeom>
          <a:solidFill>
            <a:srgbClr val="7EAB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TextBox 113"/>
          <p:cNvSpPr txBox="1"/>
          <p:nvPr/>
        </p:nvSpPr>
        <p:spPr>
          <a:xfrm>
            <a:off x="4480560" y="6473952"/>
            <a:ext cx="1097280" cy="182880"/>
          </a:xfrm>
          <a:prstGeom prst="rect">
            <a:avLst/>
          </a:prstGeom>
          <a:noFill/>
        </p:spPr>
        <p:txBody>
          <a:bodyPr wrap="none">
            <a:spAutoFit/>
          </a:bodyPr>
          <a:lstStyle/>
          <a:p>
            <a:pPr>
              <a:defRPr sz="850">
                <a:solidFill>
                  <a:srgbClr val="7D9796"/>
                </a:solidFill>
                <a:latin typeface="Times New Roman"/>
              </a:defRPr>
            </a:pPr>
            <a:r>
              <a:rPr dirty="0"/>
              <a:t>Other fields</a:t>
            </a:r>
          </a:p>
        </p:txBody>
      </p:sp>
    </p:spTree>
    <p:extLst>
      <p:ext uri="{BB962C8B-B14F-4D97-AF65-F5344CB8AC3E}">
        <p14:creationId xmlns:p14="http://schemas.microsoft.com/office/powerpoint/2010/main" val="296461191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9F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7EABAA"/>
          </a:solidFill>
          <a:ln>
            <a:solidFill>
              <a:srgbClr val="7EABAA"/>
            </a:solidFill>
          </a:ln>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spcBef>
                <a:spcPts val="0"/>
              </a:spcBef>
              <a:spcAft>
                <a:spcPts val="300"/>
              </a:spcAft>
            </a:pPr>
            <a:endParaRPr/>
          </a:p>
        </p:txBody>
      </p:sp>
      <p:sp>
        <p:nvSpPr>
          <p:cNvPr id="4" name="TextBox 3"/>
          <p:cNvSpPr txBox="1"/>
          <p:nvPr/>
        </p:nvSpPr>
        <p:spPr>
          <a:xfrm>
            <a:off x="564988" y="2256113"/>
            <a:ext cx="10972800" cy="297517"/>
          </a:xfrm>
          <a:prstGeom prst="rect">
            <a:avLst/>
          </a:prstGeom>
          <a:noFill/>
        </p:spPr>
        <p:txBody>
          <a:bodyPr wrap="square" lIns="38100" tIns="25400" rIns="38100" bIns="25400" anchor="t">
            <a:spAutoFit/>
          </a:bodyPr>
          <a:lstStyle/>
          <a:p>
            <a:pPr algn="ctr">
              <a:spcBef>
                <a:spcPts val="0"/>
              </a:spcBef>
              <a:spcAft>
                <a:spcPts val="300"/>
              </a:spcAft>
            </a:pPr>
            <a:r>
              <a:rPr sz="1600" b="1" i="0" dirty="0" smtClean="0">
                <a:solidFill>
                  <a:srgbClr val="193132"/>
                </a:solidFill>
                <a:latin typeface="Times New Roman"/>
              </a:rPr>
              <a:t>SQL </a:t>
            </a:r>
            <a:r>
              <a:rPr sz="1600" b="1" i="0" dirty="0">
                <a:solidFill>
                  <a:srgbClr val="193132"/>
                </a:solidFill>
                <a:latin typeface="Times New Roman"/>
              </a:rPr>
              <a:t>workflow</a:t>
            </a:r>
          </a:p>
        </p:txBody>
      </p:sp>
      <p:sp>
        <p:nvSpPr>
          <p:cNvPr id="8" name="Rounded Rectangle 7"/>
          <p:cNvSpPr/>
          <p:nvPr/>
        </p:nvSpPr>
        <p:spPr>
          <a:xfrm>
            <a:off x="530352" y="2679192"/>
            <a:ext cx="2057400" cy="2057400"/>
          </a:xfrm>
          <a:prstGeom prst="roundRect">
            <a:avLst/>
          </a:prstGeom>
          <a:solidFill>
            <a:srgbClr val="FFFFFF"/>
          </a:solidFill>
          <a:ln>
            <a:solidFill>
              <a:srgbClr val="DCE7E4"/>
            </a:solidFill>
          </a:ln>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spcBef>
                <a:spcPts val="0"/>
              </a:spcBef>
              <a:spcAft>
                <a:spcPts val="300"/>
              </a:spcAft>
            </a:pPr>
            <a:endParaRPr/>
          </a:p>
        </p:txBody>
      </p:sp>
      <p:sp>
        <p:nvSpPr>
          <p:cNvPr id="9" name="TextBox 8"/>
          <p:cNvSpPr txBox="1"/>
          <p:nvPr/>
        </p:nvSpPr>
        <p:spPr>
          <a:xfrm>
            <a:off x="694944" y="2889504"/>
            <a:ext cx="548640" cy="320040"/>
          </a:xfrm>
          <a:prstGeom prst="rect">
            <a:avLst/>
          </a:prstGeom>
          <a:noFill/>
        </p:spPr>
        <p:txBody>
          <a:bodyPr wrap="square" lIns="38100" tIns="25400" rIns="38100" bIns="25400" anchor="t">
            <a:spAutoFit/>
          </a:bodyPr>
          <a:lstStyle/>
          <a:p>
            <a:pPr algn="l">
              <a:spcBef>
                <a:spcPts val="0"/>
              </a:spcBef>
              <a:spcAft>
                <a:spcPts val="300"/>
              </a:spcAft>
            </a:pPr>
            <a:r>
              <a:rPr sz="1000" b="1" i="0">
                <a:solidFill>
                  <a:srgbClr val="587070"/>
                </a:solidFill>
                <a:latin typeface="Times New Roman"/>
              </a:rPr>
              <a:t>01</a:t>
            </a:r>
          </a:p>
        </p:txBody>
      </p:sp>
      <p:sp>
        <p:nvSpPr>
          <p:cNvPr id="10" name="TextBox 9"/>
          <p:cNvSpPr txBox="1"/>
          <p:nvPr/>
        </p:nvSpPr>
        <p:spPr>
          <a:xfrm>
            <a:off x="694944" y="3392424"/>
            <a:ext cx="1737360" cy="235962"/>
          </a:xfrm>
          <a:prstGeom prst="rect">
            <a:avLst/>
          </a:prstGeom>
          <a:noFill/>
        </p:spPr>
        <p:txBody>
          <a:bodyPr wrap="square" lIns="38100" tIns="25400" rIns="38100" bIns="25400" anchor="t">
            <a:spAutoFit/>
          </a:bodyPr>
          <a:lstStyle/>
          <a:p>
            <a:pPr algn="l">
              <a:spcBef>
                <a:spcPts val="0"/>
              </a:spcBef>
              <a:spcAft>
                <a:spcPts val="300"/>
              </a:spcAft>
            </a:pPr>
            <a:r>
              <a:rPr sz="1200" b="1" i="0" dirty="0">
                <a:solidFill>
                  <a:srgbClr val="587070"/>
                </a:solidFill>
                <a:latin typeface="Times New Roman"/>
              </a:rPr>
              <a:t>VALIDATE</a:t>
            </a:r>
            <a:endParaRPr sz="1100" b="1" i="0" dirty="0">
              <a:solidFill>
                <a:srgbClr val="587070"/>
              </a:solidFill>
              <a:latin typeface="Times New Roman"/>
            </a:endParaRPr>
          </a:p>
        </p:txBody>
      </p:sp>
      <p:sp>
        <p:nvSpPr>
          <p:cNvPr id="11" name="TextBox 10"/>
          <p:cNvSpPr txBox="1"/>
          <p:nvPr/>
        </p:nvSpPr>
        <p:spPr>
          <a:xfrm>
            <a:off x="694944" y="3776472"/>
            <a:ext cx="1737360" cy="420628"/>
          </a:xfrm>
          <a:prstGeom prst="rect">
            <a:avLst/>
          </a:prstGeom>
          <a:noFill/>
        </p:spPr>
        <p:txBody>
          <a:bodyPr wrap="square" lIns="38100" tIns="25400" rIns="38100" bIns="25400" anchor="t">
            <a:spAutoFit/>
          </a:bodyPr>
          <a:lstStyle/>
          <a:p>
            <a:pPr algn="l">
              <a:spcBef>
                <a:spcPts val="0"/>
              </a:spcBef>
              <a:spcAft>
                <a:spcPts val="300"/>
              </a:spcAft>
            </a:pPr>
            <a:r>
              <a:rPr sz="1200" b="0" i="0" dirty="0">
                <a:solidFill>
                  <a:srgbClr val="24393A"/>
                </a:solidFill>
                <a:latin typeface="Times New Roman"/>
              </a:rPr>
              <a:t>Null checks and </a:t>
            </a:r>
            <a:r>
              <a:rPr sz="1200" b="0" i="0" dirty="0" smtClean="0">
                <a:solidFill>
                  <a:srgbClr val="24393A"/>
                </a:solidFill>
                <a:latin typeface="Times New Roman"/>
              </a:rPr>
              <a:t>duplicate</a:t>
            </a:r>
            <a:r>
              <a:rPr lang="en-IN" sz="1200" b="0" i="0" dirty="0" smtClean="0">
                <a:solidFill>
                  <a:srgbClr val="24393A"/>
                </a:solidFill>
                <a:latin typeface="Times New Roman"/>
              </a:rPr>
              <a:t> </a:t>
            </a:r>
            <a:r>
              <a:rPr sz="1200" b="0" i="0" dirty="0" smtClean="0">
                <a:solidFill>
                  <a:srgbClr val="24393A"/>
                </a:solidFill>
                <a:latin typeface="Times New Roman"/>
              </a:rPr>
              <a:t>checks</a:t>
            </a:r>
            <a:endParaRPr sz="1200" b="0" i="0" dirty="0">
              <a:solidFill>
                <a:srgbClr val="24393A"/>
              </a:solidFill>
              <a:latin typeface="Times New Roman"/>
            </a:endParaRPr>
          </a:p>
        </p:txBody>
      </p:sp>
      <p:sp>
        <p:nvSpPr>
          <p:cNvPr id="12" name="TextBox 11"/>
          <p:cNvSpPr txBox="1"/>
          <p:nvPr/>
        </p:nvSpPr>
        <p:spPr>
          <a:xfrm>
            <a:off x="2587752" y="3364992"/>
            <a:ext cx="228600" cy="365760"/>
          </a:xfrm>
          <a:prstGeom prst="rect">
            <a:avLst/>
          </a:prstGeom>
          <a:noFill/>
        </p:spPr>
        <p:txBody>
          <a:bodyPr wrap="square" lIns="38100" tIns="25400" rIns="38100" bIns="25400" anchor="t">
            <a:spAutoFit/>
          </a:bodyPr>
          <a:lstStyle/>
          <a:p>
            <a:pPr algn="l">
              <a:spcBef>
                <a:spcPts val="0"/>
              </a:spcBef>
              <a:spcAft>
                <a:spcPts val="300"/>
              </a:spcAft>
            </a:pPr>
            <a:r>
              <a:rPr sz="1400" b="1" i="0">
                <a:solidFill>
                  <a:srgbClr val="24393A"/>
                </a:solidFill>
                <a:latin typeface="Times New Roman"/>
              </a:rPr>
              <a:t>→</a:t>
            </a:r>
          </a:p>
        </p:txBody>
      </p:sp>
      <p:sp>
        <p:nvSpPr>
          <p:cNvPr id="13" name="Rounded Rectangle 12"/>
          <p:cNvSpPr/>
          <p:nvPr/>
        </p:nvSpPr>
        <p:spPr>
          <a:xfrm>
            <a:off x="2834640" y="2679192"/>
            <a:ext cx="2057400" cy="2057400"/>
          </a:xfrm>
          <a:prstGeom prst="roundRect">
            <a:avLst/>
          </a:prstGeom>
          <a:solidFill>
            <a:srgbClr val="FFFFFF"/>
          </a:solidFill>
          <a:ln>
            <a:solidFill>
              <a:srgbClr val="DCE7E4"/>
            </a:solidFill>
          </a:ln>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spcBef>
                <a:spcPts val="0"/>
              </a:spcBef>
              <a:spcAft>
                <a:spcPts val="300"/>
              </a:spcAft>
            </a:pPr>
            <a:endParaRPr/>
          </a:p>
        </p:txBody>
      </p:sp>
      <p:sp>
        <p:nvSpPr>
          <p:cNvPr id="14" name="TextBox 13"/>
          <p:cNvSpPr txBox="1"/>
          <p:nvPr/>
        </p:nvSpPr>
        <p:spPr>
          <a:xfrm>
            <a:off x="2999232" y="2889504"/>
            <a:ext cx="548640" cy="320040"/>
          </a:xfrm>
          <a:prstGeom prst="rect">
            <a:avLst/>
          </a:prstGeom>
          <a:noFill/>
        </p:spPr>
        <p:txBody>
          <a:bodyPr wrap="square" lIns="38100" tIns="25400" rIns="38100" bIns="25400" anchor="t">
            <a:spAutoFit/>
          </a:bodyPr>
          <a:lstStyle/>
          <a:p>
            <a:pPr algn="l">
              <a:spcBef>
                <a:spcPts val="0"/>
              </a:spcBef>
              <a:spcAft>
                <a:spcPts val="300"/>
              </a:spcAft>
            </a:pPr>
            <a:r>
              <a:rPr sz="1000" b="1" i="0">
                <a:solidFill>
                  <a:srgbClr val="587070"/>
                </a:solidFill>
                <a:latin typeface="Times New Roman"/>
              </a:rPr>
              <a:t>02</a:t>
            </a:r>
          </a:p>
        </p:txBody>
      </p:sp>
      <p:sp>
        <p:nvSpPr>
          <p:cNvPr id="15" name="TextBox 14"/>
          <p:cNvSpPr txBox="1"/>
          <p:nvPr/>
        </p:nvSpPr>
        <p:spPr>
          <a:xfrm>
            <a:off x="2999232" y="3392424"/>
            <a:ext cx="1737360" cy="235962"/>
          </a:xfrm>
          <a:prstGeom prst="rect">
            <a:avLst/>
          </a:prstGeom>
          <a:noFill/>
        </p:spPr>
        <p:txBody>
          <a:bodyPr wrap="square" lIns="38100" tIns="25400" rIns="38100" bIns="25400" anchor="t">
            <a:spAutoFit/>
          </a:bodyPr>
          <a:lstStyle/>
          <a:p>
            <a:pPr algn="l">
              <a:spcBef>
                <a:spcPts val="0"/>
              </a:spcBef>
              <a:spcAft>
                <a:spcPts val="300"/>
              </a:spcAft>
            </a:pPr>
            <a:r>
              <a:rPr sz="1200" b="1" i="0" dirty="0">
                <a:solidFill>
                  <a:srgbClr val="587070"/>
                </a:solidFill>
                <a:latin typeface="Times New Roman"/>
              </a:rPr>
              <a:t>AGGREGATE</a:t>
            </a:r>
            <a:endParaRPr sz="1100" b="1" i="0" dirty="0">
              <a:solidFill>
                <a:srgbClr val="587070"/>
              </a:solidFill>
              <a:latin typeface="Times New Roman"/>
            </a:endParaRPr>
          </a:p>
        </p:txBody>
      </p:sp>
      <p:sp>
        <p:nvSpPr>
          <p:cNvPr id="16" name="TextBox 15"/>
          <p:cNvSpPr txBox="1"/>
          <p:nvPr/>
        </p:nvSpPr>
        <p:spPr>
          <a:xfrm>
            <a:off x="2999232" y="3776472"/>
            <a:ext cx="1737360" cy="405239"/>
          </a:xfrm>
          <a:prstGeom prst="rect">
            <a:avLst/>
          </a:prstGeom>
          <a:noFill/>
        </p:spPr>
        <p:txBody>
          <a:bodyPr wrap="square" lIns="38100" tIns="25400" rIns="38100" bIns="25400" anchor="t">
            <a:spAutoFit/>
          </a:bodyPr>
          <a:lstStyle/>
          <a:p>
            <a:pPr algn="l">
              <a:spcBef>
                <a:spcPts val="0"/>
              </a:spcBef>
              <a:spcAft>
                <a:spcPts val="300"/>
              </a:spcAft>
            </a:pPr>
            <a:r>
              <a:rPr sz="1100" b="0" i="0" dirty="0">
                <a:solidFill>
                  <a:srgbClr val="24393A"/>
                </a:solidFill>
                <a:latin typeface="Times New Roman"/>
              </a:rPr>
              <a:t>Counts </a:t>
            </a:r>
            <a:r>
              <a:rPr sz="1200" b="0" i="0" dirty="0">
                <a:solidFill>
                  <a:srgbClr val="24393A"/>
                </a:solidFill>
                <a:latin typeface="Times New Roman"/>
              </a:rPr>
              <a:t>by</a:t>
            </a:r>
            <a:r>
              <a:rPr sz="1100" b="0" i="0" dirty="0">
                <a:solidFill>
                  <a:srgbClr val="24393A"/>
                </a:solidFill>
                <a:latin typeface="Times New Roman"/>
              </a:rPr>
              <a:t> user, photo, and tag</a:t>
            </a:r>
          </a:p>
        </p:txBody>
      </p:sp>
      <p:sp>
        <p:nvSpPr>
          <p:cNvPr id="17" name="TextBox 16"/>
          <p:cNvSpPr txBox="1"/>
          <p:nvPr/>
        </p:nvSpPr>
        <p:spPr>
          <a:xfrm>
            <a:off x="4892040" y="3364992"/>
            <a:ext cx="228600" cy="365760"/>
          </a:xfrm>
          <a:prstGeom prst="rect">
            <a:avLst/>
          </a:prstGeom>
          <a:noFill/>
        </p:spPr>
        <p:txBody>
          <a:bodyPr wrap="square" lIns="38100" tIns="25400" rIns="38100" bIns="25400" anchor="t">
            <a:spAutoFit/>
          </a:bodyPr>
          <a:lstStyle/>
          <a:p>
            <a:pPr algn="l">
              <a:spcBef>
                <a:spcPts val="0"/>
              </a:spcBef>
              <a:spcAft>
                <a:spcPts val="300"/>
              </a:spcAft>
            </a:pPr>
            <a:r>
              <a:rPr sz="1400" b="1" i="0">
                <a:solidFill>
                  <a:srgbClr val="24393A"/>
                </a:solidFill>
                <a:latin typeface="Times New Roman"/>
              </a:rPr>
              <a:t>→</a:t>
            </a:r>
          </a:p>
        </p:txBody>
      </p:sp>
      <p:sp>
        <p:nvSpPr>
          <p:cNvPr id="18" name="Rounded Rectangle 17"/>
          <p:cNvSpPr/>
          <p:nvPr/>
        </p:nvSpPr>
        <p:spPr>
          <a:xfrm>
            <a:off x="5138928" y="2679192"/>
            <a:ext cx="2057400" cy="2057400"/>
          </a:xfrm>
          <a:prstGeom prst="roundRect">
            <a:avLst/>
          </a:prstGeom>
          <a:solidFill>
            <a:srgbClr val="FFFFFF"/>
          </a:solidFill>
          <a:ln>
            <a:solidFill>
              <a:srgbClr val="DCE7E4"/>
            </a:solidFill>
          </a:ln>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spcBef>
                <a:spcPts val="0"/>
              </a:spcBef>
              <a:spcAft>
                <a:spcPts val="300"/>
              </a:spcAft>
            </a:pPr>
            <a:endParaRPr/>
          </a:p>
        </p:txBody>
      </p:sp>
      <p:sp>
        <p:nvSpPr>
          <p:cNvPr id="19" name="TextBox 18"/>
          <p:cNvSpPr txBox="1"/>
          <p:nvPr/>
        </p:nvSpPr>
        <p:spPr>
          <a:xfrm>
            <a:off x="5303520" y="2889504"/>
            <a:ext cx="548640" cy="320040"/>
          </a:xfrm>
          <a:prstGeom prst="rect">
            <a:avLst/>
          </a:prstGeom>
          <a:noFill/>
        </p:spPr>
        <p:txBody>
          <a:bodyPr wrap="square" lIns="38100" tIns="25400" rIns="38100" bIns="25400" anchor="t">
            <a:spAutoFit/>
          </a:bodyPr>
          <a:lstStyle/>
          <a:p>
            <a:pPr algn="l">
              <a:spcBef>
                <a:spcPts val="0"/>
              </a:spcBef>
              <a:spcAft>
                <a:spcPts val="300"/>
              </a:spcAft>
            </a:pPr>
            <a:r>
              <a:rPr sz="1000" b="1" i="0">
                <a:solidFill>
                  <a:srgbClr val="587070"/>
                </a:solidFill>
                <a:latin typeface="Times New Roman"/>
              </a:rPr>
              <a:t>03</a:t>
            </a:r>
          </a:p>
        </p:txBody>
      </p:sp>
      <p:sp>
        <p:nvSpPr>
          <p:cNvPr id="20" name="TextBox 19"/>
          <p:cNvSpPr txBox="1"/>
          <p:nvPr/>
        </p:nvSpPr>
        <p:spPr>
          <a:xfrm>
            <a:off x="5303520" y="3392424"/>
            <a:ext cx="1737360" cy="235962"/>
          </a:xfrm>
          <a:prstGeom prst="rect">
            <a:avLst/>
          </a:prstGeom>
          <a:noFill/>
        </p:spPr>
        <p:txBody>
          <a:bodyPr wrap="square" lIns="38100" tIns="25400" rIns="38100" bIns="25400" anchor="t">
            <a:spAutoFit/>
          </a:bodyPr>
          <a:lstStyle/>
          <a:p>
            <a:pPr algn="l">
              <a:spcBef>
                <a:spcPts val="0"/>
              </a:spcBef>
              <a:spcAft>
                <a:spcPts val="300"/>
              </a:spcAft>
            </a:pPr>
            <a:r>
              <a:rPr sz="1200" b="1" i="0" dirty="0">
                <a:solidFill>
                  <a:srgbClr val="587070"/>
                </a:solidFill>
                <a:latin typeface="Times New Roman"/>
              </a:rPr>
              <a:t>COMPARE</a:t>
            </a:r>
            <a:endParaRPr sz="1100" b="1" i="0" dirty="0">
              <a:solidFill>
                <a:srgbClr val="587070"/>
              </a:solidFill>
              <a:latin typeface="Times New Roman"/>
            </a:endParaRPr>
          </a:p>
        </p:txBody>
      </p:sp>
      <p:sp>
        <p:nvSpPr>
          <p:cNvPr id="21" name="TextBox 20"/>
          <p:cNvSpPr txBox="1"/>
          <p:nvPr/>
        </p:nvSpPr>
        <p:spPr>
          <a:xfrm>
            <a:off x="5303520" y="3776472"/>
            <a:ext cx="1737360" cy="420628"/>
          </a:xfrm>
          <a:prstGeom prst="rect">
            <a:avLst/>
          </a:prstGeom>
          <a:noFill/>
        </p:spPr>
        <p:txBody>
          <a:bodyPr wrap="square" lIns="38100" tIns="25400" rIns="38100" bIns="25400" anchor="t">
            <a:spAutoFit/>
          </a:bodyPr>
          <a:lstStyle/>
          <a:p>
            <a:pPr algn="l">
              <a:spcBef>
                <a:spcPts val="0"/>
              </a:spcBef>
              <a:spcAft>
                <a:spcPts val="300"/>
              </a:spcAft>
            </a:pPr>
            <a:r>
              <a:rPr sz="1200" b="0" i="0">
                <a:solidFill>
                  <a:srgbClr val="24393A"/>
                </a:solidFill>
                <a:latin typeface="Times New Roman"/>
              </a:rPr>
              <a:t>Totals vs. per-post averages</a:t>
            </a:r>
          </a:p>
        </p:txBody>
      </p:sp>
      <p:sp>
        <p:nvSpPr>
          <p:cNvPr id="22" name="TextBox 21"/>
          <p:cNvSpPr txBox="1"/>
          <p:nvPr/>
        </p:nvSpPr>
        <p:spPr>
          <a:xfrm>
            <a:off x="7196327" y="3364992"/>
            <a:ext cx="228600" cy="365760"/>
          </a:xfrm>
          <a:prstGeom prst="rect">
            <a:avLst/>
          </a:prstGeom>
          <a:noFill/>
        </p:spPr>
        <p:txBody>
          <a:bodyPr wrap="square" lIns="38100" tIns="25400" rIns="38100" bIns="25400" anchor="t">
            <a:spAutoFit/>
          </a:bodyPr>
          <a:lstStyle/>
          <a:p>
            <a:pPr algn="l">
              <a:spcBef>
                <a:spcPts val="0"/>
              </a:spcBef>
              <a:spcAft>
                <a:spcPts val="300"/>
              </a:spcAft>
            </a:pPr>
            <a:r>
              <a:rPr sz="1400" b="1" i="0">
                <a:solidFill>
                  <a:srgbClr val="24393A"/>
                </a:solidFill>
                <a:latin typeface="Times New Roman"/>
              </a:rPr>
              <a:t>→</a:t>
            </a:r>
          </a:p>
        </p:txBody>
      </p:sp>
      <p:sp>
        <p:nvSpPr>
          <p:cNvPr id="23" name="Rounded Rectangle 22"/>
          <p:cNvSpPr/>
          <p:nvPr/>
        </p:nvSpPr>
        <p:spPr>
          <a:xfrm>
            <a:off x="7443216" y="2679192"/>
            <a:ext cx="2057400" cy="2057400"/>
          </a:xfrm>
          <a:prstGeom prst="roundRect">
            <a:avLst/>
          </a:prstGeom>
          <a:solidFill>
            <a:srgbClr val="FFFFFF"/>
          </a:solidFill>
          <a:ln>
            <a:solidFill>
              <a:srgbClr val="DCE7E4"/>
            </a:solidFill>
          </a:ln>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spcBef>
                <a:spcPts val="0"/>
              </a:spcBef>
              <a:spcAft>
                <a:spcPts val="300"/>
              </a:spcAft>
            </a:pPr>
            <a:endParaRPr/>
          </a:p>
        </p:txBody>
      </p:sp>
      <p:sp>
        <p:nvSpPr>
          <p:cNvPr id="24" name="TextBox 23"/>
          <p:cNvSpPr txBox="1"/>
          <p:nvPr/>
        </p:nvSpPr>
        <p:spPr>
          <a:xfrm>
            <a:off x="7607808" y="2889504"/>
            <a:ext cx="548640" cy="320040"/>
          </a:xfrm>
          <a:prstGeom prst="rect">
            <a:avLst/>
          </a:prstGeom>
          <a:noFill/>
        </p:spPr>
        <p:txBody>
          <a:bodyPr wrap="square" lIns="38100" tIns="25400" rIns="38100" bIns="25400" anchor="t">
            <a:spAutoFit/>
          </a:bodyPr>
          <a:lstStyle/>
          <a:p>
            <a:pPr algn="l">
              <a:spcBef>
                <a:spcPts val="0"/>
              </a:spcBef>
              <a:spcAft>
                <a:spcPts val="300"/>
              </a:spcAft>
            </a:pPr>
            <a:r>
              <a:rPr sz="1000" b="1" i="0">
                <a:solidFill>
                  <a:srgbClr val="587070"/>
                </a:solidFill>
                <a:latin typeface="Times New Roman"/>
              </a:rPr>
              <a:t>04</a:t>
            </a:r>
          </a:p>
        </p:txBody>
      </p:sp>
      <p:sp>
        <p:nvSpPr>
          <p:cNvPr id="25" name="TextBox 24"/>
          <p:cNvSpPr txBox="1"/>
          <p:nvPr/>
        </p:nvSpPr>
        <p:spPr>
          <a:xfrm>
            <a:off x="7607808" y="3392424"/>
            <a:ext cx="1737360" cy="235962"/>
          </a:xfrm>
          <a:prstGeom prst="rect">
            <a:avLst/>
          </a:prstGeom>
          <a:noFill/>
        </p:spPr>
        <p:txBody>
          <a:bodyPr wrap="square" lIns="38100" tIns="25400" rIns="38100" bIns="25400" anchor="t">
            <a:spAutoFit/>
          </a:bodyPr>
          <a:lstStyle/>
          <a:p>
            <a:pPr algn="l">
              <a:spcBef>
                <a:spcPts val="0"/>
              </a:spcBef>
              <a:spcAft>
                <a:spcPts val="300"/>
              </a:spcAft>
            </a:pPr>
            <a:r>
              <a:rPr sz="1200" b="1" i="0" dirty="0">
                <a:solidFill>
                  <a:srgbClr val="587070"/>
                </a:solidFill>
                <a:latin typeface="Times New Roman"/>
              </a:rPr>
              <a:t>SEGMENT</a:t>
            </a:r>
            <a:endParaRPr sz="1100" b="1" i="0" dirty="0">
              <a:solidFill>
                <a:srgbClr val="587070"/>
              </a:solidFill>
              <a:latin typeface="Times New Roman"/>
            </a:endParaRPr>
          </a:p>
        </p:txBody>
      </p:sp>
      <p:sp>
        <p:nvSpPr>
          <p:cNvPr id="26" name="TextBox 25"/>
          <p:cNvSpPr txBox="1"/>
          <p:nvPr/>
        </p:nvSpPr>
        <p:spPr>
          <a:xfrm>
            <a:off x="7607808" y="3776472"/>
            <a:ext cx="1737360" cy="405239"/>
          </a:xfrm>
          <a:prstGeom prst="rect">
            <a:avLst/>
          </a:prstGeom>
          <a:noFill/>
        </p:spPr>
        <p:txBody>
          <a:bodyPr wrap="square" lIns="38100" tIns="25400" rIns="38100" bIns="25400" anchor="t">
            <a:spAutoFit/>
          </a:bodyPr>
          <a:lstStyle/>
          <a:p>
            <a:pPr algn="l">
              <a:spcBef>
                <a:spcPts val="0"/>
              </a:spcBef>
              <a:spcAft>
                <a:spcPts val="300"/>
              </a:spcAft>
            </a:pPr>
            <a:r>
              <a:rPr sz="1200" b="0" i="0" dirty="0" err="1">
                <a:solidFill>
                  <a:srgbClr val="24393A"/>
                </a:solidFill>
                <a:latin typeface="Times New Roman"/>
              </a:rPr>
              <a:t>Behaviour</a:t>
            </a:r>
            <a:r>
              <a:rPr sz="1200" b="0" i="0" dirty="0">
                <a:solidFill>
                  <a:srgbClr val="24393A"/>
                </a:solidFill>
                <a:latin typeface="Times New Roman"/>
              </a:rPr>
              <a:t>-based</a:t>
            </a:r>
            <a:r>
              <a:rPr sz="1100" b="0" i="0" dirty="0">
                <a:solidFill>
                  <a:srgbClr val="24393A"/>
                </a:solidFill>
                <a:latin typeface="Times New Roman"/>
              </a:rPr>
              <a:t> user groups</a:t>
            </a:r>
          </a:p>
        </p:txBody>
      </p:sp>
      <p:sp>
        <p:nvSpPr>
          <p:cNvPr id="27" name="TextBox 26"/>
          <p:cNvSpPr txBox="1"/>
          <p:nvPr/>
        </p:nvSpPr>
        <p:spPr>
          <a:xfrm>
            <a:off x="9500616" y="3364992"/>
            <a:ext cx="228600" cy="365760"/>
          </a:xfrm>
          <a:prstGeom prst="rect">
            <a:avLst/>
          </a:prstGeom>
          <a:noFill/>
        </p:spPr>
        <p:txBody>
          <a:bodyPr wrap="square" lIns="38100" tIns="25400" rIns="38100" bIns="25400" anchor="t">
            <a:spAutoFit/>
          </a:bodyPr>
          <a:lstStyle/>
          <a:p>
            <a:pPr algn="l">
              <a:spcBef>
                <a:spcPts val="0"/>
              </a:spcBef>
              <a:spcAft>
                <a:spcPts val="300"/>
              </a:spcAft>
            </a:pPr>
            <a:r>
              <a:rPr sz="1400" b="1" i="0">
                <a:solidFill>
                  <a:srgbClr val="24393A"/>
                </a:solidFill>
                <a:latin typeface="Times New Roman"/>
              </a:rPr>
              <a:t>→</a:t>
            </a:r>
          </a:p>
        </p:txBody>
      </p:sp>
      <p:sp>
        <p:nvSpPr>
          <p:cNvPr id="28" name="Rounded Rectangle 27"/>
          <p:cNvSpPr/>
          <p:nvPr/>
        </p:nvSpPr>
        <p:spPr>
          <a:xfrm>
            <a:off x="9747504" y="2679192"/>
            <a:ext cx="2057400" cy="2057400"/>
          </a:xfrm>
          <a:prstGeom prst="roundRect">
            <a:avLst/>
          </a:prstGeom>
          <a:solidFill>
            <a:srgbClr val="FFFFFF"/>
          </a:solidFill>
          <a:ln>
            <a:solidFill>
              <a:srgbClr val="DCE7E4"/>
            </a:solidFill>
          </a:ln>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spcBef>
                <a:spcPts val="0"/>
              </a:spcBef>
              <a:spcAft>
                <a:spcPts val="300"/>
              </a:spcAft>
            </a:pPr>
            <a:endParaRPr/>
          </a:p>
        </p:txBody>
      </p:sp>
      <p:sp>
        <p:nvSpPr>
          <p:cNvPr id="29" name="TextBox 28"/>
          <p:cNvSpPr txBox="1"/>
          <p:nvPr/>
        </p:nvSpPr>
        <p:spPr>
          <a:xfrm>
            <a:off x="9912096" y="2889504"/>
            <a:ext cx="548640" cy="320040"/>
          </a:xfrm>
          <a:prstGeom prst="rect">
            <a:avLst/>
          </a:prstGeom>
          <a:noFill/>
        </p:spPr>
        <p:txBody>
          <a:bodyPr wrap="square" lIns="38100" tIns="25400" rIns="38100" bIns="25400" anchor="t">
            <a:spAutoFit/>
          </a:bodyPr>
          <a:lstStyle/>
          <a:p>
            <a:pPr algn="l">
              <a:spcBef>
                <a:spcPts val="0"/>
              </a:spcBef>
              <a:spcAft>
                <a:spcPts val="300"/>
              </a:spcAft>
            </a:pPr>
            <a:r>
              <a:rPr sz="1000" b="1" i="0">
                <a:solidFill>
                  <a:srgbClr val="587070"/>
                </a:solidFill>
                <a:latin typeface="Times New Roman"/>
              </a:rPr>
              <a:t>05</a:t>
            </a:r>
          </a:p>
        </p:txBody>
      </p:sp>
      <p:sp>
        <p:nvSpPr>
          <p:cNvPr id="30" name="TextBox 29"/>
          <p:cNvSpPr txBox="1"/>
          <p:nvPr/>
        </p:nvSpPr>
        <p:spPr>
          <a:xfrm>
            <a:off x="9912096" y="3392424"/>
            <a:ext cx="1737360" cy="235962"/>
          </a:xfrm>
          <a:prstGeom prst="rect">
            <a:avLst/>
          </a:prstGeom>
          <a:noFill/>
        </p:spPr>
        <p:txBody>
          <a:bodyPr wrap="square" lIns="38100" tIns="25400" rIns="38100" bIns="25400" anchor="t">
            <a:spAutoFit/>
          </a:bodyPr>
          <a:lstStyle/>
          <a:p>
            <a:pPr algn="l">
              <a:spcBef>
                <a:spcPts val="0"/>
              </a:spcBef>
              <a:spcAft>
                <a:spcPts val="300"/>
              </a:spcAft>
            </a:pPr>
            <a:r>
              <a:rPr sz="1200" b="1" i="0" dirty="0">
                <a:solidFill>
                  <a:srgbClr val="587070"/>
                </a:solidFill>
                <a:latin typeface="Times New Roman"/>
              </a:rPr>
              <a:t>TRANSLATE</a:t>
            </a:r>
            <a:endParaRPr sz="1100" b="1" i="0" dirty="0">
              <a:solidFill>
                <a:srgbClr val="587070"/>
              </a:solidFill>
              <a:latin typeface="Times New Roman"/>
            </a:endParaRPr>
          </a:p>
        </p:txBody>
      </p:sp>
      <p:sp>
        <p:nvSpPr>
          <p:cNvPr id="31" name="TextBox 30"/>
          <p:cNvSpPr txBox="1"/>
          <p:nvPr/>
        </p:nvSpPr>
        <p:spPr>
          <a:xfrm>
            <a:off x="9912096" y="3776472"/>
            <a:ext cx="1737360" cy="405239"/>
          </a:xfrm>
          <a:prstGeom prst="rect">
            <a:avLst/>
          </a:prstGeom>
          <a:noFill/>
        </p:spPr>
        <p:txBody>
          <a:bodyPr wrap="square" lIns="38100" tIns="25400" rIns="38100" bIns="25400" anchor="t">
            <a:spAutoFit/>
          </a:bodyPr>
          <a:lstStyle/>
          <a:p>
            <a:pPr algn="l">
              <a:spcBef>
                <a:spcPts val="0"/>
              </a:spcBef>
              <a:spcAft>
                <a:spcPts val="300"/>
              </a:spcAft>
            </a:pPr>
            <a:r>
              <a:rPr sz="1100" b="0" i="0" dirty="0">
                <a:solidFill>
                  <a:srgbClr val="24393A"/>
                </a:solidFill>
                <a:latin typeface="Times New Roman"/>
              </a:rPr>
              <a:t>Turn findings into </a:t>
            </a:r>
            <a:r>
              <a:rPr sz="1200" b="0" i="0" dirty="0">
                <a:solidFill>
                  <a:srgbClr val="24393A"/>
                </a:solidFill>
                <a:latin typeface="Times New Roman"/>
              </a:rPr>
              <a:t>measurable</a:t>
            </a:r>
            <a:r>
              <a:rPr sz="1100" b="0" i="0" dirty="0">
                <a:solidFill>
                  <a:srgbClr val="24393A"/>
                </a:solidFill>
                <a:latin typeface="Times New Roman"/>
              </a:rPr>
              <a:t> experiments</a:t>
            </a:r>
          </a:p>
        </p:txBody>
      </p:sp>
      <p:sp>
        <p:nvSpPr>
          <p:cNvPr id="35" name="TextBox 34"/>
          <p:cNvSpPr txBox="1"/>
          <p:nvPr/>
        </p:nvSpPr>
        <p:spPr>
          <a:xfrm>
            <a:off x="137160" y="366863"/>
            <a:ext cx="10881360" cy="420628"/>
          </a:xfrm>
          <a:prstGeom prst="rect">
            <a:avLst/>
          </a:prstGeom>
          <a:noFill/>
        </p:spPr>
        <p:txBody>
          <a:bodyPr wrap="square" lIns="38100" tIns="25400" rIns="38100" bIns="25400" anchor="t">
            <a:spAutoFit/>
          </a:bodyPr>
          <a:lstStyle/>
          <a:p>
            <a:pPr algn="l">
              <a:spcBef>
                <a:spcPts val="0"/>
              </a:spcBef>
              <a:spcAft>
                <a:spcPts val="300"/>
              </a:spcAft>
            </a:pPr>
            <a:r>
              <a:rPr lang="en-IN" sz="2400" b="1" i="0" dirty="0" smtClean="0">
                <a:solidFill>
                  <a:srgbClr val="587070"/>
                </a:solidFill>
                <a:latin typeface="Times New Roman"/>
              </a:rPr>
              <a:t>04 | METHODOLOGY</a:t>
            </a:r>
            <a:endParaRPr sz="2400" b="1" i="0" dirty="0">
              <a:solidFill>
                <a:srgbClr val="587070"/>
              </a:solidFill>
              <a:latin typeface="Times New Roman"/>
            </a:endParaRPr>
          </a:p>
        </p:txBody>
      </p:sp>
      <p:pic>
        <p:nvPicPr>
          <p:cNvPr id="32" name="Picture 2" descr="Instagram logo blue Images - Free Download on Magnific (formerly Freepik)"/>
          <p:cNvPicPr>
            <a:picLocks noChangeAspect="1" noChangeArrowheads="1"/>
          </p:cNvPicPr>
          <p:nvPr/>
        </p:nvPicPr>
        <p:blipFill rotWithShape="1">
          <a:blip r:embed="rId2">
            <a:extLst>
              <a:ext uri="{BEBA8EAE-BF5A-486C-A8C5-ECC9F3942E4B}">
                <a14:imgProps xmlns:a14="http://schemas.microsoft.com/office/drawing/2010/main">
                  <a14:imgLayer r:embed="rId3">
                    <a14:imgEffect>
                      <a14:brightnessContrast bright="20000"/>
                    </a14:imgEffect>
                  </a14:imgLayer>
                </a14:imgProps>
              </a:ext>
              <a:ext uri="{28A0092B-C50C-407E-A947-70E740481C1C}">
                <a14:useLocalDpi xmlns:a14="http://schemas.microsoft.com/office/drawing/2010/main" val="0"/>
              </a:ext>
            </a:extLst>
          </a:blip>
          <a:srcRect l="22466" t="23995" r="23087" b="23130"/>
          <a:stretch/>
        </p:blipFill>
        <p:spPr bwMode="auto">
          <a:xfrm>
            <a:off x="544484" y="5796824"/>
            <a:ext cx="831272" cy="807264"/>
          </a:xfrm>
          <a:prstGeom prst="rect">
            <a:avLst/>
          </a:prstGeom>
          <a:noFill/>
          <a:ln w="34925">
            <a:solidFill>
              <a:srgbClr val="FFFFFF"/>
            </a:solidFill>
          </a:ln>
          <a:effectLst>
            <a:outerShdw blurRad="317500" dir="2700000" algn="ctr">
              <a:srgbClr val="000000">
                <a:alpha val="43000"/>
              </a:srgbClr>
            </a:outerShdw>
          </a:effectLst>
          <a:scene3d>
            <a:camera prst="perspectiveFront" fov="2700000">
              <a:rot lat="19086000" lon="19067999" rev="3108000"/>
            </a:camera>
            <a:lightRig rig="threePt" dir="t">
              <a:rot lat="0" lon="0" rev="0"/>
            </a:lightRig>
          </a:scene3d>
          <a:sp3d extrusionH="38100" prstMaterial="clear">
            <a:bevelT w="260350" h="50800" prst="softRound"/>
            <a:bevelB prst="softRound"/>
          </a:sp3d>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713232" y="1481328"/>
            <a:ext cx="3456432" cy="1078992"/>
          </a:xfrm>
          <a:prstGeom prst="roundRect">
            <a:avLst/>
          </a:prstGeom>
          <a:solidFill>
            <a:srgbClr val="FFFFFF"/>
          </a:solidFill>
          <a:ln w="12700">
            <a:solidFill>
              <a:srgbClr val="DCE7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13232" y="1481328"/>
            <a:ext cx="91440" cy="1078992"/>
          </a:xfrm>
          <a:prstGeom prst="rect">
            <a:avLst/>
          </a:prstGeom>
          <a:solidFill>
            <a:srgbClr val="7EAB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41832" y="1609344"/>
            <a:ext cx="3063240" cy="411480"/>
          </a:xfrm>
          <a:prstGeom prst="rect">
            <a:avLst/>
          </a:prstGeom>
          <a:noFill/>
        </p:spPr>
        <p:txBody>
          <a:bodyPr wrap="square">
            <a:spAutoFit/>
          </a:bodyPr>
          <a:lstStyle/>
          <a:p>
            <a:pPr>
              <a:defRPr sz="1900" b="1">
                <a:solidFill>
                  <a:srgbClr val="395B5E"/>
                </a:solidFill>
                <a:latin typeface="Times New Roman"/>
              </a:defRPr>
            </a:pPr>
            <a:r>
              <a:t>13 USERS</a:t>
            </a:r>
          </a:p>
        </p:txBody>
      </p:sp>
      <p:sp>
        <p:nvSpPr>
          <p:cNvPr id="8" name="TextBox 7"/>
          <p:cNvSpPr txBox="1"/>
          <p:nvPr/>
        </p:nvSpPr>
        <p:spPr>
          <a:xfrm>
            <a:off x="941832" y="2075688"/>
            <a:ext cx="3063240" cy="274320"/>
          </a:xfrm>
          <a:prstGeom prst="rect">
            <a:avLst/>
          </a:prstGeom>
          <a:noFill/>
        </p:spPr>
        <p:txBody>
          <a:bodyPr wrap="square">
            <a:spAutoFit/>
          </a:bodyPr>
          <a:lstStyle/>
          <a:p>
            <a:pPr>
              <a:defRPr sz="1050" b="0">
                <a:solidFill>
                  <a:srgbClr val="657C7C"/>
                </a:solidFill>
                <a:latin typeface="Times New Roman"/>
              </a:defRPr>
            </a:pPr>
            <a:r>
              <a:rPr dirty="0"/>
              <a:t>reacted to every </a:t>
            </a:r>
            <a:r>
              <a:rPr sz="1200" dirty="0"/>
              <a:t>photo</a:t>
            </a:r>
          </a:p>
        </p:txBody>
      </p:sp>
      <p:sp>
        <p:nvSpPr>
          <p:cNvPr id="9" name="Rounded Rectangle 8"/>
          <p:cNvSpPr/>
          <p:nvPr/>
        </p:nvSpPr>
        <p:spPr>
          <a:xfrm>
            <a:off x="4443984" y="1481328"/>
            <a:ext cx="3456432" cy="1078992"/>
          </a:xfrm>
          <a:prstGeom prst="roundRect">
            <a:avLst/>
          </a:prstGeom>
          <a:solidFill>
            <a:srgbClr val="FFFFFF"/>
          </a:solidFill>
          <a:ln w="12700">
            <a:solidFill>
              <a:srgbClr val="DCE7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443984" y="1481328"/>
            <a:ext cx="91440" cy="1078992"/>
          </a:xfrm>
          <a:prstGeom prst="rect">
            <a:avLst/>
          </a:prstGeom>
          <a:solidFill>
            <a:srgbClr val="BEDA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672584" y="1609344"/>
            <a:ext cx="3063240" cy="411480"/>
          </a:xfrm>
          <a:prstGeom prst="rect">
            <a:avLst/>
          </a:prstGeom>
          <a:noFill/>
        </p:spPr>
        <p:txBody>
          <a:bodyPr wrap="square">
            <a:spAutoFit/>
          </a:bodyPr>
          <a:lstStyle/>
          <a:p>
            <a:pPr>
              <a:defRPr sz="1900" b="1">
                <a:solidFill>
                  <a:srgbClr val="395B5E"/>
                </a:solidFill>
                <a:latin typeface="Times New Roman"/>
              </a:defRPr>
            </a:pPr>
            <a:r>
              <a:t>257 / 257</a:t>
            </a:r>
          </a:p>
        </p:txBody>
      </p:sp>
      <p:sp>
        <p:nvSpPr>
          <p:cNvPr id="12" name="TextBox 11"/>
          <p:cNvSpPr txBox="1"/>
          <p:nvPr/>
        </p:nvSpPr>
        <p:spPr>
          <a:xfrm>
            <a:off x="4672584" y="2075688"/>
            <a:ext cx="3063240" cy="276999"/>
          </a:xfrm>
          <a:prstGeom prst="rect">
            <a:avLst/>
          </a:prstGeom>
          <a:noFill/>
        </p:spPr>
        <p:txBody>
          <a:bodyPr wrap="square">
            <a:spAutoFit/>
          </a:bodyPr>
          <a:lstStyle/>
          <a:p>
            <a:pPr>
              <a:defRPr sz="1050" b="0">
                <a:solidFill>
                  <a:srgbClr val="657C7C"/>
                </a:solidFill>
                <a:latin typeface="Times New Roman"/>
              </a:defRPr>
            </a:pPr>
            <a:r>
              <a:rPr sz="1200" dirty="0"/>
              <a:t>photos engaged with</a:t>
            </a:r>
          </a:p>
        </p:txBody>
      </p:sp>
      <p:sp>
        <p:nvSpPr>
          <p:cNvPr id="13" name="Rounded Rectangle 12"/>
          <p:cNvSpPr/>
          <p:nvPr/>
        </p:nvSpPr>
        <p:spPr>
          <a:xfrm>
            <a:off x="8174736" y="1481328"/>
            <a:ext cx="3456432" cy="1078992"/>
          </a:xfrm>
          <a:prstGeom prst="roundRect">
            <a:avLst/>
          </a:prstGeom>
          <a:solidFill>
            <a:srgbClr val="FFFFFF"/>
          </a:solidFill>
          <a:ln w="12700">
            <a:solidFill>
              <a:srgbClr val="DCE7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174736" y="1481328"/>
            <a:ext cx="91440" cy="1078992"/>
          </a:xfrm>
          <a:prstGeom prst="rect">
            <a:avLst/>
          </a:prstGeom>
          <a:solidFill>
            <a:srgbClr val="C2A4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403336" y="1609344"/>
            <a:ext cx="3063240" cy="411480"/>
          </a:xfrm>
          <a:prstGeom prst="rect">
            <a:avLst/>
          </a:prstGeom>
          <a:noFill/>
        </p:spPr>
        <p:txBody>
          <a:bodyPr wrap="square">
            <a:spAutoFit/>
          </a:bodyPr>
          <a:lstStyle/>
          <a:p>
            <a:pPr>
              <a:defRPr sz="1900" b="1">
                <a:solidFill>
                  <a:srgbClr val="395B5E"/>
                </a:solidFill>
                <a:latin typeface="Times New Roman"/>
              </a:defRPr>
            </a:pPr>
            <a:r>
              <a:t>41%</a:t>
            </a:r>
          </a:p>
        </p:txBody>
      </p:sp>
      <p:sp>
        <p:nvSpPr>
          <p:cNvPr id="16" name="TextBox 15"/>
          <p:cNvSpPr txBox="1"/>
          <p:nvPr/>
        </p:nvSpPr>
        <p:spPr>
          <a:xfrm>
            <a:off x="8403336" y="2075688"/>
            <a:ext cx="3063240" cy="276999"/>
          </a:xfrm>
          <a:prstGeom prst="rect">
            <a:avLst/>
          </a:prstGeom>
          <a:noFill/>
        </p:spPr>
        <p:txBody>
          <a:bodyPr wrap="square">
            <a:spAutoFit/>
          </a:bodyPr>
          <a:lstStyle/>
          <a:p>
            <a:pPr>
              <a:defRPr sz="1050" b="0">
                <a:solidFill>
                  <a:srgbClr val="657C7C"/>
                </a:solidFill>
                <a:latin typeface="Times New Roman"/>
              </a:defRPr>
            </a:pPr>
            <a:r>
              <a:rPr dirty="0"/>
              <a:t>of all </a:t>
            </a:r>
            <a:r>
              <a:rPr sz="1200" dirty="0"/>
              <a:t>recorded</a:t>
            </a:r>
            <a:r>
              <a:rPr dirty="0"/>
              <a:t> reactions</a:t>
            </a:r>
          </a:p>
        </p:txBody>
      </p:sp>
      <p:sp>
        <p:nvSpPr>
          <p:cNvPr id="17" name="Rounded Rectangle 16"/>
          <p:cNvSpPr/>
          <p:nvPr/>
        </p:nvSpPr>
        <p:spPr>
          <a:xfrm>
            <a:off x="713232" y="2788920"/>
            <a:ext cx="6903720" cy="2468880"/>
          </a:xfrm>
          <a:prstGeom prst="roundRect">
            <a:avLst/>
          </a:prstGeom>
          <a:solidFill>
            <a:srgbClr val="FFFFFF"/>
          </a:solidFill>
          <a:ln w="12700">
            <a:solidFill>
              <a:srgbClr val="DCE7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60120" y="2999232"/>
            <a:ext cx="6309360" cy="320040"/>
          </a:xfrm>
          <a:prstGeom prst="rect">
            <a:avLst/>
          </a:prstGeom>
          <a:noFill/>
        </p:spPr>
        <p:txBody>
          <a:bodyPr wrap="square">
            <a:spAutoFit/>
          </a:bodyPr>
          <a:lstStyle/>
          <a:p>
            <a:pPr>
              <a:defRPr sz="1300" b="1">
                <a:solidFill>
                  <a:srgbClr val="395B5E"/>
                </a:solidFill>
                <a:latin typeface="Times New Roman"/>
              </a:defRPr>
            </a:pPr>
            <a:r>
              <a:t>WHY THIS MATTERS</a:t>
            </a:r>
          </a:p>
        </p:txBody>
      </p:sp>
      <p:sp>
        <p:nvSpPr>
          <p:cNvPr id="19" name="TextBox 18"/>
          <p:cNvSpPr txBox="1"/>
          <p:nvPr/>
        </p:nvSpPr>
        <p:spPr>
          <a:xfrm>
            <a:off x="960120" y="3401568"/>
            <a:ext cx="6309360" cy="954107"/>
          </a:xfrm>
          <a:prstGeom prst="rect">
            <a:avLst/>
          </a:prstGeom>
          <a:noFill/>
        </p:spPr>
        <p:txBody>
          <a:bodyPr wrap="square">
            <a:spAutoFit/>
          </a:bodyPr>
          <a:lstStyle/>
          <a:p>
            <a:pPr marL="171450" indent="-171450">
              <a:spcAft>
                <a:spcPts val="1200"/>
              </a:spcAft>
              <a:buFont typeface="Arial" panose="020B0604020202020204" pitchFamily="34" charset="0"/>
              <a:buChar char="•"/>
              <a:defRPr sz="1100">
                <a:solidFill>
                  <a:srgbClr val="24393A"/>
                </a:solidFill>
                <a:latin typeface="Times New Roman"/>
              </a:defRPr>
            </a:pPr>
            <a:r>
              <a:rPr sz="1200" dirty="0" smtClean="0"/>
              <a:t>  </a:t>
            </a:r>
            <a:r>
              <a:rPr sz="1200" dirty="0"/>
              <a:t>Engagement is concentrated: 13 users account for 41% of all reactions.</a:t>
            </a:r>
          </a:p>
          <a:p>
            <a:pPr marL="171450" indent="-171450">
              <a:spcAft>
                <a:spcPts val="1200"/>
              </a:spcAft>
              <a:buFont typeface="Arial" panose="020B0604020202020204" pitchFamily="34" charset="0"/>
              <a:buChar char="•"/>
              <a:defRPr sz="1100">
                <a:solidFill>
                  <a:srgbClr val="24393A"/>
                </a:solidFill>
                <a:latin typeface="Times New Roman"/>
              </a:defRPr>
            </a:pPr>
            <a:r>
              <a:rPr lang="en-IN" sz="1200" dirty="0" smtClean="0"/>
              <a:t>  </a:t>
            </a:r>
            <a:r>
              <a:rPr sz="1200" dirty="0" smtClean="0"/>
              <a:t>Their </a:t>
            </a:r>
            <a:r>
              <a:rPr sz="1200" dirty="0"/>
              <a:t>activity is unusually uniform: each engaged with all 257 photos.</a:t>
            </a:r>
          </a:p>
          <a:p>
            <a:pPr marL="171450" indent="-171450">
              <a:spcAft>
                <a:spcPts val="1200"/>
              </a:spcAft>
              <a:buFont typeface="Arial" panose="020B0604020202020204" pitchFamily="34" charset="0"/>
              <a:buChar char="•"/>
              <a:defRPr sz="1100">
                <a:solidFill>
                  <a:srgbClr val="24393A"/>
                </a:solidFill>
                <a:latin typeface="Times New Roman"/>
              </a:defRPr>
            </a:pPr>
            <a:r>
              <a:rPr lang="en-IN" sz="1200" dirty="0" smtClean="0"/>
              <a:t>  </a:t>
            </a:r>
            <a:r>
              <a:rPr sz="1200" dirty="0" smtClean="0"/>
              <a:t>Validate </a:t>
            </a:r>
            <a:r>
              <a:rPr sz="1200" dirty="0"/>
              <a:t>this pattern before using these accounts for rewards or creator selection.</a:t>
            </a:r>
          </a:p>
        </p:txBody>
      </p:sp>
      <p:sp>
        <p:nvSpPr>
          <p:cNvPr id="20" name="Rounded Rectangle 19"/>
          <p:cNvSpPr/>
          <p:nvPr/>
        </p:nvSpPr>
        <p:spPr>
          <a:xfrm>
            <a:off x="8065008" y="2788920"/>
            <a:ext cx="3566160" cy="2468880"/>
          </a:xfrm>
          <a:prstGeom prst="roundRect">
            <a:avLst/>
          </a:prstGeom>
          <a:solidFill>
            <a:schemeClr val="accent5">
              <a:lumMod val="20000"/>
              <a:lumOff val="80000"/>
            </a:schemeClr>
          </a:solidFill>
          <a:ln>
            <a:solidFill>
              <a:srgbClr val="BEDA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156448" y="2999232"/>
            <a:ext cx="2971800" cy="276999"/>
          </a:xfrm>
          <a:prstGeom prst="rect">
            <a:avLst/>
          </a:prstGeom>
          <a:noFill/>
        </p:spPr>
        <p:txBody>
          <a:bodyPr wrap="square">
            <a:spAutoFit/>
          </a:bodyPr>
          <a:lstStyle/>
          <a:p>
            <a:pPr algn="ctr">
              <a:defRPr sz="1200" b="1">
                <a:solidFill>
                  <a:srgbClr val="395B5E"/>
                </a:solidFill>
                <a:latin typeface="Times New Roman"/>
              </a:defRPr>
            </a:pPr>
            <a:r>
              <a:t>RECOMMENDED CHECK</a:t>
            </a:r>
          </a:p>
        </p:txBody>
      </p:sp>
      <p:sp>
        <p:nvSpPr>
          <p:cNvPr id="22" name="TextBox 21"/>
          <p:cNvSpPr txBox="1"/>
          <p:nvPr/>
        </p:nvSpPr>
        <p:spPr>
          <a:xfrm>
            <a:off x="8156448" y="3429000"/>
            <a:ext cx="2944368" cy="1733808"/>
          </a:xfrm>
          <a:prstGeom prst="rect">
            <a:avLst/>
          </a:prstGeom>
          <a:noFill/>
        </p:spPr>
        <p:txBody>
          <a:bodyPr wrap="square">
            <a:spAutoFit/>
          </a:bodyPr>
          <a:lstStyle/>
          <a:p>
            <a:pPr>
              <a:lnSpc>
                <a:spcPct val="150000"/>
              </a:lnSpc>
              <a:spcAft>
                <a:spcPts val="1000"/>
              </a:spcAft>
              <a:defRPr sz="1050">
                <a:solidFill>
                  <a:srgbClr val="24393A"/>
                </a:solidFill>
                <a:latin typeface="Times New Roman"/>
              </a:defRPr>
            </a:pPr>
            <a:r>
              <a:rPr sz="1200" dirty="0"/>
              <a:t>• </a:t>
            </a:r>
            <a:r>
              <a:rPr lang="en-US" sz="1050" dirty="0"/>
              <a:t>Check signup dates and account history</a:t>
            </a:r>
            <a:r>
              <a:rPr lang="en-US" sz="1050" dirty="0" smtClean="0"/>
              <a:t>.</a:t>
            </a:r>
          </a:p>
          <a:p>
            <a:pPr>
              <a:lnSpc>
                <a:spcPct val="150000"/>
              </a:lnSpc>
              <a:spcAft>
                <a:spcPts val="1000"/>
              </a:spcAft>
              <a:defRPr sz="1050">
                <a:solidFill>
                  <a:srgbClr val="24393A"/>
                </a:solidFill>
                <a:latin typeface="Times New Roman"/>
              </a:defRPr>
            </a:pPr>
            <a:r>
              <a:rPr sz="1200" dirty="0" smtClean="0"/>
              <a:t>• </a:t>
            </a:r>
            <a:r>
              <a:rPr sz="1200" dirty="0"/>
              <a:t>Check for repeated or automated interaction patterns.</a:t>
            </a:r>
          </a:p>
          <a:p>
            <a:pPr>
              <a:lnSpc>
                <a:spcPct val="150000"/>
              </a:lnSpc>
              <a:spcAft>
                <a:spcPts val="1000"/>
              </a:spcAft>
              <a:defRPr sz="1050">
                <a:solidFill>
                  <a:srgbClr val="24393A"/>
                </a:solidFill>
                <a:latin typeface="Times New Roman"/>
              </a:defRPr>
            </a:pPr>
            <a:r>
              <a:rPr sz="1200" dirty="0"/>
              <a:t>• Verify account legitimacy before rewarding engagement.</a:t>
            </a:r>
          </a:p>
        </p:txBody>
      </p:sp>
      <p:sp>
        <p:nvSpPr>
          <p:cNvPr id="25" name="Rectangle 24"/>
          <p:cNvSpPr/>
          <p:nvPr/>
        </p:nvSpPr>
        <p:spPr>
          <a:xfrm>
            <a:off x="0" y="0"/>
            <a:ext cx="12191695" cy="73152"/>
          </a:xfrm>
          <a:prstGeom prst="rect">
            <a:avLst/>
          </a:prstGeom>
          <a:solidFill>
            <a:srgbClr val="7EABAA"/>
          </a:solidFill>
          <a:ln>
            <a:solidFill>
              <a:srgbClr val="7EABAA"/>
            </a:solidFill>
          </a:ln>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spcBef>
                <a:spcPts val="0"/>
              </a:spcBef>
              <a:spcAft>
                <a:spcPts val="300"/>
              </a:spcAft>
            </a:pPr>
            <a:endParaRPr/>
          </a:p>
        </p:txBody>
      </p:sp>
      <p:sp>
        <p:nvSpPr>
          <p:cNvPr id="26" name="Rectangle 25"/>
          <p:cNvSpPr/>
          <p:nvPr/>
        </p:nvSpPr>
        <p:spPr>
          <a:xfrm>
            <a:off x="118603" y="380476"/>
            <a:ext cx="6130204" cy="461665"/>
          </a:xfrm>
          <a:prstGeom prst="rect">
            <a:avLst/>
          </a:prstGeom>
        </p:spPr>
        <p:txBody>
          <a:bodyPr wrap="none">
            <a:spAutoFit/>
          </a:bodyPr>
          <a:lstStyle/>
          <a:p>
            <a:pPr>
              <a:spcAft>
                <a:spcPts val="300"/>
              </a:spcAft>
            </a:pPr>
            <a:r>
              <a:rPr lang="en-US" sz="2400" b="1" dirty="0">
                <a:solidFill>
                  <a:srgbClr val="587070"/>
                </a:solidFill>
                <a:latin typeface="Times New Roman"/>
              </a:rPr>
              <a:t>05 | OBJECTIVE FINDINGS | </a:t>
            </a:r>
            <a:r>
              <a:rPr lang="en-US" sz="2400" b="1" dirty="0" smtClean="0">
                <a:solidFill>
                  <a:srgbClr val="587070"/>
                </a:solidFill>
                <a:latin typeface="Times New Roman"/>
              </a:rPr>
              <a:t>REACTIONS</a:t>
            </a:r>
            <a:endParaRPr lang="en-US" sz="2400" b="1" dirty="0">
              <a:solidFill>
                <a:srgbClr val="587070"/>
              </a:solidFill>
              <a:latin typeface="Times New Roman"/>
            </a:endParaRPr>
          </a:p>
        </p:txBody>
      </p:sp>
      <p:pic>
        <p:nvPicPr>
          <p:cNvPr id="2050" name="Picture 2" descr="Instagram logo blue Images - Free Download on Magnific (formerly Freepik)"/>
          <p:cNvPicPr>
            <a:picLocks noChangeAspect="1" noChangeArrowheads="1"/>
          </p:cNvPicPr>
          <p:nvPr/>
        </p:nvPicPr>
        <p:blipFill rotWithShape="1">
          <a:blip r:embed="rId2">
            <a:extLst>
              <a:ext uri="{BEBA8EAE-BF5A-486C-A8C5-ECC9F3942E4B}">
                <a14:imgProps xmlns:a14="http://schemas.microsoft.com/office/drawing/2010/main">
                  <a14:imgLayer r:embed="rId3">
                    <a14:imgEffect>
                      <a14:brightnessContrast bright="20000"/>
                    </a14:imgEffect>
                  </a14:imgLayer>
                </a14:imgProps>
              </a:ext>
              <a:ext uri="{28A0092B-C50C-407E-A947-70E740481C1C}">
                <a14:useLocalDpi xmlns:a14="http://schemas.microsoft.com/office/drawing/2010/main" val="0"/>
              </a:ext>
            </a:extLst>
          </a:blip>
          <a:srcRect l="22466" t="23995" r="23087" b="23130"/>
          <a:stretch/>
        </p:blipFill>
        <p:spPr bwMode="auto">
          <a:xfrm>
            <a:off x="544484" y="5796824"/>
            <a:ext cx="831272" cy="807264"/>
          </a:xfrm>
          <a:prstGeom prst="rect">
            <a:avLst/>
          </a:prstGeom>
          <a:noFill/>
          <a:ln w="34925">
            <a:solidFill>
              <a:srgbClr val="FFFFFF"/>
            </a:solidFill>
          </a:ln>
          <a:effectLst>
            <a:outerShdw blurRad="317500" dir="2700000" algn="ctr">
              <a:srgbClr val="000000">
                <a:alpha val="43000"/>
              </a:srgbClr>
            </a:outerShdw>
          </a:effectLst>
          <a:scene3d>
            <a:camera prst="perspectiveFront" fov="2700000">
              <a:rot lat="19086000" lon="19067999" rev="3108000"/>
            </a:camera>
            <a:lightRig rig="threePt" dir="t">
              <a:rot lat="0" lon="0" rev="0"/>
            </a:lightRig>
          </a:scene3d>
          <a:sp3d extrusionH="38100" prstMaterial="clear">
            <a:bevelT w="260350" h="50800" prst="softRound"/>
            <a:bevelB prst="softRound"/>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622894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9F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7EABAA"/>
          </a:solidFill>
          <a:ln>
            <a:solidFill>
              <a:srgbClr val="7EABAA"/>
            </a:solidFill>
          </a:ln>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spcBef>
                <a:spcPts val="0"/>
              </a:spcBef>
              <a:spcAft>
                <a:spcPts val="300"/>
              </a:spcAft>
            </a:pPr>
            <a:endParaRPr/>
          </a:p>
        </p:txBody>
      </p:sp>
      <p:graphicFrame>
        <p:nvGraphicFramePr>
          <p:cNvPr id="8" name="Chart 7"/>
          <p:cNvGraphicFramePr>
            <a:graphicFrameLocks noGrp="1"/>
          </p:cNvGraphicFramePr>
          <p:nvPr>
            <p:extLst>
              <p:ext uri="{D42A27DB-BD31-4B8C-83A1-F6EECF244321}">
                <p14:modId xmlns:p14="http://schemas.microsoft.com/office/powerpoint/2010/main" val="3403258142"/>
              </p:ext>
            </p:extLst>
          </p:nvPr>
        </p:nvGraphicFramePr>
        <p:xfrm>
          <a:off x="731520" y="1828800"/>
          <a:ext cx="4754880" cy="3474720"/>
        </p:xfrm>
        <a:graphic>
          <a:graphicData uri="http://schemas.openxmlformats.org/drawingml/2006/chart">
            <c:chart xmlns:c="http://schemas.openxmlformats.org/drawingml/2006/chart" xmlns:r="http://schemas.openxmlformats.org/officeDocument/2006/relationships" r:id="rId2"/>
          </a:graphicData>
        </a:graphic>
      </p:graphicFrame>
      <p:sp>
        <p:nvSpPr>
          <p:cNvPr id="9" name="Rounded Rectangle 8"/>
          <p:cNvSpPr/>
          <p:nvPr/>
        </p:nvSpPr>
        <p:spPr>
          <a:xfrm>
            <a:off x="5669280" y="1874519"/>
            <a:ext cx="2606040" cy="1325880"/>
          </a:xfrm>
          <a:prstGeom prst="roundRect">
            <a:avLst/>
          </a:prstGeom>
          <a:solidFill>
            <a:srgbClr val="FFFFFF"/>
          </a:solidFill>
          <a:ln>
            <a:solidFill>
              <a:srgbClr val="DCE7E4"/>
            </a:solidFill>
          </a:ln>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spcBef>
                <a:spcPts val="0"/>
              </a:spcBef>
              <a:spcAft>
                <a:spcPts val="300"/>
              </a:spcAft>
            </a:pPr>
            <a:endParaRPr/>
          </a:p>
        </p:txBody>
      </p:sp>
      <p:sp>
        <p:nvSpPr>
          <p:cNvPr id="10" name="TextBox 9"/>
          <p:cNvSpPr txBox="1"/>
          <p:nvPr/>
        </p:nvSpPr>
        <p:spPr>
          <a:xfrm>
            <a:off x="5833872" y="2011679"/>
            <a:ext cx="2276856" cy="274320"/>
          </a:xfrm>
          <a:prstGeom prst="rect">
            <a:avLst/>
          </a:prstGeom>
          <a:noFill/>
        </p:spPr>
        <p:txBody>
          <a:bodyPr wrap="square" lIns="38100" tIns="25400" rIns="38100" bIns="25400" anchor="t">
            <a:spAutoFit/>
          </a:bodyPr>
          <a:lstStyle/>
          <a:p>
            <a:pPr algn="l">
              <a:spcBef>
                <a:spcPts val="0"/>
              </a:spcBef>
              <a:spcAft>
                <a:spcPts val="300"/>
              </a:spcAft>
            </a:pPr>
            <a:r>
              <a:rPr lang="en-IN" sz="1400" b="1" dirty="0" smtClean="0">
                <a:solidFill>
                  <a:srgbClr val="24393A"/>
                </a:solidFill>
                <a:latin typeface="Times New Roman"/>
              </a:rPr>
              <a:t>74</a:t>
            </a:r>
            <a:endParaRPr sz="1400" b="1" i="0" dirty="0">
              <a:solidFill>
                <a:srgbClr val="24393A"/>
              </a:solidFill>
              <a:latin typeface="Times New Roman"/>
            </a:endParaRPr>
          </a:p>
        </p:txBody>
      </p:sp>
      <p:sp>
        <p:nvSpPr>
          <p:cNvPr id="11" name="TextBox 10"/>
          <p:cNvSpPr txBox="1"/>
          <p:nvPr/>
        </p:nvSpPr>
        <p:spPr>
          <a:xfrm>
            <a:off x="5833872" y="2350008"/>
            <a:ext cx="2276856" cy="235962"/>
          </a:xfrm>
          <a:prstGeom prst="rect">
            <a:avLst/>
          </a:prstGeom>
          <a:noFill/>
        </p:spPr>
        <p:txBody>
          <a:bodyPr wrap="square" lIns="38100" tIns="25400" rIns="38100" bIns="25400" anchor="t">
            <a:spAutoFit/>
          </a:bodyPr>
          <a:lstStyle/>
          <a:p>
            <a:pPr algn="l">
              <a:spcBef>
                <a:spcPts val="0"/>
              </a:spcBef>
              <a:spcAft>
                <a:spcPts val="300"/>
              </a:spcAft>
            </a:pPr>
            <a:r>
              <a:rPr lang="en-IN" sz="1200" dirty="0" smtClean="0">
                <a:solidFill>
                  <a:srgbClr val="24393A"/>
                </a:solidFill>
                <a:latin typeface="Times New Roman"/>
              </a:rPr>
              <a:t>Users posted </a:t>
            </a:r>
            <a:r>
              <a:rPr lang="en-IN" sz="1200" dirty="0" smtClean="0">
                <a:solidFill>
                  <a:srgbClr val="24393A"/>
                </a:solidFill>
                <a:latin typeface="Times New Roman"/>
              </a:rPr>
              <a:t>at least </a:t>
            </a:r>
            <a:r>
              <a:rPr lang="en-IN" sz="1200" dirty="0" smtClean="0">
                <a:solidFill>
                  <a:srgbClr val="24393A"/>
                </a:solidFill>
                <a:latin typeface="Times New Roman"/>
              </a:rPr>
              <a:t>once</a:t>
            </a:r>
            <a:endParaRPr sz="1200" b="0" i="0" dirty="0">
              <a:solidFill>
                <a:srgbClr val="24393A"/>
              </a:solidFill>
              <a:latin typeface="Times New Roman"/>
            </a:endParaRPr>
          </a:p>
        </p:txBody>
      </p:sp>
      <p:sp>
        <p:nvSpPr>
          <p:cNvPr id="12" name="Rounded Rectangle 11"/>
          <p:cNvSpPr/>
          <p:nvPr/>
        </p:nvSpPr>
        <p:spPr>
          <a:xfrm>
            <a:off x="8503920" y="1874519"/>
            <a:ext cx="2606040" cy="1325880"/>
          </a:xfrm>
          <a:prstGeom prst="roundRect">
            <a:avLst/>
          </a:prstGeom>
          <a:solidFill>
            <a:srgbClr val="FFFFFF"/>
          </a:solidFill>
          <a:ln>
            <a:solidFill>
              <a:srgbClr val="DCE7E4"/>
            </a:solidFill>
          </a:ln>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spcBef>
                <a:spcPts val="0"/>
              </a:spcBef>
              <a:spcAft>
                <a:spcPts val="300"/>
              </a:spcAft>
            </a:pPr>
            <a:endParaRPr/>
          </a:p>
        </p:txBody>
      </p:sp>
      <p:sp>
        <p:nvSpPr>
          <p:cNvPr id="13" name="TextBox 12"/>
          <p:cNvSpPr txBox="1"/>
          <p:nvPr/>
        </p:nvSpPr>
        <p:spPr>
          <a:xfrm>
            <a:off x="8668512" y="2011679"/>
            <a:ext cx="2276856" cy="266740"/>
          </a:xfrm>
          <a:prstGeom prst="rect">
            <a:avLst/>
          </a:prstGeom>
          <a:noFill/>
        </p:spPr>
        <p:txBody>
          <a:bodyPr wrap="square" lIns="38100" tIns="25400" rIns="38100" bIns="25400" anchor="t">
            <a:spAutoFit/>
          </a:bodyPr>
          <a:lstStyle/>
          <a:p>
            <a:pPr algn="l">
              <a:spcBef>
                <a:spcPts val="0"/>
              </a:spcBef>
              <a:spcAft>
                <a:spcPts val="300"/>
              </a:spcAft>
            </a:pPr>
            <a:r>
              <a:rPr sz="1400" b="1" i="0" dirty="0">
                <a:solidFill>
                  <a:schemeClr val="tx2">
                    <a:lumMod val="50000"/>
                  </a:schemeClr>
                </a:solidFill>
                <a:latin typeface="Times New Roman"/>
              </a:rPr>
              <a:t>77</a:t>
            </a:r>
          </a:p>
        </p:txBody>
      </p:sp>
      <p:sp>
        <p:nvSpPr>
          <p:cNvPr id="14" name="TextBox 13"/>
          <p:cNvSpPr txBox="1"/>
          <p:nvPr/>
        </p:nvSpPr>
        <p:spPr>
          <a:xfrm>
            <a:off x="8668512" y="2350008"/>
            <a:ext cx="2276856" cy="235962"/>
          </a:xfrm>
          <a:prstGeom prst="rect">
            <a:avLst/>
          </a:prstGeom>
          <a:noFill/>
        </p:spPr>
        <p:txBody>
          <a:bodyPr wrap="square" lIns="38100" tIns="25400" rIns="38100" bIns="25400" anchor="t">
            <a:spAutoFit/>
          </a:bodyPr>
          <a:lstStyle/>
          <a:p>
            <a:pPr algn="l">
              <a:spcBef>
                <a:spcPts val="0"/>
              </a:spcBef>
              <a:spcAft>
                <a:spcPts val="300"/>
              </a:spcAft>
            </a:pPr>
            <a:r>
              <a:rPr sz="1200" b="0" i="0" dirty="0">
                <a:solidFill>
                  <a:srgbClr val="24393A"/>
                </a:solidFill>
                <a:latin typeface="Times New Roman"/>
              </a:rPr>
              <a:t>users both like and comment</a:t>
            </a:r>
          </a:p>
        </p:txBody>
      </p:sp>
      <p:sp>
        <p:nvSpPr>
          <p:cNvPr id="15" name="Rounded Rectangle 14"/>
          <p:cNvSpPr/>
          <p:nvPr/>
        </p:nvSpPr>
        <p:spPr>
          <a:xfrm>
            <a:off x="5669280" y="3474720"/>
            <a:ext cx="5440680" cy="1325880"/>
          </a:xfrm>
          <a:prstGeom prst="roundRect">
            <a:avLst/>
          </a:prstGeom>
          <a:solidFill>
            <a:srgbClr val="FFFFFF"/>
          </a:solidFill>
          <a:ln>
            <a:solidFill>
              <a:srgbClr val="DCE7E4"/>
            </a:solidFill>
          </a:ln>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spcBef>
                <a:spcPts val="0"/>
              </a:spcBef>
              <a:spcAft>
                <a:spcPts val="300"/>
              </a:spcAft>
            </a:pPr>
            <a:endParaRPr/>
          </a:p>
        </p:txBody>
      </p:sp>
      <p:sp>
        <p:nvSpPr>
          <p:cNvPr id="16" name="TextBox 15"/>
          <p:cNvSpPr txBox="1"/>
          <p:nvPr/>
        </p:nvSpPr>
        <p:spPr>
          <a:xfrm>
            <a:off x="5833872" y="3611879"/>
            <a:ext cx="5111496" cy="274320"/>
          </a:xfrm>
          <a:prstGeom prst="rect">
            <a:avLst/>
          </a:prstGeom>
          <a:noFill/>
        </p:spPr>
        <p:txBody>
          <a:bodyPr wrap="square" lIns="38100" tIns="25400" rIns="38100" bIns="25400" anchor="t">
            <a:spAutoFit/>
          </a:bodyPr>
          <a:lstStyle/>
          <a:p>
            <a:pPr algn="l">
              <a:spcBef>
                <a:spcPts val="0"/>
              </a:spcBef>
              <a:spcAft>
                <a:spcPts val="300"/>
              </a:spcAft>
            </a:pPr>
            <a:r>
              <a:rPr sz="1400" b="1" i="0" dirty="0">
                <a:solidFill>
                  <a:srgbClr val="24393A"/>
                </a:solidFill>
                <a:latin typeface="Times New Roman"/>
              </a:rPr>
              <a:t>23 USERS</a:t>
            </a:r>
          </a:p>
        </p:txBody>
      </p:sp>
      <p:sp>
        <p:nvSpPr>
          <p:cNvPr id="17" name="TextBox 16"/>
          <p:cNvSpPr txBox="1"/>
          <p:nvPr/>
        </p:nvSpPr>
        <p:spPr>
          <a:xfrm>
            <a:off x="5833872" y="3950208"/>
            <a:ext cx="5111496" cy="235962"/>
          </a:xfrm>
          <a:prstGeom prst="rect">
            <a:avLst/>
          </a:prstGeom>
          <a:noFill/>
        </p:spPr>
        <p:txBody>
          <a:bodyPr wrap="square" lIns="38100" tIns="25400" rIns="38100" bIns="25400" anchor="t">
            <a:spAutoFit/>
          </a:bodyPr>
          <a:lstStyle/>
          <a:p>
            <a:pPr algn="l">
              <a:spcBef>
                <a:spcPts val="0"/>
              </a:spcBef>
              <a:spcAft>
                <a:spcPts val="300"/>
              </a:spcAft>
            </a:pPr>
            <a:r>
              <a:rPr sz="1200" b="0" i="0" dirty="0">
                <a:solidFill>
                  <a:srgbClr val="24393A"/>
                </a:solidFill>
                <a:latin typeface="Times New Roman"/>
              </a:rPr>
              <a:t>do neither likes nor comments; 13 are completely inactive</a:t>
            </a:r>
          </a:p>
        </p:txBody>
      </p:sp>
      <p:sp>
        <p:nvSpPr>
          <p:cNvPr id="18" name="TextBox 17"/>
          <p:cNvSpPr txBox="1"/>
          <p:nvPr/>
        </p:nvSpPr>
        <p:spPr>
          <a:xfrm>
            <a:off x="5760720" y="5166360"/>
            <a:ext cx="5212080" cy="548640"/>
          </a:xfrm>
          <a:prstGeom prst="rect">
            <a:avLst/>
          </a:prstGeom>
          <a:noFill/>
        </p:spPr>
        <p:txBody>
          <a:bodyPr wrap="square" lIns="38100" tIns="25400" rIns="38100" bIns="25400" anchor="t">
            <a:spAutoFit/>
          </a:bodyPr>
          <a:lstStyle/>
          <a:p>
            <a:pPr algn="l">
              <a:spcBef>
                <a:spcPts val="0"/>
              </a:spcBef>
              <a:spcAft>
                <a:spcPts val="300"/>
              </a:spcAft>
            </a:pPr>
            <a:r>
              <a:rPr sz="1400" b="1" i="0">
                <a:solidFill>
                  <a:srgbClr val="24393A"/>
                </a:solidFill>
                <a:latin typeface="Times New Roman"/>
              </a:rPr>
              <a:t>Decision: build separate activation journeys for creators, reactors, and dormant users.</a:t>
            </a:r>
          </a:p>
        </p:txBody>
      </p:sp>
      <p:sp>
        <p:nvSpPr>
          <p:cNvPr id="19" name="TextBox 18"/>
          <p:cNvSpPr txBox="1"/>
          <p:nvPr/>
        </p:nvSpPr>
        <p:spPr>
          <a:xfrm>
            <a:off x="91440" y="372690"/>
            <a:ext cx="10881360" cy="420628"/>
          </a:xfrm>
          <a:prstGeom prst="rect">
            <a:avLst/>
          </a:prstGeom>
          <a:noFill/>
        </p:spPr>
        <p:txBody>
          <a:bodyPr wrap="square" lIns="38100" tIns="25400" rIns="38100" bIns="25400" anchor="t">
            <a:spAutoFit/>
          </a:bodyPr>
          <a:lstStyle/>
          <a:p>
            <a:pPr algn="l">
              <a:spcBef>
                <a:spcPts val="0"/>
              </a:spcBef>
              <a:spcAft>
                <a:spcPts val="300"/>
              </a:spcAft>
            </a:pPr>
            <a:r>
              <a:rPr lang="en-IN" sz="2400" b="1" i="0" dirty="0" smtClean="0">
                <a:solidFill>
                  <a:srgbClr val="587070"/>
                </a:solidFill>
                <a:latin typeface="Times New Roman"/>
              </a:rPr>
              <a:t>05 | OBJECTIVE FINDINGS | USERS WHO POSTED</a:t>
            </a:r>
            <a:endParaRPr sz="2400" b="1" i="0" dirty="0">
              <a:solidFill>
                <a:srgbClr val="587070"/>
              </a:solidFill>
              <a:latin typeface="Times New Roman"/>
            </a:endParaRPr>
          </a:p>
        </p:txBody>
      </p:sp>
      <p:sp>
        <p:nvSpPr>
          <p:cNvPr id="20" name="Rectangle 19"/>
          <p:cNvSpPr/>
          <p:nvPr/>
        </p:nvSpPr>
        <p:spPr>
          <a:xfrm>
            <a:off x="1588479" y="5499556"/>
            <a:ext cx="3040961" cy="276999"/>
          </a:xfrm>
          <a:prstGeom prst="rect">
            <a:avLst/>
          </a:prstGeom>
        </p:spPr>
        <p:txBody>
          <a:bodyPr wrap="none">
            <a:spAutoFit/>
          </a:bodyPr>
          <a:lstStyle/>
          <a:p>
            <a:pPr algn="ctr">
              <a:defRPr sz="2200" b="1" i="0" u="none" strike="noStrike" kern="1200" baseline="0">
                <a:solidFill>
                  <a:srgbClr val="4BACC6">
                    <a:lumMod val="50000"/>
                  </a:srgbClr>
                </a:solidFill>
                <a:latin typeface="+mn-lt"/>
                <a:ea typeface="+mn-ea"/>
                <a:cs typeface="+mn-cs"/>
              </a:defRPr>
            </a:pPr>
            <a:r>
              <a:rPr lang="en-IN" sz="1200" dirty="0">
                <a:solidFill>
                  <a:schemeClr val="accent5">
                    <a:lumMod val="50000"/>
                  </a:schemeClr>
                </a:solidFill>
                <a:latin typeface="Times New Roman" panose="02020603050405020304" pitchFamily="18" charset="0"/>
                <a:cs typeface="Times New Roman" panose="02020603050405020304" pitchFamily="18" charset="0"/>
              </a:rPr>
              <a:t>CHART 01. </a:t>
            </a:r>
            <a:r>
              <a:rPr lang="en-IN" sz="1200" b="1" dirty="0">
                <a:latin typeface="Times New Roman" panose="02020603050405020304" pitchFamily="18" charset="0"/>
                <a:cs typeface="Times New Roman" panose="02020603050405020304" pitchFamily="18" charset="0"/>
              </a:rPr>
              <a:t>USERS WHO HAVE POSTED</a:t>
            </a:r>
            <a:endParaRPr lang="en-IN" sz="1200" dirty="0">
              <a:solidFill>
                <a:schemeClr val="accent5">
                  <a:lumMod val="50000"/>
                </a:schemeClr>
              </a:solidFill>
              <a:latin typeface="Times New Roman" panose="02020603050405020304" pitchFamily="18" charset="0"/>
              <a:cs typeface="Times New Roman" panose="02020603050405020304" pitchFamily="18" charset="0"/>
            </a:endParaRPr>
          </a:p>
        </p:txBody>
      </p:sp>
      <p:pic>
        <p:nvPicPr>
          <p:cNvPr id="21" name="Picture 2" descr="Instagram logo blue Images - Free Download on Magnific (formerly Freepik)"/>
          <p:cNvPicPr>
            <a:picLocks noChangeAspect="1" noChangeArrowheads="1"/>
          </p:cNvPicPr>
          <p:nvPr/>
        </p:nvPicPr>
        <p:blipFill rotWithShape="1">
          <a:blip r:embed="rId3">
            <a:extLst>
              <a:ext uri="{BEBA8EAE-BF5A-486C-A8C5-ECC9F3942E4B}">
                <a14:imgProps xmlns:a14="http://schemas.microsoft.com/office/drawing/2010/main">
                  <a14:imgLayer r:embed="rId4">
                    <a14:imgEffect>
                      <a14:brightnessContrast bright="20000"/>
                    </a14:imgEffect>
                  </a14:imgLayer>
                </a14:imgProps>
              </a:ext>
              <a:ext uri="{28A0092B-C50C-407E-A947-70E740481C1C}">
                <a14:useLocalDpi xmlns:a14="http://schemas.microsoft.com/office/drawing/2010/main" val="0"/>
              </a:ext>
            </a:extLst>
          </a:blip>
          <a:srcRect l="22466" t="23995" r="23087" b="23130"/>
          <a:stretch/>
        </p:blipFill>
        <p:spPr bwMode="auto">
          <a:xfrm>
            <a:off x="544484" y="5796824"/>
            <a:ext cx="831272" cy="807264"/>
          </a:xfrm>
          <a:prstGeom prst="rect">
            <a:avLst/>
          </a:prstGeom>
          <a:noFill/>
          <a:ln w="34925">
            <a:solidFill>
              <a:srgbClr val="FFFFFF"/>
            </a:solidFill>
          </a:ln>
          <a:effectLst>
            <a:outerShdw blurRad="317500" dir="2700000" algn="ctr">
              <a:srgbClr val="000000">
                <a:alpha val="43000"/>
              </a:srgbClr>
            </a:outerShdw>
          </a:effectLst>
          <a:scene3d>
            <a:camera prst="perspectiveFront" fov="2700000">
              <a:rot lat="19086000" lon="19067999" rev="3108000"/>
            </a:camera>
            <a:lightRig rig="threePt" dir="t">
              <a:rot lat="0" lon="0" rev="0"/>
            </a:lightRig>
          </a:scene3d>
          <a:sp3d extrusionH="38100" prstMaterial="clear">
            <a:bevelT w="260350" h="50800" prst="softRound"/>
            <a:bevelB prst="softRound"/>
          </a:sp3d>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9F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7EABAA"/>
          </a:solidFill>
          <a:ln>
            <a:solidFill>
              <a:srgbClr val="7EABAA"/>
            </a:solidFill>
          </a:ln>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spcBef>
                <a:spcPts val="0"/>
              </a:spcBef>
              <a:spcAft>
                <a:spcPts val="300"/>
              </a:spcAft>
            </a:pPr>
            <a:endParaRPr/>
          </a:p>
        </p:txBody>
      </p:sp>
      <p:sp>
        <p:nvSpPr>
          <p:cNvPr id="8" name="TextBox 7"/>
          <p:cNvSpPr txBox="1"/>
          <p:nvPr/>
        </p:nvSpPr>
        <p:spPr>
          <a:xfrm>
            <a:off x="1865428" y="6235266"/>
            <a:ext cx="4572000" cy="235962"/>
          </a:xfrm>
          <a:prstGeom prst="rect">
            <a:avLst/>
          </a:prstGeom>
          <a:noFill/>
        </p:spPr>
        <p:txBody>
          <a:bodyPr wrap="square" lIns="38100" tIns="25400" rIns="38100" bIns="25400" anchor="t">
            <a:spAutoFit/>
          </a:bodyPr>
          <a:lstStyle/>
          <a:p>
            <a:pPr algn="ctr">
              <a:spcBef>
                <a:spcPts val="0"/>
              </a:spcBef>
              <a:spcAft>
                <a:spcPts val="300"/>
              </a:spcAft>
            </a:pPr>
            <a:r>
              <a:rPr lang="en-IN" sz="1200" b="1" i="0" dirty="0" smtClean="0">
                <a:solidFill>
                  <a:schemeClr val="accent5">
                    <a:lumMod val="50000"/>
                  </a:schemeClr>
                </a:solidFill>
                <a:latin typeface="Times New Roman"/>
              </a:rPr>
              <a:t>CHART 02. </a:t>
            </a:r>
            <a:r>
              <a:rPr sz="1200" b="1" i="0" dirty="0" smtClean="0">
                <a:solidFill>
                  <a:schemeClr val="accent5">
                    <a:lumMod val="50000"/>
                  </a:schemeClr>
                </a:solidFill>
                <a:latin typeface="Times New Roman"/>
              </a:rPr>
              <a:t>TOP </a:t>
            </a:r>
            <a:r>
              <a:rPr lang="en-IN" sz="1200" b="1" i="0" dirty="0" smtClean="0">
                <a:solidFill>
                  <a:schemeClr val="accent5">
                    <a:lumMod val="50000"/>
                  </a:schemeClr>
                </a:solidFill>
                <a:latin typeface="Times New Roman"/>
              </a:rPr>
              <a:t>USERS WITH HIGH </a:t>
            </a:r>
            <a:r>
              <a:rPr sz="1200" b="1" i="0" dirty="0" smtClean="0">
                <a:solidFill>
                  <a:schemeClr val="accent5">
                    <a:lumMod val="50000"/>
                  </a:schemeClr>
                </a:solidFill>
                <a:latin typeface="Times New Roman"/>
              </a:rPr>
              <a:t>TOTAL </a:t>
            </a:r>
            <a:r>
              <a:rPr sz="1200" b="1" i="0" dirty="0">
                <a:solidFill>
                  <a:schemeClr val="accent5">
                    <a:lumMod val="50000"/>
                  </a:schemeClr>
                </a:solidFill>
                <a:latin typeface="Times New Roman"/>
              </a:rPr>
              <a:t>ENGAGEMENT</a:t>
            </a:r>
          </a:p>
        </p:txBody>
      </p:sp>
      <p:sp>
        <p:nvSpPr>
          <p:cNvPr id="14" name="TextBox 13"/>
          <p:cNvSpPr txBox="1"/>
          <p:nvPr/>
        </p:nvSpPr>
        <p:spPr>
          <a:xfrm>
            <a:off x="123306" y="278330"/>
            <a:ext cx="10881360" cy="420628"/>
          </a:xfrm>
          <a:prstGeom prst="rect">
            <a:avLst/>
          </a:prstGeom>
          <a:noFill/>
        </p:spPr>
        <p:txBody>
          <a:bodyPr wrap="square" lIns="38100" tIns="25400" rIns="38100" bIns="25400" anchor="t">
            <a:spAutoFit/>
          </a:bodyPr>
          <a:lstStyle/>
          <a:p>
            <a:pPr algn="l">
              <a:spcBef>
                <a:spcPts val="0"/>
              </a:spcBef>
              <a:spcAft>
                <a:spcPts val="300"/>
              </a:spcAft>
            </a:pPr>
            <a:r>
              <a:rPr lang="en-IN" sz="2400" b="1" i="0" dirty="0" smtClean="0">
                <a:solidFill>
                  <a:srgbClr val="587070"/>
                </a:solidFill>
                <a:latin typeface="Times New Roman"/>
              </a:rPr>
              <a:t>05 | OBJECTIVE FINDINGS | TOP ENGAGEMENT</a:t>
            </a:r>
            <a:endParaRPr sz="2400" b="1" i="0" dirty="0">
              <a:solidFill>
                <a:srgbClr val="587070"/>
              </a:solidFill>
              <a:latin typeface="Times New Roman"/>
            </a:endParaRPr>
          </a:p>
        </p:txBody>
      </p:sp>
      <p:sp>
        <p:nvSpPr>
          <p:cNvPr id="15" name="Rounded Rectangle 14"/>
          <p:cNvSpPr/>
          <p:nvPr/>
        </p:nvSpPr>
        <p:spPr>
          <a:xfrm>
            <a:off x="6899563" y="2935778"/>
            <a:ext cx="4636963" cy="1553095"/>
          </a:xfrm>
          <a:prstGeom prst="roundRect">
            <a:avLst/>
          </a:prstGeom>
          <a:solidFill>
            <a:srgbClr val="FFFFFF"/>
          </a:solidFill>
          <a:ln>
            <a:solidFill>
              <a:srgbClr val="DCE7E4"/>
            </a:solidFill>
          </a:ln>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lnSpc>
                <a:spcPct val="150000"/>
              </a:lnSpc>
              <a:spcBef>
                <a:spcPts val="0"/>
              </a:spcBef>
              <a:spcAft>
                <a:spcPts val="300"/>
              </a:spcAft>
            </a:pPr>
            <a:r>
              <a:rPr lang="en-US" sz="1200" dirty="0">
                <a:solidFill>
                  <a:schemeClr val="tx1"/>
                </a:solidFill>
                <a:latin typeface="Times New Roman" panose="02020603050405020304" pitchFamily="18" charset="0"/>
                <a:cs typeface="Times New Roman" panose="02020603050405020304" pitchFamily="18" charset="0"/>
              </a:rPr>
              <a:t>The top 5 creators earn 19% of all engagement, and none of them ever reacts to anyone</a:t>
            </a:r>
            <a:endParaRPr sz="1200" dirty="0">
              <a:solidFill>
                <a:schemeClr val="tx1"/>
              </a:solidFill>
              <a:latin typeface="Times New Roman" panose="02020603050405020304" pitchFamily="18" charset="0"/>
              <a:cs typeface="Times New Roman" panose="02020603050405020304" pitchFamily="18" charset="0"/>
            </a:endParaRPr>
          </a:p>
        </p:txBody>
      </p:sp>
      <p:graphicFrame>
        <p:nvGraphicFramePr>
          <p:cNvPr id="7" name="Chart 6"/>
          <p:cNvGraphicFramePr>
            <a:graphicFrameLocks/>
          </p:cNvGraphicFramePr>
          <p:nvPr>
            <p:extLst>
              <p:ext uri="{D42A27DB-BD31-4B8C-83A1-F6EECF244321}">
                <p14:modId xmlns:p14="http://schemas.microsoft.com/office/powerpoint/2010/main" val="1039698258"/>
              </p:ext>
            </p:extLst>
          </p:nvPr>
        </p:nvGraphicFramePr>
        <p:xfrm>
          <a:off x="495300" y="2130271"/>
          <a:ext cx="5765800" cy="3914930"/>
        </p:xfrm>
        <a:graphic>
          <a:graphicData uri="http://schemas.openxmlformats.org/drawingml/2006/chart">
            <c:chart xmlns:c="http://schemas.openxmlformats.org/drawingml/2006/chart" xmlns:r="http://schemas.openxmlformats.org/officeDocument/2006/relationships" r:id="rId2"/>
          </a:graphicData>
        </a:graphic>
      </p:graphicFrame>
      <p:pic>
        <p:nvPicPr>
          <p:cNvPr id="9" name="Picture 2" descr="Instagram logo blue Images - Free Download on Magnific (formerly Freepik)"/>
          <p:cNvPicPr>
            <a:picLocks noChangeAspect="1" noChangeArrowheads="1"/>
          </p:cNvPicPr>
          <p:nvPr/>
        </p:nvPicPr>
        <p:blipFill rotWithShape="1">
          <a:blip r:embed="rId3">
            <a:extLst>
              <a:ext uri="{BEBA8EAE-BF5A-486C-A8C5-ECC9F3942E4B}">
                <a14:imgProps xmlns:a14="http://schemas.microsoft.com/office/drawing/2010/main">
                  <a14:imgLayer r:embed="rId4">
                    <a14:imgEffect>
                      <a14:brightnessContrast bright="20000"/>
                    </a14:imgEffect>
                  </a14:imgLayer>
                </a14:imgProps>
              </a:ext>
              <a:ext uri="{28A0092B-C50C-407E-A947-70E740481C1C}">
                <a14:useLocalDpi xmlns:a14="http://schemas.microsoft.com/office/drawing/2010/main" val="0"/>
              </a:ext>
            </a:extLst>
          </a:blip>
          <a:srcRect l="22466" t="23995" r="23087" b="23130"/>
          <a:stretch/>
        </p:blipFill>
        <p:spPr bwMode="auto">
          <a:xfrm>
            <a:off x="544484" y="5796824"/>
            <a:ext cx="831272" cy="807264"/>
          </a:xfrm>
          <a:prstGeom prst="rect">
            <a:avLst/>
          </a:prstGeom>
          <a:noFill/>
          <a:ln w="34925">
            <a:solidFill>
              <a:srgbClr val="FFFFFF"/>
            </a:solidFill>
          </a:ln>
          <a:effectLst>
            <a:outerShdw blurRad="317500" dir="2700000" algn="ctr">
              <a:srgbClr val="000000">
                <a:alpha val="43000"/>
              </a:srgbClr>
            </a:outerShdw>
          </a:effectLst>
          <a:scene3d>
            <a:camera prst="perspectiveFront" fov="2700000">
              <a:rot lat="19086000" lon="19067999" rev="3108000"/>
            </a:camera>
            <a:lightRig rig="threePt" dir="t">
              <a:rot lat="0" lon="0" rev="0"/>
            </a:lightRig>
          </a:scene3d>
          <a:sp3d extrusionH="38100" prstMaterial="clear">
            <a:bevelT w="260350" h="50800" prst="softRound"/>
            <a:bevelB prst="softRound"/>
          </a:sp3d>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7EABAA"/>
          </a:solidFill>
          <a:ln>
            <a:solidFill>
              <a:srgbClr val="7EABAA"/>
            </a:solidFill>
          </a:ln>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spcBef>
                <a:spcPts val="0"/>
              </a:spcBef>
              <a:spcAft>
                <a:spcPts val="300"/>
              </a:spcAft>
            </a:pPr>
            <a:endParaRPr/>
          </a:p>
        </p:txBody>
      </p:sp>
      <p:sp>
        <p:nvSpPr>
          <p:cNvPr id="8" name="Rounded Rectangle 7"/>
          <p:cNvSpPr/>
          <p:nvPr/>
        </p:nvSpPr>
        <p:spPr>
          <a:xfrm>
            <a:off x="731520" y="1082397"/>
            <a:ext cx="2468880" cy="1143000"/>
          </a:xfrm>
          <a:prstGeom prst="roundRect">
            <a:avLst/>
          </a:prstGeom>
          <a:solidFill>
            <a:srgbClr val="FFFFFF"/>
          </a:solidFill>
          <a:ln>
            <a:solidFill>
              <a:srgbClr val="DCE7E4"/>
            </a:solidFill>
          </a:ln>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spcBef>
                <a:spcPts val="0"/>
              </a:spcBef>
              <a:spcAft>
                <a:spcPts val="300"/>
              </a:spcAft>
            </a:pPr>
            <a:endParaRPr/>
          </a:p>
        </p:txBody>
      </p:sp>
      <p:sp>
        <p:nvSpPr>
          <p:cNvPr id="9" name="TextBox 8"/>
          <p:cNvSpPr txBox="1"/>
          <p:nvPr/>
        </p:nvSpPr>
        <p:spPr>
          <a:xfrm>
            <a:off x="896112" y="1192125"/>
            <a:ext cx="2139696" cy="201168"/>
          </a:xfrm>
          <a:prstGeom prst="rect">
            <a:avLst/>
          </a:prstGeom>
          <a:noFill/>
        </p:spPr>
        <p:txBody>
          <a:bodyPr wrap="square" lIns="38100" tIns="25400" rIns="38100" bIns="25400" anchor="t">
            <a:spAutoFit/>
          </a:bodyPr>
          <a:lstStyle/>
          <a:p>
            <a:pPr algn="l">
              <a:spcBef>
                <a:spcPts val="0"/>
              </a:spcBef>
              <a:spcAft>
                <a:spcPts val="300"/>
              </a:spcAft>
            </a:pPr>
            <a:r>
              <a:rPr sz="1100" b="1" i="0">
                <a:solidFill>
                  <a:srgbClr val="587070"/>
                </a:solidFill>
                <a:latin typeface="Times New Roman"/>
              </a:rPr>
              <a:t>AVG TAGS / PHOTO</a:t>
            </a:r>
          </a:p>
        </p:txBody>
      </p:sp>
      <p:sp>
        <p:nvSpPr>
          <p:cNvPr id="10" name="TextBox 9"/>
          <p:cNvSpPr txBox="1"/>
          <p:nvPr/>
        </p:nvSpPr>
        <p:spPr>
          <a:xfrm>
            <a:off x="896112" y="1411581"/>
            <a:ext cx="2139696" cy="438912"/>
          </a:xfrm>
          <a:prstGeom prst="rect">
            <a:avLst/>
          </a:prstGeom>
          <a:noFill/>
        </p:spPr>
        <p:txBody>
          <a:bodyPr wrap="square" lIns="38100" tIns="25400" rIns="38100" bIns="25400" anchor="t">
            <a:spAutoFit/>
          </a:bodyPr>
          <a:lstStyle/>
          <a:p>
            <a:pPr algn="l">
              <a:spcBef>
                <a:spcPts val="0"/>
              </a:spcBef>
              <a:spcAft>
                <a:spcPts val="300"/>
              </a:spcAft>
            </a:pPr>
            <a:r>
              <a:rPr sz="1600" b="1" i="0">
                <a:solidFill>
                  <a:srgbClr val="193132"/>
                </a:solidFill>
                <a:latin typeface="Times New Roman"/>
              </a:rPr>
              <a:t>1.95</a:t>
            </a:r>
          </a:p>
        </p:txBody>
      </p:sp>
      <p:sp>
        <p:nvSpPr>
          <p:cNvPr id="11" name="TextBox 10"/>
          <p:cNvSpPr txBox="1"/>
          <p:nvPr/>
        </p:nvSpPr>
        <p:spPr>
          <a:xfrm>
            <a:off x="896112" y="1887069"/>
            <a:ext cx="2139696" cy="235962"/>
          </a:xfrm>
          <a:prstGeom prst="rect">
            <a:avLst/>
          </a:prstGeom>
          <a:noFill/>
        </p:spPr>
        <p:txBody>
          <a:bodyPr wrap="square" lIns="38100" tIns="25400" rIns="38100" bIns="25400" anchor="t">
            <a:spAutoFit/>
          </a:bodyPr>
          <a:lstStyle/>
          <a:p>
            <a:pPr algn="l">
              <a:spcBef>
                <a:spcPts val="0"/>
              </a:spcBef>
              <a:spcAft>
                <a:spcPts val="300"/>
              </a:spcAft>
            </a:pPr>
            <a:r>
              <a:rPr sz="1100" b="0" i="0" dirty="0">
                <a:solidFill>
                  <a:srgbClr val="24393A"/>
                </a:solidFill>
                <a:latin typeface="Times New Roman"/>
              </a:rPr>
              <a:t>Across all </a:t>
            </a:r>
            <a:r>
              <a:rPr sz="1200" b="0" i="0" dirty="0">
                <a:solidFill>
                  <a:srgbClr val="24393A"/>
                </a:solidFill>
                <a:latin typeface="Times New Roman"/>
              </a:rPr>
              <a:t>photos</a:t>
            </a:r>
            <a:endParaRPr sz="1100" b="0" i="0" dirty="0">
              <a:solidFill>
                <a:srgbClr val="24393A"/>
              </a:solidFill>
              <a:latin typeface="Times New Roman"/>
            </a:endParaRPr>
          </a:p>
        </p:txBody>
      </p:sp>
      <p:sp>
        <p:nvSpPr>
          <p:cNvPr id="12" name="Rounded Rectangle 11"/>
          <p:cNvSpPr/>
          <p:nvPr/>
        </p:nvSpPr>
        <p:spPr>
          <a:xfrm>
            <a:off x="4572000" y="1082397"/>
            <a:ext cx="2468880" cy="1143000"/>
          </a:xfrm>
          <a:prstGeom prst="roundRect">
            <a:avLst/>
          </a:prstGeom>
          <a:solidFill>
            <a:srgbClr val="FFFFFF"/>
          </a:solidFill>
          <a:ln>
            <a:solidFill>
              <a:srgbClr val="DCE7E4"/>
            </a:solidFill>
          </a:ln>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spcBef>
                <a:spcPts val="0"/>
              </a:spcBef>
              <a:spcAft>
                <a:spcPts val="300"/>
              </a:spcAft>
            </a:pPr>
            <a:endParaRPr/>
          </a:p>
        </p:txBody>
      </p:sp>
      <p:sp>
        <p:nvSpPr>
          <p:cNvPr id="13" name="TextBox 12"/>
          <p:cNvSpPr txBox="1"/>
          <p:nvPr/>
        </p:nvSpPr>
        <p:spPr>
          <a:xfrm>
            <a:off x="4612178" y="1207504"/>
            <a:ext cx="2139696" cy="201168"/>
          </a:xfrm>
          <a:prstGeom prst="rect">
            <a:avLst/>
          </a:prstGeom>
          <a:noFill/>
        </p:spPr>
        <p:txBody>
          <a:bodyPr wrap="square" lIns="38100" tIns="25400" rIns="38100" bIns="25400" anchor="t">
            <a:spAutoFit/>
          </a:bodyPr>
          <a:lstStyle/>
          <a:p>
            <a:pPr algn="l">
              <a:spcBef>
                <a:spcPts val="0"/>
              </a:spcBef>
              <a:spcAft>
                <a:spcPts val="300"/>
              </a:spcAft>
            </a:pPr>
            <a:r>
              <a:rPr sz="1100" b="1" i="0" dirty="0">
                <a:solidFill>
                  <a:srgbClr val="587070"/>
                </a:solidFill>
                <a:latin typeface="Times New Roman"/>
              </a:rPr>
              <a:t>TAGGED PHOTOS</a:t>
            </a:r>
          </a:p>
        </p:txBody>
      </p:sp>
      <p:sp>
        <p:nvSpPr>
          <p:cNvPr id="14" name="TextBox 13"/>
          <p:cNvSpPr txBox="1"/>
          <p:nvPr/>
        </p:nvSpPr>
        <p:spPr>
          <a:xfrm>
            <a:off x="4612178" y="1426821"/>
            <a:ext cx="2139696" cy="438912"/>
          </a:xfrm>
          <a:prstGeom prst="rect">
            <a:avLst/>
          </a:prstGeom>
          <a:noFill/>
        </p:spPr>
        <p:txBody>
          <a:bodyPr wrap="square" lIns="38100" tIns="25400" rIns="38100" bIns="25400" anchor="t">
            <a:spAutoFit/>
          </a:bodyPr>
          <a:lstStyle/>
          <a:p>
            <a:pPr algn="l">
              <a:spcBef>
                <a:spcPts val="0"/>
              </a:spcBef>
              <a:spcAft>
                <a:spcPts val="300"/>
              </a:spcAft>
            </a:pPr>
            <a:r>
              <a:rPr sz="1600" b="1" i="0" dirty="0">
                <a:solidFill>
                  <a:srgbClr val="193132"/>
                </a:solidFill>
                <a:latin typeface="Times New Roman"/>
              </a:rPr>
              <a:t>190</a:t>
            </a:r>
          </a:p>
        </p:txBody>
      </p:sp>
      <p:sp>
        <p:nvSpPr>
          <p:cNvPr id="15" name="TextBox 14"/>
          <p:cNvSpPr txBox="1"/>
          <p:nvPr/>
        </p:nvSpPr>
        <p:spPr>
          <a:xfrm>
            <a:off x="4626310" y="1873353"/>
            <a:ext cx="2139696" cy="235962"/>
          </a:xfrm>
          <a:prstGeom prst="rect">
            <a:avLst/>
          </a:prstGeom>
          <a:noFill/>
        </p:spPr>
        <p:txBody>
          <a:bodyPr wrap="square" lIns="38100" tIns="25400" rIns="38100" bIns="25400" anchor="t">
            <a:spAutoFit/>
          </a:bodyPr>
          <a:lstStyle/>
          <a:p>
            <a:pPr algn="l">
              <a:spcBef>
                <a:spcPts val="0"/>
              </a:spcBef>
              <a:spcAft>
                <a:spcPts val="300"/>
              </a:spcAft>
            </a:pPr>
            <a:r>
              <a:rPr sz="1100" b="0" i="0" dirty="0">
                <a:solidFill>
                  <a:srgbClr val="24393A"/>
                </a:solidFill>
                <a:latin typeface="Times New Roman"/>
              </a:rPr>
              <a:t>74% of all </a:t>
            </a:r>
            <a:r>
              <a:rPr sz="1200" b="0" i="0" dirty="0">
                <a:solidFill>
                  <a:srgbClr val="24393A"/>
                </a:solidFill>
                <a:latin typeface="Times New Roman"/>
              </a:rPr>
              <a:t>photos</a:t>
            </a:r>
            <a:endParaRPr sz="1100" b="0" i="0" dirty="0">
              <a:solidFill>
                <a:srgbClr val="24393A"/>
              </a:solidFill>
              <a:latin typeface="Times New Roman"/>
            </a:endParaRPr>
          </a:p>
        </p:txBody>
      </p:sp>
      <p:sp>
        <p:nvSpPr>
          <p:cNvPr id="20" name="Rounded Rectangle 19"/>
          <p:cNvSpPr/>
          <p:nvPr/>
        </p:nvSpPr>
        <p:spPr>
          <a:xfrm>
            <a:off x="8549640" y="1082397"/>
            <a:ext cx="2468880" cy="1143000"/>
          </a:xfrm>
          <a:prstGeom prst="roundRect">
            <a:avLst/>
          </a:prstGeom>
          <a:solidFill>
            <a:srgbClr val="FFFFFF"/>
          </a:solidFill>
          <a:ln>
            <a:solidFill>
              <a:srgbClr val="DCE7E4"/>
            </a:solidFill>
          </a:ln>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spcBef>
                <a:spcPts val="0"/>
              </a:spcBef>
              <a:spcAft>
                <a:spcPts val="300"/>
              </a:spcAft>
            </a:pPr>
            <a:endParaRPr/>
          </a:p>
        </p:txBody>
      </p:sp>
      <p:sp>
        <p:nvSpPr>
          <p:cNvPr id="21" name="TextBox 20"/>
          <p:cNvSpPr txBox="1"/>
          <p:nvPr/>
        </p:nvSpPr>
        <p:spPr>
          <a:xfrm>
            <a:off x="8714232" y="1192125"/>
            <a:ext cx="2139696" cy="201168"/>
          </a:xfrm>
          <a:prstGeom prst="rect">
            <a:avLst/>
          </a:prstGeom>
          <a:noFill/>
        </p:spPr>
        <p:txBody>
          <a:bodyPr wrap="square" lIns="38100" tIns="25400" rIns="38100" bIns="25400" anchor="t">
            <a:spAutoFit/>
          </a:bodyPr>
          <a:lstStyle/>
          <a:p>
            <a:pPr algn="l">
              <a:spcBef>
                <a:spcPts val="0"/>
              </a:spcBef>
              <a:spcAft>
                <a:spcPts val="300"/>
              </a:spcAft>
            </a:pPr>
            <a:r>
              <a:rPr sz="1100" b="1" i="0">
                <a:solidFill>
                  <a:srgbClr val="587070"/>
                </a:solidFill>
                <a:latin typeface="Times New Roman"/>
              </a:rPr>
              <a:t>HIGHEST AVG LIKES</a:t>
            </a:r>
          </a:p>
        </p:txBody>
      </p:sp>
      <p:sp>
        <p:nvSpPr>
          <p:cNvPr id="22" name="TextBox 21"/>
          <p:cNvSpPr txBox="1"/>
          <p:nvPr/>
        </p:nvSpPr>
        <p:spPr>
          <a:xfrm>
            <a:off x="8714232" y="1411581"/>
            <a:ext cx="2139696" cy="438912"/>
          </a:xfrm>
          <a:prstGeom prst="rect">
            <a:avLst/>
          </a:prstGeom>
          <a:noFill/>
        </p:spPr>
        <p:txBody>
          <a:bodyPr wrap="square" lIns="38100" tIns="25400" rIns="38100" bIns="25400" anchor="t">
            <a:spAutoFit/>
          </a:bodyPr>
          <a:lstStyle/>
          <a:p>
            <a:pPr algn="l">
              <a:spcBef>
                <a:spcPts val="0"/>
              </a:spcBef>
              <a:spcAft>
                <a:spcPts val="300"/>
              </a:spcAft>
            </a:pPr>
            <a:r>
              <a:rPr sz="1600" b="1" i="0">
                <a:solidFill>
                  <a:srgbClr val="193132"/>
                </a:solidFill>
                <a:latin typeface="Times New Roman"/>
              </a:rPr>
              <a:t>35.75</a:t>
            </a:r>
          </a:p>
        </p:txBody>
      </p:sp>
      <p:sp>
        <p:nvSpPr>
          <p:cNvPr id="23" name="TextBox 22"/>
          <p:cNvSpPr txBox="1"/>
          <p:nvPr/>
        </p:nvSpPr>
        <p:spPr>
          <a:xfrm>
            <a:off x="8714232" y="1887069"/>
            <a:ext cx="2139696" cy="235962"/>
          </a:xfrm>
          <a:prstGeom prst="rect">
            <a:avLst/>
          </a:prstGeom>
          <a:noFill/>
        </p:spPr>
        <p:txBody>
          <a:bodyPr wrap="square" lIns="38100" tIns="25400" rIns="38100" bIns="25400" anchor="t">
            <a:spAutoFit/>
          </a:bodyPr>
          <a:lstStyle/>
          <a:p>
            <a:pPr algn="l">
              <a:spcBef>
                <a:spcPts val="0"/>
              </a:spcBef>
              <a:spcAft>
                <a:spcPts val="300"/>
              </a:spcAft>
            </a:pPr>
            <a:r>
              <a:rPr sz="1200" b="0" i="0">
                <a:solidFill>
                  <a:srgbClr val="24393A"/>
                </a:solidFill>
                <a:latin typeface="Times New Roman"/>
              </a:rPr>
              <a:t>#dreamy</a:t>
            </a:r>
          </a:p>
        </p:txBody>
      </p:sp>
      <p:sp>
        <p:nvSpPr>
          <p:cNvPr id="24" name="TextBox 23"/>
          <p:cNvSpPr txBox="1"/>
          <p:nvPr/>
        </p:nvSpPr>
        <p:spPr>
          <a:xfrm>
            <a:off x="2130552" y="6480669"/>
            <a:ext cx="5486400" cy="235962"/>
          </a:xfrm>
          <a:prstGeom prst="rect">
            <a:avLst/>
          </a:prstGeom>
          <a:noFill/>
        </p:spPr>
        <p:txBody>
          <a:bodyPr wrap="square" lIns="38100" tIns="25400" rIns="38100" bIns="25400" anchor="t">
            <a:spAutoFit/>
          </a:bodyPr>
          <a:lstStyle/>
          <a:p>
            <a:pPr>
              <a:spcAft>
                <a:spcPts val="300"/>
              </a:spcAft>
            </a:pPr>
            <a:r>
              <a:rPr lang="en-US" sz="1200" b="1" dirty="0" smtClean="0">
                <a:solidFill>
                  <a:schemeClr val="accent5">
                    <a:lumMod val="50000"/>
                  </a:schemeClr>
                </a:solidFill>
                <a:latin typeface="Times New Roman" panose="02020603050405020304" pitchFamily="18" charset="0"/>
                <a:cs typeface="Times New Roman" panose="02020603050405020304" pitchFamily="18" charset="0"/>
              </a:rPr>
              <a:t>CHART 03. TAGS BY AVERAGE LIKES PER PHOTO (LIKES ONLY)</a:t>
            </a:r>
            <a:endParaRPr sz="1200" b="1" i="0" dirty="0">
              <a:solidFill>
                <a:schemeClr val="accent5">
                  <a:lumMod val="50000"/>
                </a:schemeClr>
              </a:solidFill>
              <a:latin typeface="Times New Roman" panose="02020603050405020304" pitchFamily="18" charset="0"/>
              <a:cs typeface="Times New Roman" panose="02020603050405020304" pitchFamily="18" charset="0"/>
            </a:endParaRPr>
          </a:p>
        </p:txBody>
      </p:sp>
      <p:sp>
        <p:nvSpPr>
          <p:cNvPr id="26" name="Rounded Rectangle 25"/>
          <p:cNvSpPr/>
          <p:nvPr/>
        </p:nvSpPr>
        <p:spPr>
          <a:xfrm>
            <a:off x="7616952" y="3154680"/>
            <a:ext cx="3794760" cy="1920240"/>
          </a:xfrm>
          <a:prstGeom prst="roundRect">
            <a:avLst/>
          </a:prstGeom>
          <a:solidFill>
            <a:srgbClr val="FFFFFF"/>
          </a:solidFill>
          <a:ln>
            <a:solidFill>
              <a:srgbClr val="DCE7E4"/>
            </a:solidFill>
          </a:ln>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spcBef>
                <a:spcPts val="0"/>
              </a:spcBef>
              <a:spcAft>
                <a:spcPts val="300"/>
              </a:spcAft>
            </a:pPr>
            <a:endParaRPr/>
          </a:p>
        </p:txBody>
      </p:sp>
      <p:sp>
        <p:nvSpPr>
          <p:cNvPr id="27" name="TextBox 26"/>
          <p:cNvSpPr txBox="1"/>
          <p:nvPr/>
        </p:nvSpPr>
        <p:spPr>
          <a:xfrm>
            <a:off x="7781544" y="3291840"/>
            <a:ext cx="3465576" cy="274320"/>
          </a:xfrm>
          <a:prstGeom prst="rect">
            <a:avLst/>
          </a:prstGeom>
          <a:noFill/>
        </p:spPr>
        <p:txBody>
          <a:bodyPr wrap="square" lIns="38100" tIns="25400" rIns="38100" bIns="25400" anchor="t">
            <a:spAutoFit/>
          </a:bodyPr>
          <a:lstStyle/>
          <a:p>
            <a:pPr algn="l">
              <a:spcBef>
                <a:spcPts val="0"/>
              </a:spcBef>
              <a:spcAft>
                <a:spcPts val="300"/>
              </a:spcAft>
            </a:pPr>
            <a:r>
              <a:rPr lang="en-IN" sz="1400" b="1" i="0" dirty="0" smtClean="0">
                <a:solidFill>
                  <a:srgbClr val="395B5E"/>
                </a:solidFill>
                <a:latin typeface="Times New Roman"/>
              </a:rPr>
              <a:t>TAKEAWAY</a:t>
            </a:r>
            <a:endParaRPr sz="1400" b="1" i="0" dirty="0">
              <a:solidFill>
                <a:srgbClr val="395B5E"/>
              </a:solidFill>
              <a:latin typeface="Times New Roman"/>
            </a:endParaRPr>
          </a:p>
        </p:txBody>
      </p:sp>
      <p:sp>
        <p:nvSpPr>
          <p:cNvPr id="28" name="TextBox 27"/>
          <p:cNvSpPr txBox="1"/>
          <p:nvPr/>
        </p:nvSpPr>
        <p:spPr>
          <a:xfrm>
            <a:off x="7781544" y="3630168"/>
            <a:ext cx="3465576" cy="636072"/>
          </a:xfrm>
          <a:prstGeom prst="rect">
            <a:avLst/>
          </a:prstGeom>
          <a:noFill/>
        </p:spPr>
        <p:txBody>
          <a:bodyPr wrap="square" lIns="38100" tIns="25400" rIns="38100" bIns="25400" anchor="t">
            <a:spAutoFit/>
          </a:bodyPr>
          <a:lstStyle/>
          <a:p>
            <a:pPr algn="l">
              <a:spcBef>
                <a:spcPts val="0"/>
              </a:spcBef>
              <a:spcAft>
                <a:spcPts val="300"/>
              </a:spcAft>
            </a:pPr>
            <a:r>
              <a:rPr sz="1200" b="0" i="0" dirty="0">
                <a:solidFill>
                  <a:srgbClr val="24393A"/>
                </a:solidFill>
                <a:latin typeface="Times New Roman"/>
              </a:rPr>
              <a:t>Use tag averages to form creative hypotheses; use total engagement to understand reach. The gap is modest, so A/B test before </a:t>
            </a:r>
            <a:r>
              <a:rPr sz="1400" b="0" i="0" dirty="0">
                <a:solidFill>
                  <a:srgbClr val="24393A"/>
                </a:solidFill>
                <a:latin typeface="Times New Roman"/>
              </a:rPr>
              <a:t>reallocating</a:t>
            </a:r>
            <a:r>
              <a:rPr sz="1200" b="0" i="0" dirty="0">
                <a:solidFill>
                  <a:srgbClr val="24393A"/>
                </a:solidFill>
                <a:latin typeface="Times New Roman"/>
              </a:rPr>
              <a:t> spend.</a:t>
            </a:r>
          </a:p>
        </p:txBody>
      </p:sp>
      <p:sp>
        <p:nvSpPr>
          <p:cNvPr id="30" name="TextBox 29"/>
          <p:cNvSpPr txBox="1"/>
          <p:nvPr/>
        </p:nvSpPr>
        <p:spPr>
          <a:xfrm>
            <a:off x="137160" y="211694"/>
            <a:ext cx="10881360" cy="420628"/>
          </a:xfrm>
          <a:prstGeom prst="rect">
            <a:avLst/>
          </a:prstGeom>
          <a:noFill/>
        </p:spPr>
        <p:txBody>
          <a:bodyPr wrap="square" lIns="38100" tIns="25400" rIns="38100" bIns="25400" anchor="t">
            <a:spAutoFit/>
          </a:bodyPr>
          <a:lstStyle/>
          <a:p>
            <a:pPr algn="l">
              <a:spcBef>
                <a:spcPts val="0"/>
              </a:spcBef>
              <a:spcAft>
                <a:spcPts val="300"/>
              </a:spcAft>
            </a:pPr>
            <a:r>
              <a:rPr lang="en-IN" sz="2400" b="1" i="0" dirty="0" smtClean="0">
                <a:solidFill>
                  <a:srgbClr val="587070"/>
                </a:solidFill>
                <a:latin typeface="Times New Roman"/>
              </a:rPr>
              <a:t>05 | OBJECTIVE FINDINGS | TAGS</a:t>
            </a:r>
            <a:endParaRPr sz="2400" b="1" i="0" dirty="0">
              <a:solidFill>
                <a:srgbClr val="587070"/>
              </a:solidFill>
              <a:latin typeface="Times New Roman"/>
            </a:endParaRPr>
          </a:p>
        </p:txBody>
      </p:sp>
      <p:pic>
        <p:nvPicPr>
          <p:cNvPr id="25" name="Picture 2" descr="Instagram logo blue Images - Free Download on Magnific (formerly Freepik)"/>
          <p:cNvPicPr>
            <a:picLocks noChangeAspect="1" noChangeArrowheads="1"/>
          </p:cNvPicPr>
          <p:nvPr/>
        </p:nvPicPr>
        <p:blipFill rotWithShape="1">
          <a:blip r:embed="rId2">
            <a:extLst>
              <a:ext uri="{BEBA8EAE-BF5A-486C-A8C5-ECC9F3942E4B}">
                <a14:imgProps xmlns:a14="http://schemas.microsoft.com/office/drawing/2010/main">
                  <a14:imgLayer r:embed="rId3">
                    <a14:imgEffect>
                      <a14:brightnessContrast bright="20000"/>
                    </a14:imgEffect>
                  </a14:imgLayer>
                </a14:imgProps>
              </a:ext>
              <a:ext uri="{28A0092B-C50C-407E-A947-70E740481C1C}">
                <a14:useLocalDpi xmlns:a14="http://schemas.microsoft.com/office/drawing/2010/main" val="0"/>
              </a:ext>
            </a:extLst>
          </a:blip>
          <a:srcRect l="22466" t="23995" r="23087" b="23130"/>
          <a:stretch/>
        </p:blipFill>
        <p:spPr bwMode="auto">
          <a:xfrm>
            <a:off x="544484" y="5796824"/>
            <a:ext cx="831272" cy="807264"/>
          </a:xfrm>
          <a:prstGeom prst="rect">
            <a:avLst/>
          </a:prstGeom>
          <a:noFill/>
          <a:ln w="34925">
            <a:solidFill>
              <a:srgbClr val="FFFFFF"/>
            </a:solidFill>
          </a:ln>
          <a:effectLst>
            <a:outerShdw blurRad="317500" dir="2700000" algn="ctr">
              <a:srgbClr val="000000">
                <a:alpha val="43000"/>
              </a:srgbClr>
            </a:outerShdw>
          </a:effectLst>
          <a:scene3d>
            <a:camera prst="perspectiveFront" fov="2700000">
              <a:rot lat="19086000" lon="19067999" rev="3108000"/>
            </a:camera>
            <a:lightRig rig="threePt" dir="t">
              <a:rot lat="0" lon="0" rev="0"/>
            </a:lightRig>
          </a:scene3d>
          <a:sp3d extrusionH="38100" prstMaterial="clear">
            <a:bevelT w="260350" h="50800" prst="softRound"/>
            <a:bevelB prst="softRound"/>
          </a:sp3d>
          <a:extLst>
            <a:ext uri="{909E8E84-426E-40DD-AFC4-6F175D3DCCD1}">
              <a14:hiddenFill xmlns:a14="http://schemas.microsoft.com/office/drawing/2010/main">
                <a:solidFill>
                  <a:srgbClr val="FFFFFF"/>
                </a:solidFill>
              </a14:hiddenFill>
            </a:ext>
          </a:extLst>
        </p:spPr>
      </p:pic>
      <p:graphicFrame>
        <p:nvGraphicFramePr>
          <p:cNvPr id="31" name="Chart 30"/>
          <p:cNvGraphicFramePr>
            <a:graphicFrameLocks/>
          </p:cNvGraphicFramePr>
          <p:nvPr>
            <p:extLst>
              <p:ext uri="{D42A27DB-BD31-4B8C-83A1-F6EECF244321}">
                <p14:modId xmlns:p14="http://schemas.microsoft.com/office/powerpoint/2010/main" val="619505647"/>
              </p:ext>
            </p:extLst>
          </p:nvPr>
        </p:nvGraphicFramePr>
        <p:xfrm>
          <a:off x="1246910" y="2573996"/>
          <a:ext cx="6205450" cy="3778278"/>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9F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7EABAA"/>
          </a:solidFill>
          <a:ln>
            <a:solidFill>
              <a:srgbClr val="7EABAA"/>
            </a:solidFill>
          </a:ln>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spcBef>
                <a:spcPts val="0"/>
              </a:spcBef>
              <a:spcAft>
                <a:spcPts val="300"/>
              </a:spcAft>
            </a:pPr>
            <a:endParaRPr/>
          </a:p>
        </p:txBody>
      </p:sp>
      <p:sp>
        <p:nvSpPr>
          <p:cNvPr id="8" name="Rounded Rectangle 7"/>
          <p:cNvSpPr/>
          <p:nvPr/>
        </p:nvSpPr>
        <p:spPr>
          <a:xfrm>
            <a:off x="777240" y="1965960"/>
            <a:ext cx="3108960" cy="1143000"/>
          </a:xfrm>
          <a:prstGeom prst="roundRect">
            <a:avLst/>
          </a:prstGeom>
          <a:solidFill>
            <a:srgbClr val="FFFFFF"/>
          </a:solidFill>
          <a:ln>
            <a:solidFill>
              <a:srgbClr val="DCE7E4"/>
            </a:solidFill>
          </a:ln>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spcBef>
                <a:spcPts val="0"/>
              </a:spcBef>
              <a:spcAft>
                <a:spcPts val="300"/>
              </a:spcAft>
            </a:pPr>
            <a:endParaRPr/>
          </a:p>
        </p:txBody>
      </p:sp>
      <p:sp>
        <p:nvSpPr>
          <p:cNvPr id="9" name="TextBox 8"/>
          <p:cNvSpPr txBox="1"/>
          <p:nvPr/>
        </p:nvSpPr>
        <p:spPr>
          <a:xfrm>
            <a:off x="941832" y="2075688"/>
            <a:ext cx="2779776" cy="201168"/>
          </a:xfrm>
          <a:prstGeom prst="rect">
            <a:avLst/>
          </a:prstGeom>
          <a:noFill/>
        </p:spPr>
        <p:txBody>
          <a:bodyPr wrap="square" lIns="38100" tIns="25400" rIns="38100" bIns="25400" anchor="t">
            <a:spAutoFit/>
          </a:bodyPr>
          <a:lstStyle/>
          <a:p>
            <a:pPr algn="l">
              <a:spcBef>
                <a:spcPts val="0"/>
              </a:spcBef>
              <a:spcAft>
                <a:spcPts val="300"/>
              </a:spcAft>
            </a:pPr>
            <a:r>
              <a:rPr sz="1100" b="1" i="0">
                <a:solidFill>
                  <a:srgbClr val="587070"/>
                </a:solidFill>
                <a:latin typeface="Times New Roman"/>
              </a:rPr>
              <a:t>POSTS VS. TOTAL ENGAGEMENT</a:t>
            </a:r>
          </a:p>
        </p:txBody>
      </p:sp>
      <p:sp>
        <p:nvSpPr>
          <p:cNvPr id="10" name="TextBox 9"/>
          <p:cNvSpPr txBox="1"/>
          <p:nvPr/>
        </p:nvSpPr>
        <p:spPr>
          <a:xfrm>
            <a:off x="941832" y="2295144"/>
            <a:ext cx="2779776" cy="438912"/>
          </a:xfrm>
          <a:prstGeom prst="rect">
            <a:avLst/>
          </a:prstGeom>
          <a:noFill/>
        </p:spPr>
        <p:txBody>
          <a:bodyPr wrap="square" lIns="38100" tIns="25400" rIns="38100" bIns="25400" anchor="t">
            <a:spAutoFit/>
          </a:bodyPr>
          <a:lstStyle/>
          <a:p>
            <a:pPr algn="l">
              <a:spcBef>
                <a:spcPts val="0"/>
              </a:spcBef>
              <a:spcAft>
                <a:spcPts val="300"/>
              </a:spcAft>
            </a:pPr>
            <a:r>
              <a:rPr sz="1600" b="1" i="0" dirty="0">
                <a:solidFill>
                  <a:srgbClr val="193132"/>
                </a:solidFill>
                <a:latin typeface="Times New Roman"/>
              </a:rPr>
              <a:t>0.998</a:t>
            </a:r>
          </a:p>
        </p:txBody>
      </p:sp>
      <p:sp>
        <p:nvSpPr>
          <p:cNvPr id="11" name="TextBox 10"/>
          <p:cNvSpPr txBox="1"/>
          <p:nvPr/>
        </p:nvSpPr>
        <p:spPr>
          <a:xfrm>
            <a:off x="941832" y="2770632"/>
            <a:ext cx="2779776" cy="235962"/>
          </a:xfrm>
          <a:prstGeom prst="rect">
            <a:avLst/>
          </a:prstGeom>
          <a:noFill/>
        </p:spPr>
        <p:txBody>
          <a:bodyPr wrap="square" lIns="38100" tIns="25400" rIns="38100" bIns="25400" anchor="t">
            <a:spAutoFit/>
          </a:bodyPr>
          <a:lstStyle/>
          <a:p>
            <a:pPr algn="l">
              <a:spcBef>
                <a:spcPts val="0"/>
              </a:spcBef>
              <a:spcAft>
                <a:spcPts val="300"/>
              </a:spcAft>
            </a:pPr>
            <a:r>
              <a:rPr sz="1200" b="0" i="0" dirty="0">
                <a:solidFill>
                  <a:srgbClr val="24393A"/>
                </a:solidFill>
                <a:latin typeface="Times New Roman"/>
              </a:rPr>
              <a:t>Very strong positive correlation</a:t>
            </a:r>
          </a:p>
        </p:txBody>
      </p:sp>
      <p:sp>
        <p:nvSpPr>
          <p:cNvPr id="12" name="Rounded Rectangle 11"/>
          <p:cNvSpPr/>
          <p:nvPr/>
        </p:nvSpPr>
        <p:spPr>
          <a:xfrm>
            <a:off x="4526280" y="1965960"/>
            <a:ext cx="3108960" cy="1143000"/>
          </a:xfrm>
          <a:prstGeom prst="roundRect">
            <a:avLst/>
          </a:prstGeom>
          <a:solidFill>
            <a:srgbClr val="FFFFFF"/>
          </a:solidFill>
          <a:ln>
            <a:solidFill>
              <a:srgbClr val="DCE7E4"/>
            </a:solidFill>
          </a:ln>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spcBef>
                <a:spcPts val="0"/>
              </a:spcBef>
              <a:spcAft>
                <a:spcPts val="300"/>
              </a:spcAft>
            </a:pPr>
            <a:endParaRPr/>
          </a:p>
        </p:txBody>
      </p:sp>
      <p:sp>
        <p:nvSpPr>
          <p:cNvPr id="13" name="TextBox 12"/>
          <p:cNvSpPr txBox="1"/>
          <p:nvPr/>
        </p:nvSpPr>
        <p:spPr>
          <a:xfrm>
            <a:off x="4690872" y="2075688"/>
            <a:ext cx="2779776" cy="201168"/>
          </a:xfrm>
          <a:prstGeom prst="rect">
            <a:avLst/>
          </a:prstGeom>
          <a:noFill/>
        </p:spPr>
        <p:txBody>
          <a:bodyPr wrap="square" lIns="38100" tIns="25400" rIns="38100" bIns="25400" anchor="t">
            <a:spAutoFit/>
          </a:bodyPr>
          <a:lstStyle/>
          <a:p>
            <a:pPr algn="l">
              <a:spcBef>
                <a:spcPts val="0"/>
              </a:spcBef>
              <a:spcAft>
                <a:spcPts val="300"/>
              </a:spcAft>
            </a:pPr>
            <a:r>
              <a:rPr sz="1100" b="1" i="0">
                <a:solidFill>
                  <a:srgbClr val="587070"/>
                </a:solidFill>
                <a:latin typeface="Times New Roman"/>
              </a:rPr>
              <a:t>LIKES VS. COMMENTS</a:t>
            </a:r>
          </a:p>
        </p:txBody>
      </p:sp>
      <p:sp>
        <p:nvSpPr>
          <p:cNvPr id="14" name="TextBox 13"/>
          <p:cNvSpPr txBox="1"/>
          <p:nvPr/>
        </p:nvSpPr>
        <p:spPr>
          <a:xfrm>
            <a:off x="4690872" y="2295144"/>
            <a:ext cx="2779776" cy="438912"/>
          </a:xfrm>
          <a:prstGeom prst="rect">
            <a:avLst/>
          </a:prstGeom>
          <a:noFill/>
        </p:spPr>
        <p:txBody>
          <a:bodyPr wrap="square" lIns="38100" tIns="25400" rIns="38100" bIns="25400" anchor="t">
            <a:spAutoFit/>
          </a:bodyPr>
          <a:lstStyle/>
          <a:p>
            <a:pPr algn="l">
              <a:spcBef>
                <a:spcPts val="0"/>
              </a:spcBef>
              <a:spcAft>
                <a:spcPts val="300"/>
              </a:spcAft>
            </a:pPr>
            <a:r>
              <a:rPr sz="1600" b="1" i="0">
                <a:solidFill>
                  <a:srgbClr val="193132"/>
                </a:solidFill>
                <a:latin typeface="Times New Roman"/>
              </a:rPr>
              <a:t>0.992</a:t>
            </a:r>
          </a:p>
        </p:txBody>
      </p:sp>
      <p:sp>
        <p:nvSpPr>
          <p:cNvPr id="15" name="TextBox 14"/>
          <p:cNvSpPr txBox="1"/>
          <p:nvPr/>
        </p:nvSpPr>
        <p:spPr>
          <a:xfrm>
            <a:off x="4690872" y="2770632"/>
            <a:ext cx="2779776" cy="235962"/>
          </a:xfrm>
          <a:prstGeom prst="rect">
            <a:avLst/>
          </a:prstGeom>
          <a:noFill/>
        </p:spPr>
        <p:txBody>
          <a:bodyPr wrap="square" lIns="38100" tIns="25400" rIns="38100" bIns="25400" anchor="t">
            <a:spAutoFit/>
          </a:bodyPr>
          <a:lstStyle/>
          <a:p>
            <a:pPr algn="l">
              <a:spcBef>
                <a:spcPts val="0"/>
              </a:spcBef>
              <a:spcAft>
                <a:spcPts val="300"/>
              </a:spcAft>
            </a:pPr>
            <a:r>
              <a:rPr sz="1200" b="0" i="0" dirty="0">
                <a:solidFill>
                  <a:srgbClr val="24393A"/>
                </a:solidFill>
                <a:latin typeface="Times New Roman"/>
              </a:rPr>
              <a:t>Very strong positive correlation</a:t>
            </a:r>
          </a:p>
        </p:txBody>
      </p:sp>
      <p:sp>
        <p:nvSpPr>
          <p:cNvPr id="20" name="Rounded Rectangle 19"/>
          <p:cNvSpPr/>
          <p:nvPr/>
        </p:nvSpPr>
        <p:spPr>
          <a:xfrm>
            <a:off x="777239" y="3657600"/>
            <a:ext cx="6260869" cy="1600200"/>
          </a:xfrm>
          <a:prstGeom prst="roundRect">
            <a:avLst/>
          </a:prstGeom>
          <a:solidFill>
            <a:srgbClr val="FFFFFF"/>
          </a:solidFill>
          <a:ln>
            <a:solidFill>
              <a:srgbClr val="DCE7E4"/>
            </a:solidFill>
          </a:ln>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spcBef>
                <a:spcPts val="0"/>
              </a:spcBef>
              <a:spcAft>
                <a:spcPts val="300"/>
              </a:spcAft>
            </a:pPr>
            <a:endParaRPr/>
          </a:p>
        </p:txBody>
      </p:sp>
      <p:sp>
        <p:nvSpPr>
          <p:cNvPr id="21" name="TextBox 20"/>
          <p:cNvSpPr txBox="1"/>
          <p:nvPr/>
        </p:nvSpPr>
        <p:spPr>
          <a:xfrm>
            <a:off x="941832" y="3794760"/>
            <a:ext cx="4791455" cy="274320"/>
          </a:xfrm>
          <a:prstGeom prst="rect">
            <a:avLst/>
          </a:prstGeom>
          <a:noFill/>
        </p:spPr>
        <p:txBody>
          <a:bodyPr wrap="square" lIns="38100" tIns="25400" rIns="38100" bIns="25400" anchor="t">
            <a:spAutoFit/>
          </a:bodyPr>
          <a:lstStyle/>
          <a:p>
            <a:pPr algn="l">
              <a:spcBef>
                <a:spcPts val="0"/>
              </a:spcBef>
              <a:spcAft>
                <a:spcPts val="300"/>
              </a:spcAft>
            </a:pPr>
            <a:r>
              <a:rPr sz="1400" b="1" i="0">
                <a:solidFill>
                  <a:srgbClr val="395B5E"/>
                </a:solidFill>
                <a:latin typeface="Times New Roman"/>
              </a:rPr>
              <a:t>WHAT IT SUGGESTS</a:t>
            </a:r>
          </a:p>
        </p:txBody>
      </p:sp>
      <p:sp>
        <p:nvSpPr>
          <p:cNvPr id="22" name="TextBox 21"/>
          <p:cNvSpPr txBox="1"/>
          <p:nvPr/>
        </p:nvSpPr>
        <p:spPr>
          <a:xfrm>
            <a:off x="941832" y="4133087"/>
            <a:ext cx="5943877" cy="849079"/>
          </a:xfrm>
          <a:prstGeom prst="rect">
            <a:avLst/>
          </a:prstGeom>
          <a:noFill/>
        </p:spPr>
        <p:txBody>
          <a:bodyPr wrap="square" lIns="38100" tIns="25400" rIns="38100" bIns="25400" anchor="t">
            <a:spAutoFit/>
          </a:bodyPr>
          <a:lstStyle/>
          <a:p>
            <a:pPr>
              <a:lnSpc>
                <a:spcPct val="150000"/>
              </a:lnSpc>
              <a:spcAft>
                <a:spcPts val="300"/>
              </a:spcAft>
            </a:pPr>
            <a:r>
              <a:rPr lang="en-US" sz="1200" dirty="0">
                <a:latin typeface="Times New Roman" panose="02020603050405020304" pitchFamily="18" charset="0"/>
                <a:cs typeface="Times New Roman" panose="02020603050405020304" pitchFamily="18" charset="0"/>
              </a:rPr>
              <a:t>Users who publish more tend to accumulate more engagement overall, which is partly built in because totals add up across posts. The stronger finding is that per-post engagement stays flat at about 63.</a:t>
            </a:r>
            <a:endParaRPr sz="1200" b="0" i="0" dirty="0">
              <a:solidFill>
                <a:srgbClr val="24393A"/>
              </a:solidFill>
              <a:latin typeface="Times New Roman" panose="02020603050405020304" pitchFamily="18" charset="0"/>
              <a:cs typeface="Times New Roman" panose="02020603050405020304" pitchFamily="18" charset="0"/>
            </a:endParaRPr>
          </a:p>
        </p:txBody>
      </p:sp>
      <p:sp>
        <p:nvSpPr>
          <p:cNvPr id="23" name="Rounded Rectangle 22"/>
          <p:cNvSpPr/>
          <p:nvPr/>
        </p:nvSpPr>
        <p:spPr>
          <a:xfrm>
            <a:off x="7470648" y="3657600"/>
            <a:ext cx="3822192" cy="1600200"/>
          </a:xfrm>
          <a:prstGeom prst="roundRect">
            <a:avLst/>
          </a:prstGeom>
          <a:solidFill>
            <a:srgbClr val="FFFFFF"/>
          </a:solidFill>
          <a:ln>
            <a:solidFill>
              <a:srgbClr val="DCE7E4"/>
            </a:solidFill>
          </a:ln>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spcBef>
                <a:spcPts val="0"/>
              </a:spcBef>
              <a:spcAft>
                <a:spcPts val="300"/>
              </a:spcAft>
            </a:pPr>
            <a:endParaRPr/>
          </a:p>
        </p:txBody>
      </p:sp>
      <p:sp>
        <p:nvSpPr>
          <p:cNvPr id="24" name="TextBox 23"/>
          <p:cNvSpPr txBox="1"/>
          <p:nvPr/>
        </p:nvSpPr>
        <p:spPr>
          <a:xfrm>
            <a:off x="7635240" y="3794759"/>
            <a:ext cx="3493007" cy="266740"/>
          </a:xfrm>
          <a:prstGeom prst="rect">
            <a:avLst/>
          </a:prstGeom>
          <a:noFill/>
        </p:spPr>
        <p:txBody>
          <a:bodyPr wrap="square" lIns="38100" tIns="25400" rIns="38100" bIns="25400" anchor="t">
            <a:spAutoFit/>
          </a:bodyPr>
          <a:lstStyle/>
          <a:p>
            <a:pPr algn="l">
              <a:spcBef>
                <a:spcPts val="0"/>
              </a:spcBef>
              <a:spcAft>
                <a:spcPts val="300"/>
              </a:spcAft>
            </a:pPr>
            <a:r>
              <a:rPr sz="1400" b="1" i="0" dirty="0">
                <a:solidFill>
                  <a:srgbClr val="395B5E"/>
                </a:solidFill>
                <a:latin typeface="Times New Roman"/>
              </a:rPr>
              <a:t>WHAT IT CANNOT SHOW</a:t>
            </a:r>
          </a:p>
        </p:txBody>
      </p:sp>
      <p:sp>
        <p:nvSpPr>
          <p:cNvPr id="25" name="TextBox 24"/>
          <p:cNvSpPr txBox="1"/>
          <p:nvPr/>
        </p:nvSpPr>
        <p:spPr>
          <a:xfrm>
            <a:off x="7635240" y="4133087"/>
            <a:ext cx="3493007" cy="849079"/>
          </a:xfrm>
          <a:prstGeom prst="rect">
            <a:avLst/>
          </a:prstGeom>
          <a:noFill/>
        </p:spPr>
        <p:txBody>
          <a:bodyPr wrap="square" lIns="38100" tIns="25400" rIns="38100" bIns="25400" anchor="t">
            <a:spAutoFit/>
          </a:bodyPr>
          <a:lstStyle/>
          <a:p>
            <a:pPr algn="l">
              <a:lnSpc>
                <a:spcPct val="150000"/>
              </a:lnSpc>
              <a:spcBef>
                <a:spcPts val="0"/>
              </a:spcBef>
              <a:spcAft>
                <a:spcPts val="300"/>
              </a:spcAft>
            </a:pPr>
            <a:r>
              <a:rPr sz="1200" b="0" i="0" dirty="0">
                <a:solidFill>
                  <a:srgbClr val="24393A"/>
                </a:solidFill>
                <a:latin typeface="Times New Roman"/>
              </a:rPr>
              <a:t>The database contains photos only, and the recorded timestamps are not useful for trend analysis. Video/reel comparisons need new fields and valid event times.</a:t>
            </a:r>
          </a:p>
        </p:txBody>
      </p:sp>
      <p:sp>
        <p:nvSpPr>
          <p:cNvPr id="26" name="TextBox 25"/>
          <p:cNvSpPr txBox="1"/>
          <p:nvPr/>
        </p:nvSpPr>
        <p:spPr>
          <a:xfrm>
            <a:off x="96982" y="222501"/>
            <a:ext cx="10881360" cy="420628"/>
          </a:xfrm>
          <a:prstGeom prst="rect">
            <a:avLst/>
          </a:prstGeom>
          <a:noFill/>
        </p:spPr>
        <p:txBody>
          <a:bodyPr wrap="square" lIns="38100" tIns="25400" rIns="38100" bIns="25400" anchor="t">
            <a:spAutoFit/>
          </a:bodyPr>
          <a:lstStyle/>
          <a:p>
            <a:pPr algn="l">
              <a:spcBef>
                <a:spcPts val="0"/>
              </a:spcBef>
              <a:spcAft>
                <a:spcPts val="300"/>
              </a:spcAft>
            </a:pPr>
            <a:r>
              <a:rPr lang="en-IN" sz="2400" b="1" i="0" dirty="0" smtClean="0">
                <a:solidFill>
                  <a:srgbClr val="587070"/>
                </a:solidFill>
                <a:latin typeface="Times New Roman"/>
              </a:rPr>
              <a:t>05 | OBJECTIVE FINDINGS | CORRELATIONS</a:t>
            </a:r>
            <a:endParaRPr sz="2400" b="1" i="0" dirty="0">
              <a:solidFill>
                <a:srgbClr val="587070"/>
              </a:solidFill>
              <a:latin typeface="Times New Roman"/>
            </a:endParaRPr>
          </a:p>
        </p:txBody>
      </p:sp>
      <p:pic>
        <p:nvPicPr>
          <p:cNvPr id="18" name="Picture 2" descr="Instagram logo blue Images - Free Download on Magnific (formerly Freepik)"/>
          <p:cNvPicPr>
            <a:picLocks noChangeAspect="1" noChangeArrowheads="1"/>
          </p:cNvPicPr>
          <p:nvPr/>
        </p:nvPicPr>
        <p:blipFill rotWithShape="1">
          <a:blip r:embed="rId2">
            <a:extLst>
              <a:ext uri="{BEBA8EAE-BF5A-486C-A8C5-ECC9F3942E4B}">
                <a14:imgProps xmlns:a14="http://schemas.microsoft.com/office/drawing/2010/main">
                  <a14:imgLayer r:embed="rId3">
                    <a14:imgEffect>
                      <a14:brightnessContrast bright="20000"/>
                    </a14:imgEffect>
                  </a14:imgLayer>
                </a14:imgProps>
              </a:ext>
              <a:ext uri="{28A0092B-C50C-407E-A947-70E740481C1C}">
                <a14:useLocalDpi xmlns:a14="http://schemas.microsoft.com/office/drawing/2010/main" val="0"/>
              </a:ext>
            </a:extLst>
          </a:blip>
          <a:srcRect l="22466" t="23995" r="23087" b="23130"/>
          <a:stretch/>
        </p:blipFill>
        <p:spPr bwMode="auto">
          <a:xfrm>
            <a:off x="544484" y="5796824"/>
            <a:ext cx="831272" cy="807264"/>
          </a:xfrm>
          <a:prstGeom prst="rect">
            <a:avLst/>
          </a:prstGeom>
          <a:noFill/>
          <a:ln w="34925">
            <a:solidFill>
              <a:srgbClr val="FFFFFF"/>
            </a:solidFill>
          </a:ln>
          <a:effectLst>
            <a:outerShdw blurRad="317500" dir="2700000" algn="ctr">
              <a:srgbClr val="000000">
                <a:alpha val="43000"/>
              </a:srgbClr>
            </a:outerShdw>
          </a:effectLst>
          <a:scene3d>
            <a:camera prst="perspectiveFront" fov="2700000">
              <a:rot lat="19086000" lon="19067999" rev="3108000"/>
            </a:camera>
            <a:lightRig rig="threePt" dir="t">
              <a:rot lat="0" lon="0" rev="0"/>
            </a:lightRig>
          </a:scene3d>
          <a:sp3d extrusionH="38100" prstMaterial="clear">
            <a:bevelT w="260350" h="50800" prst="softRound"/>
            <a:bevelB prst="softRound"/>
          </a:sp3d>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9F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7EABAA"/>
          </a:solidFill>
          <a:ln>
            <a:solidFill>
              <a:srgbClr val="7EABAA"/>
            </a:solidFill>
          </a:ln>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spcBef>
                <a:spcPts val="0"/>
              </a:spcBef>
              <a:spcAft>
                <a:spcPts val="300"/>
              </a:spcAft>
            </a:pPr>
            <a:endParaRPr/>
          </a:p>
        </p:txBody>
      </p:sp>
      <p:graphicFrame>
        <p:nvGraphicFramePr>
          <p:cNvPr id="8" name="Chart 7"/>
          <p:cNvGraphicFramePr>
            <a:graphicFrameLocks noGrp="1"/>
          </p:cNvGraphicFramePr>
          <p:nvPr>
            <p:extLst>
              <p:ext uri="{D42A27DB-BD31-4B8C-83A1-F6EECF244321}">
                <p14:modId xmlns:p14="http://schemas.microsoft.com/office/powerpoint/2010/main" val="933901684"/>
              </p:ext>
            </p:extLst>
          </p:nvPr>
        </p:nvGraphicFramePr>
        <p:xfrm>
          <a:off x="731520" y="1783080"/>
          <a:ext cx="5577840" cy="4114800"/>
        </p:xfrm>
        <a:graphic>
          <a:graphicData uri="http://schemas.openxmlformats.org/drawingml/2006/chart">
            <c:chart xmlns:c="http://schemas.openxmlformats.org/drawingml/2006/chart" xmlns:r="http://schemas.openxmlformats.org/officeDocument/2006/relationships" r:id="rId2"/>
          </a:graphicData>
        </a:graphic>
      </p:graphicFrame>
      <p:sp>
        <p:nvSpPr>
          <p:cNvPr id="9" name="Rounded Rectangle 8"/>
          <p:cNvSpPr/>
          <p:nvPr/>
        </p:nvSpPr>
        <p:spPr>
          <a:xfrm>
            <a:off x="6400800" y="1828800"/>
            <a:ext cx="4892040" cy="749808"/>
          </a:xfrm>
          <a:prstGeom prst="roundRect">
            <a:avLst/>
          </a:prstGeom>
          <a:solidFill>
            <a:srgbClr val="FFFFFF"/>
          </a:solidFill>
          <a:ln>
            <a:solidFill>
              <a:srgbClr val="DCE7E4"/>
            </a:solidFill>
          </a:ln>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spcBef>
                <a:spcPts val="0"/>
              </a:spcBef>
              <a:spcAft>
                <a:spcPts val="300"/>
              </a:spcAft>
            </a:pPr>
            <a:endParaRPr/>
          </a:p>
        </p:txBody>
      </p:sp>
      <p:sp>
        <p:nvSpPr>
          <p:cNvPr id="10" name="TextBox 9"/>
          <p:cNvSpPr txBox="1"/>
          <p:nvPr/>
        </p:nvSpPr>
        <p:spPr>
          <a:xfrm>
            <a:off x="6565392" y="1984248"/>
            <a:ext cx="502920" cy="235962"/>
          </a:xfrm>
          <a:prstGeom prst="rect">
            <a:avLst/>
          </a:prstGeom>
          <a:noFill/>
        </p:spPr>
        <p:txBody>
          <a:bodyPr wrap="square" lIns="38100" tIns="25400" rIns="38100" bIns="25400" anchor="t">
            <a:spAutoFit/>
          </a:bodyPr>
          <a:lstStyle/>
          <a:p>
            <a:pPr algn="l">
              <a:spcBef>
                <a:spcPts val="0"/>
              </a:spcBef>
              <a:spcAft>
                <a:spcPts val="300"/>
              </a:spcAft>
            </a:pPr>
            <a:r>
              <a:rPr sz="1200" b="1" i="0" dirty="0">
                <a:solidFill>
                  <a:srgbClr val="587070"/>
                </a:solidFill>
                <a:latin typeface="Times New Roman"/>
              </a:rPr>
              <a:t>13</a:t>
            </a:r>
          </a:p>
        </p:txBody>
      </p:sp>
      <p:sp>
        <p:nvSpPr>
          <p:cNvPr id="11" name="TextBox 10"/>
          <p:cNvSpPr txBox="1"/>
          <p:nvPr/>
        </p:nvSpPr>
        <p:spPr>
          <a:xfrm>
            <a:off x="7178040" y="1938528"/>
            <a:ext cx="1463040" cy="235962"/>
          </a:xfrm>
          <a:prstGeom prst="rect">
            <a:avLst/>
          </a:prstGeom>
          <a:noFill/>
        </p:spPr>
        <p:txBody>
          <a:bodyPr wrap="square" lIns="38100" tIns="25400" rIns="38100" bIns="25400" anchor="t">
            <a:spAutoFit/>
          </a:bodyPr>
          <a:lstStyle/>
          <a:p>
            <a:pPr algn="l">
              <a:spcBef>
                <a:spcPts val="0"/>
              </a:spcBef>
              <a:spcAft>
                <a:spcPts val="300"/>
              </a:spcAft>
            </a:pPr>
            <a:r>
              <a:rPr sz="1200" b="1" i="0" dirty="0">
                <a:solidFill>
                  <a:srgbClr val="587070"/>
                </a:solidFill>
                <a:latin typeface="Times New Roman"/>
              </a:rPr>
              <a:t>SILENT</a:t>
            </a:r>
          </a:p>
        </p:txBody>
      </p:sp>
      <p:sp>
        <p:nvSpPr>
          <p:cNvPr id="12" name="TextBox 11"/>
          <p:cNvSpPr txBox="1"/>
          <p:nvPr/>
        </p:nvSpPr>
        <p:spPr>
          <a:xfrm>
            <a:off x="8686800" y="1938528"/>
            <a:ext cx="2377440" cy="235962"/>
          </a:xfrm>
          <a:prstGeom prst="rect">
            <a:avLst/>
          </a:prstGeom>
          <a:noFill/>
        </p:spPr>
        <p:txBody>
          <a:bodyPr wrap="square" lIns="38100" tIns="25400" rIns="38100" bIns="25400" anchor="t">
            <a:spAutoFit/>
          </a:bodyPr>
          <a:lstStyle/>
          <a:p>
            <a:pPr algn="l">
              <a:spcBef>
                <a:spcPts val="0"/>
              </a:spcBef>
              <a:spcAft>
                <a:spcPts val="300"/>
              </a:spcAft>
            </a:pPr>
            <a:r>
              <a:rPr sz="1200" b="0" i="0" dirty="0">
                <a:solidFill>
                  <a:srgbClr val="24393A"/>
                </a:solidFill>
                <a:latin typeface="Times New Roman"/>
              </a:rPr>
              <a:t>No posts or reactions</a:t>
            </a:r>
          </a:p>
        </p:txBody>
      </p:sp>
      <p:sp>
        <p:nvSpPr>
          <p:cNvPr id="13" name="TextBox 12"/>
          <p:cNvSpPr txBox="1"/>
          <p:nvPr/>
        </p:nvSpPr>
        <p:spPr>
          <a:xfrm>
            <a:off x="7178040" y="2212848"/>
            <a:ext cx="3749039" cy="235962"/>
          </a:xfrm>
          <a:prstGeom prst="rect">
            <a:avLst/>
          </a:prstGeom>
          <a:noFill/>
        </p:spPr>
        <p:txBody>
          <a:bodyPr wrap="square" lIns="38100" tIns="25400" rIns="38100" bIns="25400" anchor="t">
            <a:spAutoFit/>
          </a:bodyPr>
          <a:lstStyle/>
          <a:p>
            <a:pPr algn="l">
              <a:spcBef>
                <a:spcPts val="0"/>
              </a:spcBef>
              <a:spcAft>
                <a:spcPts val="300"/>
              </a:spcAft>
            </a:pPr>
            <a:r>
              <a:rPr sz="1200" b="0" i="0" dirty="0">
                <a:solidFill>
                  <a:srgbClr val="24393A"/>
                </a:solidFill>
                <a:latin typeface="Times New Roman"/>
              </a:rPr>
              <a:t>Onboard; suggest accounts to follow</a:t>
            </a:r>
          </a:p>
        </p:txBody>
      </p:sp>
      <p:sp>
        <p:nvSpPr>
          <p:cNvPr id="14" name="Rounded Rectangle 13"/>
          <p:cNvSpPr/>
          <p:nvPr/>
        </p:nvSpPr>
        <p:spPr>
          <a:xfrm>
            <a:off x="6400800" y="2743200"/>
            <a:ext cx="4892040" cy="749808"/>
          </a:xfrm>
          <a:prstGeom prst="roundRect">
            <a:avLst/>
          </a:prstGeom>
          <a:solidFill>
            <a:srgbClr val="FFFFFF"/>
          </a:solidFill>
          <a:ln>
            <a:solidFill>
              <a:srgbClr val="DCE7E4"/>
            </a:solidFill>
          </a:ln>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spcBef>
                <a:spcPts val="0"/>
              </a:spcBef>
              <a:spcAft>
                <a:spcPts val="300"/>
              </a:spcAft>
            </a:pPr>
            <a:endParaRPr/>
          </a:p>
        </p:txBody>
      </p:sp>
      <p:sp>
        <p:nvSpPr>
          <p:cNvPr id="15" name="TextBox 14"/>
          <p:cNvSpPr txBox="1"/>
          <p:nvPr/>
        </p:nvSpPr>
        <p:spPr>
          <a:xfrm>
            <a:off x="6565392" y="2898648"/>
            <a:ext cx="502920" cy="235962"/>
          </a:xfrm>
          <a:prstGeom prst="rect">
            <a:avLst/>
          </a:prstGeom>
          <a:noFill/>
        </p:spPr>
        <p:txBody>
          <a:bodyPr wrap="square" lIns="38100" tIns="25400" rIns="38100" bIns="25400" anchor="t">
            <a:spAutoFit/>
          </a:bodyPr>
          <a:lstStyle/>
          <a:p>
            <a:pPr algn="l">
              <a:spcBef>
                <a:spcPts val="0"/>
              </a:spcBef>
              <a:spcAft>
                <a:spcPts val="300"/>
              </a:spcAft>
            </a:pPr>
            <a:r>
              <a:rPr sz="1200" b="1" i="0" dirty="0">
                <a:solidFill>
                  <a:srgbClr val="587070"/>
                </a:solidFill>
                <a:latin typeface="Times New Roman"/>
              </a:rPr>
              <a:t>13</a:t>
            </a:r>
          </a:p>
        </p:txBody>
      </p:sp>
      <p:sp>
        <p:nvSpPr>
          <p:cNvPr id="16" name="TextBox 15"/>
          <p:cNvSpPr txBox="1"/>
          <p:nvPr/>
        </p:nvSpPr>
        <p:spPr>
          <a:xfrm>
            <a:off x="7178040" y="2852928"/>
            <a:ext cx="1463040" cy="235962"/>
          </a:xfrm>
          <a:prstGeom prst="rect">
            <a:avLst/>
          </a:prstGeom>
          <a:noFill/>
        </p:spPr>
        <p:txBody>
          <a:bodyPr wrap="square" lIns="38100" tIns="25400" rIns="38100" bIns="25400" anchor="t">
            <a:spAutoFit/>
          </a:bodyPr>
          <a:lstStyle/>
          <a:p>
            <a:pPr algn="l">
              <a:spcBef>
                <a:spcPts val="0"/>
              </a:spcBef>
              <a:spcAft>
                <a:spcPts val="300"/>
              </a:spcAft>
            </a:pPr>
            <a:r>
              <a:rPr sz="1200" b="1" i="0" dirty="0">
                <a:solidFill>
                  <a:srgbClr val="587070"/>
                </a:solidFill>
                <a:latin typeface="Times New Roman"/>
              </a:rPr>
              <a:t>WATCHERS</a:t>
            </a:r>
          </a:p>
        </p:txBody>
      </p:sp>
      <p:sp>
        <p:nvSpPr>
          <p:cNvPr id="17" name="TextBox 16"/>
          <p:cNvSpPr txBox="1"/>
          <p:nvPr/>
        </p:nvSpPr>
        <p:spPr>
          <a:xfrm>
            <a:off x="8686800" y="2852928"/>
            <a:ext cx="2377440" cy="235962"/>
          </a:xfrm>
          <a:prstGeom prst="rect">
            <a:avLst/>
          </a:prstGeom>
          <a:noFill/>
        </p:spPr>
        <p:txBody>
          <a:bodyPr wrap="square" lIns="38100" tIns="25400" rIns="38100" bIns="25400" anchor="t">
            <a:spAutoFit/>
          </a:bodyPr>
          <a:lstStyle/>
          <a:p>
            <a:pPr algn="l">
              <a:spcBef>
                <a:spcPts val="0"/>
              </a:spcBef>
              <a:spcAft>
                <a:spcPts val="300"/>
              </a:spcAft>
            </a:pPr>
            <a:r>
              <a:rPr sz="1200" b="0" i="0" dirty="0">
                <a:solidFill>
                  <a:srgbClr val="24393A"/>
                </a:solidFill>
                <a:latin typeface="Times New Roman"/>
              </a:rPr>
              <a:t>React, but never post</a:t>
            </a:r>
          </a:p>
        </p:txBody>
      </p:sp>
      <p:sp>
        <p:nvSpPr>
          <p:cNvPr id="18" name="TextBox 17"/>
          <p:cNvSpPr txBox="1"/>
          <p:nvPr/>
        </p:nvSpPr>
        <p:spPr>
          <a:xfrm>
            <a:off x="7178040" y="3127248"/>
            <a:ext cx="3749039" cy="235962"/>
          </a:xfrm>
          <a:prstGeom prst="rect">
            <a:avLst/>
          </a:prstGeom>
          <a:noFill/>
        </p:spPr>
        <p:txBody>
          <a:bodyPr wrap="square" lIns="38100" tIns="25400" rIns="38100" bIns="25400" anchor="t">
            <a:spAutoFit/>
          </a:bodyPr>
          <a:lstStyle/>
          <a:p>
            <a:pPr algn="l">
              <a:spcBef>
                <a:spcPts val="0"/>
              </a:spcBef>
              <a:spcAft>
                <a:spcPts val="300"/>
              </a:spcAft>
            </a:pPr>
            <a:r>
              <a:rPr sz="1200" b="0" i="0" dirty="0">
                <a:solidFill>
                  <a:srgbClr val="24393A"/>
                </a:solidFill>
                <a:latin typeface="Times New Roman"/>
              </a:rPr>
              <a:t>Prompt a first low-effort post</a:t>
            </a:r>
          </a:p>
        </p:txBody>
      </p:sp>
      <p:sp>
        <p:nvSpPr>
          <p:cNvPr id="19" name="Rounded Rectangle 18"/>
          <p:cNvSpPr/>
          <p:nvPr/>
        </p:nvSpPr>
        <p:spPr>
          <a:xfrm>
            <a:off x="6400800" y="3657600"/>
            <a:ext cx="4892040" cy="749808"/>
          </a:xfrm>
          <a:prstGeom prst="roundRect">
            <a:avLst/>
          </a:prstGeom>
          <a:solidFill>
            <a:srgbClr val="FFFFFF"/>
          </a:solidFill>
          <a:ln>
            <a:solidFill>
              <a:srgbClr val="DCE7E4"/>
            </a:solidFill>
          </a:ln>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spcBef>
                <a:spcPts val="0"/>
              </a:spcBef>
              <a:spcAft>
                <a:spcPts val="300"/>
              </a:spcAft>
            </a:pPr>
            <a:endParaRPr/>
          </a:p>
        </p:txBody>
      </p:sp>
      <p:sp>
        <p:nvSpPr>
          <p:cNvPr id="20" name="TextBox 19"/>
          <p:cNvSpPr txBox="1"/>
          <p:nvPr/>
        </p:nvSpPr>
        <p:spPr>
          <a:xfrm>
            <a:off x="6565392" y="3813048"/>
            <a:ext cx="502920" cy="235962"/>
          </a:xfrm>
          <a:prstGeom prst="rect">
            <a:avLst/>
          </a:prstGeom>
          <a:noFill/>
        </p:spPr>
        <p:txBody>
          <a:bodyPr wrap="square" lIns="38100" tIns="25400" rIns="38100" bIns="25400" anchor="t">
            <a:spAutoFit/>
          </a:bodyPr>
          <a:lstStyle/>
          <a:p>
            <a:pPr algn="l">
              <a:spcBef>
                <a:spcPts val="0"/>
              </a:spcBef>
              <a:spcAft>
                <a:spcPts val="300"/>
              </a:spcAft>
            </a:pPr>
            <a:r>
              <a:rPr sz="1200" b="1" i="0" dirty="0">
                <a:solidFill>
                  <a:srgbClr val="587070"/>
                </a:solidFill>
                <a:latin typeface="Times New Roman"/>
              </a:rPr>
              <a:t>10</a:t>
            </a:r>
          </a:p>
        </p:txBody>
      </p:sp>
      <p:sp>
        <p:nvSpPr>
          <p:cNvPr id="21" name="TextBox 20"/>
          <p:cNvSpPr txBox="1"/>
          <p:nvPr/>
        </p:nvSpPr>
        <p:spPr>
          <a:xfrm>
            <a:off x="7178040" y="3767328"/>
            <a:ext cx="1463040" cy="235962"/>
          </a:xfrm>
          <a:prstGeom prst="rect">
            <a:avLst/>
          </a:prstGeom>
          <a:noFill/>
        </p:spPr>
        <p:txBody>
          <a:bodyPr wrap="square" lIns="38100" tIns="25400" rIns="38100" bIns="25400" anchor="t">
            <a:spAutoFit/>
          </a:bodyPr>
          <a:lstStyle/>
          <a:p>
            <a:pPr algn="l">
              <a:spcBef>
                <a:spcPts val="0"/>
              </a:spcBef>
              <a:spcAft>
                <a:spcPts val="300"/>
              </a:spcAft>
            </a:pPr>
            <a:r>
              <a:rPr sz="1200" b="1" i="0" dirty="0">
                <a:solidFill>
                  <a:srgbClr val="587070"/>
                </a:solidFill>
                <a:latin typeface="Times New Roman"/>
              </a:rPr>
              <a:t>BROADCASTERS</a:t>
            </a:r>
          </a:p>
        </p:txBody>
      </p:sp>
      <p:sp>
        <p:nvSpPr>
          <p:cNvPr id="22" name="TextBox 21"/>
          <p:cNvSpPr txBox="1"/>
          <p:nvPr/>
        </p:nvSpPr>
        <p:spPr>
          <a:xfrm>
            <a:off x="8686800" y="3767328"/>
            <a:ext cx="2377440" cy="235962"/>
          </a:xfrm>
          <a:prstGeom prst="rect">
            <a:avLst/>
          </a:prstGeom>
          <a:noFill/>
        </p:spPr>
        <p:txBody>
          <a:bodyPr wrap="square" lIns="38100" tIns="25400" rIns="38100" bIns="25400" anchor="t">
            <a:spAutoFit/>
          </a:bodyPr>
          <a:lstStyle/>
          <a:p>
            <a:pPr algn="l">
              <a:spcBef>
                <a:spcPts val="0"/>
              </a:spcBef>
              <a:spcAft>
                <a:spcPts val="300"/>
              </a:spcAft>
            </a:pPr>
            <a:r>
              <a:rPr sz="1200" b="0" i="0" dirty="0">
                <a:solidFill>
                  <a:srgbClr val="24393A"/>
                </a:solidFill>
                <a:latin typeface="Times New Roman"/>
              </a:rPr>
              <a:t>Post, but never react</a:t>
            </a:r>
          </a:p>
        </p:txBody>
      </p:sp>
      <p:sp>
        <p:nvSpPr>
          <p:cNvPr id="23" name="TextBox 22"/>
          <p:cNvSpPr txBox="1"/>
          <p:nvPr/>
        </p:nvSpPr>
        <p:spPr>
          <a:xfrm>
            <a:off x="7178040" y="4041648"/>
            <a:ext cx="3749039" cy="235962"/>
          </a:xfrm>
          <a:prstGeom prst="rect">
            <a:avLst/>
          </a:prstGeom>
          <a:noFill/>
        </p:spPr>
        <p:txBody>
          <a:bodyPr wrap="square" lIns="38100" tIns="25400" rIns="38100" bIns="25400" anchor="t">
            <a:spAutoFit/>
          </a:bodyPr>
          <a:lstStyle/>
          <a:p>
            <a:pPr algn="l">
              <a:spcBef>
                <a:spcPts val="0"/>
              </a:spcBef>
              <a:spcAft>
                <a:spcPts val="300"/>
              </a:spcAft>
            </a:pPr>
            <a:r>
              <a:rPr sz="1200" b="0" i="0" dirty="0">
                <a:solidFill>
                  <a:srgbClr val="24393A"/>
                </a:solidFill>
                <a:latin typeface="Times New Roman"/>
              </a:rPr>
              <a:t>Show who engaged; nudge reciprocity</a:t>
            </a:r>
          </a:p>
        </p:txBody>
      </p:sp>
      <p:sp>
        <p:nvSpPr>
          <p:cNvPr id="24" name="Rounded Rectangle 23"/>
          <p:cNvSpPr/>
          <p:nvPr/>
        </p:nvSpPr>
        <p:spPr>
          <a:xfrm>
            <a:off x="6400800" y="4572000"/>
            <a:ext cx="4892040" cy="749808"/>
          </a:xfrm>
          <a:prstGeom prst="roundRect">
            <a:avLst/>
          </a:prstGeom>
          <a:solidFill>
            <a:srgbClr val="FFFFFF"/>
          </a:solidFill>
          <a:ln>
            <a:solidFill>
              <a:srgbClr val="DCE7E4"/>
            </a:solidFill>
          </a:ln>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spcBef>
                <a:spcPts val="0"/>
              </a:spcBef>
              <a:spcAft>
                <a:spcPts val="300"/>
              </a:spcAft>
            </a:pPr>
            <a:endParaRPr/>
          </a:p>
        </p:txBody>
      </p:sp>
      <p:sp>
        <p:nvSpPr>
          <p:cNvPr id="25" name="TextBox 24"/>
          <p:cNvSpPr txBox="1"/>
          <p:nvPr/>
        </p:nvSpPr>
        <p:spPr>
          <a:xfrm>
            <a:off x="6565392" y="4727448"/>
            <a:ext cx="502920" cy="235962"/>
          </a:xfrm>
          <a:prstGeom prst="rect">
            <a:avLst/>
          </a:prstGeom>
          <a:noFill/>
        </p:spPr>
        <p:txBody>
          <a:bodyPr wrap="square" lIns="38100" tIns="25400" rIns="38100" bIns="25400" anchor="t">
            <a:spAutoFit/>
          </a:bodyPr>
          <a:lstStyle/>
          <a:p>
            <a:pPr algn="l">
              <a:spcBef>
                <a:spcPts val="0"/>
              </a:spcBef>
              <a:spcAft>
                <a:spcPts val="300"/>
              </a:spcAft>
            </a:pPr>
            <a:r>
              <a:rPr sz="1200" b="1" i="0" dirty="0">
                <a:solidFill>
                  <a:srgbClr val="587070"/>
                </a:solidFill>
                <a:latin typeface="Times New Roman"/>
              </a:rPr>
              <a:t>64</a:t>
            </a:r>
          </a:p>
        </p:txBody>
      </p:sp>
      <p:sp>
        <p:nvSpPr>
          <p:cNvPr id="26" name="TextBox 25"/>
          <p:cNvSpPr txBox="1"/>
          <p:nvPr/>
        </p:nvSpPr>
        <p:spPr>
          <a:xfrm>
            <a:off x="7178040" y="4681728"/>
            <a:ext cx="1463040" cy="235962"/>
          </a:xfrm>
          <a:prstGeom prst="rect">
            <a:avLst/>
          </a:prstGeom>
          <a:noFill/>
        </p:spPr>
        <p:txBody>
          <a:bodyPr wrap="square" lIns="38100" tIns="25400" rIns="38100" bIns="25400" anchor="t">
            <a:spAutoFit/>
          </a:bodyPr>
          <a:lstStyle/>
          <a:p>
            <a:pPr algn="l">
              <a:spcBef>
                <a:spcPts val="0"/>
              </a:spcBef>
              <a:spcAft>
                <a:spcPts val="300"/>
              </a:spcAft>
            </a:pPr>
            <a:r>
              <a:rPr sz="1200" b="1" i="0" dirty="0">
                <a:solidFill>
                  <a:srgbClr val="587070"/>
                </a:solidFill>
                <a:latin typeface="Times New Roman"/>
              </a:rPr>
              <a:t>POSTERS</a:t>
            </a:r>
          </a:p>
        </p:txBody>
      </p:sp>
      <p:sp>
        <p:nvSpPr>
          <p:cNvPr id="27" name="TextBox 26"/>
          <p:cNvSpPr txBox="1"/>
          <p:nvPr/>
        </p:nvSpPr>
        <p:spPr>
          <a:xfrm>
            <a:off x="8686800" y="4681728"/>
            <a:ext cx="2377440" cy="235962"/>
          </a:xfrm>
          <a:prstGeom prst="rect">
            <a:avLst/>
          </a:prstGeom>
          <a:noFill/>
        </p:spPr>
        <p:txBody>
          <a:bodyPr wrap="square" lIns="38100" tIns="25400" rIns="38100" bIns="25400" anchor="t">
            <a:spAutoFit/>
          </a:bodyPr>
          <a:lstStyle/>
          <a:p>
            <a:pPr algn="l">
              <a:spcBef>
                <a:spcPts val="0"/>
              </a:spcBef>
              <a:spcAft>
                <a:spcPts val="300"/>
              </a:spcAft>
            </a:pPr>
            <a:r>
              <a:rPr sz="1200" b="0" i="0" dirty="0">
                <a:solidFill>
                  <a:srgbClr val="24393A"/>
                </a:solidFill>
                <a:latin typeface="Times New Roman"/>
              </a:rPr>
              <a:t>Regular / occasional creators</a:t>
            </a:r>
          </a:p>
        </p:txBody>
      </p:sp>
      <p:sp>
        <p:nvSpPr>
          <p:cNvPr id="28" name="TextBox 27"/>
          <p:cNvSpPr txBox="1"/>
          <p:nvPr/>
        </p:nvSpPr>
        <p:spPr>
          <a:xfrm>
            <a:off x="7178040" y="4956048"/>
            <a:ext cx="3749039" cy="235962"/>
          </a:xfrm>
          <a:prstGeom prst="rect">
            <a:avLst/>
          </a:prstGeom>
          <a:noFill/>
        </p:spPr>
        <p:txBody>
          <a:bodyPr wrap="square" lIns="38100" tIns="25400" rIns="38100" bIns="25400" anchor="t">
            <a:spAutoFit/>
          </a:bodyPr>
          <a:lstStyle/>
          <a:p>
            <a:pPr algn="l">
              <a:spcBef>
                <a:spcPts val="0"/>
              </a:spcBef>
              <a:spcAft>
                <a:spcPts val="300"/>
              </a:spcAft>
            </a:pPr>
            <a:r>
              <a:rPr sz="1200" b="0" i="0" dirty="0" err="1">
                <a:solidFill>
                  <a:srgbClr val="24393A"/>
                </a:solidFill>
                <a:latin typeface="Times New Roman"/>
              </a:rPr>
              <a:t>Personalise</a:t>
            </a:r>
            <a:r>
              <a:rPr sz="1200" b="0" i="0" dirty="0">
                <a:solidFill>
                  <a:srgbClr val="24393A"/>
                </a:solidFill>
                <a:latin typeface="Times New Roman"/>
              </a:rPr>
              <a:t> by tags; offer creator tools</a:t>
            </a:r>
          </a:p>
        </p:txBody>
      </p:sp>
      <p:sp>
        <p:nvSpPr>
          <p:cNvPr id="29" name="TextBox 28"/>
          <p:cNvSpPr txBox="1"/>
          <p:nvPr/>
        </p:nvSpPr>
        <p:spPr>
          <a:xfrm>
            <a:off x="45719" y="267666"/>
            <a:ext cx="10881360" cy="420628"/>
          </a:xfrm>
          <a:prstGeom prst="rect">
            <a:avLst/>
          </a:prstGeom>
          <a:noFill/>
        </p:spPr>
        <p:txBody>
          <a:bodyPr wrap="square" lIns="38100" tIns="25400" rIns="38100" bIns="25400" anchor="t">
            <a:spAutoFit/>
          </a:bodyPr>
          <a:lstStyle/>
          <a:p>
            <a:pPr algn="l">
              <a:spcBef>
                <a:spcPts val="0"/>
              </a:spcBef>
              <a:spcAft>
                <a:spcPts val="300"/>
              </a:spcAft>
            </a:pPr>
            <a:r>
              <a:rPr lang="en-IN" sz="2400" b="1" i="0" dirty="0" smtClean="0">
                <a:solidFill>
                  <a:srgbClr val="587070"/>
                </a:solidFill>
                <a:latin typeface="Times New Roman"/>
              </a:rPr>
              <a:t>05 | OBJECTIVE FINDINGS | BEHAVIOUR BASED</a:t>
            </a:r>
            <a:endParaRPr sz="2400" b="1" i="0" dirty="0">
              <a:solidFill>
                <a:srgbClr val="587070"/>
              </a:solidFill>
              <a:latin typeface="Times New Roman"/>
            </a:endParaRPr>
          </a:p>
        </p:txBody>
      </p:sp>
      <p:sp>
        <p:nvSpPr>
          <p:cNvPr id="31" name="Rectangle 30"/>
          <p:cNvSpPr/>
          <p:nvPr/>
        </p:nvSpPr>
        <p:spPr>
          <a:xfrm>
            <a:off x="1375756" y="6114357"/>
            <a:ext cx="6096000" cy="276999"/>
          </a:xfrm>
          <a:prstGeom prst="rect">
            <a:avLst/>
          </a:prstGeom>
        </p:spPr>
        <p:txBody>
          <a:bodyPr>
            <a:spAutoFit/>
          </a:bodyPr>
          <a:lstStyle/>
          <a:p>
            <a:pPr algn="ctr">
              <a:defRPr sz="2160" b="1" i="0" u="none" strike="noStrike" kern="1200" baseline="0">
                <a:solidFill>
                  <a:prstClr val="black"/>
                </a:solidFill>
                <a:latin typeface="+mn-lt"/>
                <a:ea typeface="+mn-ea"/>
                <a:cs typeface="+mn-cs"/>
              </a:defRPr>
            </a:pPr>
            <a:r>
              <a:rPr lang="en-US" sz="1200" dirty="0">
                <a:solidFill>
                  <a:schemeClr val="accent5">
                    <a:lumMod val="50000"/>
                  </a:schemeClr>
                </a:solidFill>
                <a:latin typeface="Times New Roman" panose="02020603050405020304" pitchFamily="18" charset="0"/>
                <a:cs typeface="Times New Roman" panose="02020603050405020304" pitchFamily="18" charset="0"/>
              </a:rPr>
              <a:t>CHART 04. DISTRIBUTION OF USERS BY BEHAVIOUR SEGMENT</a:t>
            </a:r>
          </a:p>
        </p:txBody>
      </p:sp>
      <p:pic>
        <p:nvPicPr>
          <p:cNvPr id="30" name="Picture 2" descr="Instagram logo blue Images - Free Download on Magnific (formerly Freepik)"/>
          <p:cNvPicPr>
            <a:picLocks noChangeAspect="1" noChangeArrowheads="1"/>
          </p:cNvPicPr>
          <p:nvPr/>
        </p:nvPicPr>
        <p:blipFill rotWithShape="1">
          <a:blip r:embed="rId3">
            <a:extLst>
              <a:ext uri="{BEBA8EAE-BF5A-486C-A8C5-ECC9F3942E4B}">
                <a14:imgProps xmlns:a14="http://schemas.microsoft.com/office/drawing/2010/main">
                  <a14:imgLayer r:embed="rId4">
                    <a14:imgEffect>
                      <a14:brightnessContrast bright="20000"/>
                    </a14:imgEffect>
                  </a14:imgLayer>
                </a14:imgProps>
              </a:ext>
              <a:ext uri="{28A0092B-C50C-407E-A947-70E740481C1C}">
                <a14:useLocalDpi xmlns:a14="http://schemas.microsoft.com/office/drawing/2010/main" val="0"/>
              </a:ext>
            </a:extLst>
          </a:blip>
          <a:srcRect l="22466" t="23995" r="23087" b="23130"/>
          <a:stretch/>
        </p:blipFill>
        <p:spPr bwMode="auto">
          <a:xfrm>
            <a:off x="544484" y="5796824"/>
            <a:ext cx="831272" cy="807264"/>
          </a:xfrm>
          <a:prstGeom prst="rect">
            <a:avLst/>
          </a:prstGeom>
          <a:noFill/>
          <a:ln w="34925">
            <a:solidFill>
              <a:srgbClr val="FFFFFF"/>
            </a:solidFill>
          </a:ln>
          <a:effectLst>
            <a:outerShdw blurRad="317500" dir="2700000" algn="ctr">
              <a:srgbClr val="000000">
                <a:alpha val="43000"/>
              </a:srgbClr>
            </a:outerShdw>
          </a:effectLst>
          <a:scene3d>
            <a:camera prst="perspectiveFront" fov="2700000">
              <a:rot lat="19086000" lon="19067999" rev="3108000"/>
            </a:camera>
            <a:lightRig rig="threePt" dir="t">
              <a:rot lat="0" lon="0" rev="0"/>
            </a:lightRig>
          </a:scene3d>
          <a:sp3d extrusionH="38100" prstMaterial="clear">
            <a:bevelT w="260350" h="50800" prst="softRound"/>
            <a:bevelB prst="softRound"/>
          </a:sp3d>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7EABAA"/>
          </a:solidFill>
          <a:ln>
            <a:solidFill>
              <a:srgbClr val="7EABAA"/>
            </a:solidFill>
          </a:ln>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spcBef>
                <a:spcPts val="0"/>
              </a:spcBef>
              <a:spcAft>
                <a:spcPts val="300"/>
              </a:spcAft>
            </a:pPr>
            <a:endParaRPr/>
          </a:p>
        </p:txBody>
      </p:sp>
      <p:sp>
        <p:nvSpPr>
          <p:cNvPr id="9" name="Rounded Rectangle 8"/>
          <p:cNvSpPr/>
          <p:nvPr/>
        </p:nvSpPr>
        <p:spPr>
          <a:xfrm>
            <a:off x="7313089" y="2201765"/>
            <a:ext cx="3611880" cy="1371600"/>
          </a:xfrm>
          <a:prstGeom prst="roundRect">
            <a:avLst/>
          </a:prstGeom>
          <a:solidFill>
            <a:srgbClr val="FFFFFF"/>
          </a:solidFill>
          <a:ln>
            <a:solidFill>
              <a:srgbClr val="DCE7E4"/>
            </a:solidFill>
          </a:ln>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spcBef>
                <a:spcPts val="0"/>
              </a:spcBef>
              <a:spcAft>
                <a:spcPts val="300"/>
              </a:spcAft>
            </a:pPr>
            <a:endParaRPr/>
          </a:p>
        </p:txBody>
      </p:sp>
      <p:sp>
        <p:nvSpPr>
          <p:cNvPr id="10" name="TextBox 9"/>
          <p:cNvSpPr txBox="1"/>
          <p:nvPr/>
        </p:nvSpPr>
        <p:spPr>
          <a:xfrm>
            <a:off x="7642273" y="2291426"/>
            <a:ext cx="3282696" cy="274320"/>
          </a:xfrm>
          <a:prstGeom prst="rect">
            <a:avLst/>
          </a:prstGeom>
          <a:noFill/>
        </p:spPr>
        <p:txBody>
          <a:bodyPr wrap="square" lIns="38100" tIns="25400" rIns="38100" bIns="25400" anchor="t">
            <a:spAutoFit/>
          </a:bodyPr>
          <a:lstStyle/>
          <a:p>
            <a:pPr algn="ctr">
              <a:spcBef>
                <a:spcPts val="0"/>
              </a:spcBef>
              <a:spcAft>
                <a:spcPts val="300"/>
              </a:spcAft>
            </a:pPr>
            <a:r>
              <a:rPr sz="1400" b="1" i="0" dirty="0">
                <a:solidFill>
                  <a:srgbClr val="395B5E"/>
                </a:solidFill>
                <a:latin typeface="Times New Roman"/>
              </a:rPr>
              <a:t>BASELINE</a:t>
            </a:r>
          </a:p>
        </p:txBody>
      </p:sp>
      <p:sp>
        <p:nvSpPr>
          <p:cNvPr id="11" name="TextBox 10"/>
          <p:cNvSpPr txBox="1"/>
          <p:nvPr/>
        </p:nvSpPr>
        <p:spPr>
          <a:xfrm>
            <a:off x="7477681" y="2742390"/>
            <a:ext cx="3282696" cy="459100"/>
          </a:xfrm>
          <a:prstGeom prst="rect">
            <a:avLst/>
          </a:prstGeom>
          <a:noFill/>
        </p:spPr>
        <p:txBody>
          <a:bodyPr wrap="square" lIns="38100" tIns="25400" rIns="38100" bIns="25400" anchor="t">
            <a:spAutoFit/>
          </a:bodyPr>
          <a:lstStyle/>
          <a:p>
            <a:pPr algn="ctr">
              <a:spcBef>
                <a:spcPts val="0"/>
              </a:spcBef>
              <a:spcAft>
                <a:spcPts val="300"/>
              </a:spcAft>
            </a:pPr>
            <a:r>
              <a:rPr lang="en-IN" sz="1200" dirty="0" smtClean="0">
                <a:solidFill>
                  <a:srgbClr val="24393A"/>
                </a:solidFill>
                <a:latin typeface="Times New Roman"/>
              </a:rPr>
              <a:t>~ </a:t>
            </a:r>
            <a:r>
              <a:rPr sz="1200" b="0" i="0" dirty="0" smtClean="0">
                <a:solidFill>
                  <a:srgbClr val="24393A"/>
                </a:solidFill>
                <a:latin typeface="Times New Roman"/>
              </a:rPr>
              <a:t>63.3 </a:t>
            </a:r>
            <a:r>
              <a:rPr sz="1200" b="0" i="0" dirty="0">
                <a:solidFill>
                  <a:srgbClr val="24393A"/>
                </a:solidFill>
                <a:latin typeface="Times New Roman"/>
              </a:rPr>
              <a:t>engagements per </a:t>
            </a:r>
            <a:r>
              <a:rPr sz="1200" b="0" i="0" dirty="0" smtClean="0">
                <a:solidFill>
                  <a:srgbClr val="24393A"/>
                </a:solidFill>
                <a:latin typeface="Times New Roman"/>
              </a:rPr>
              <a:t>post</a:t>
            </a:r>
            <a:endParaRPr lang="en-IN" sz="1200" b="0" i="0" dirty="0" smtClean="0">
              <a:solidFill>
                <a:srgbClr val="24393A"/>
              </a:solidFill>
              <a:latin typeface="Times New Roman"/>
            </a:endParaRPr>
          </a:p>
          <a:p>
            <a:pPr algn="ctr">
              <a:spcBef>
                <a:spcPts val="0"/>
              </a:spcBef>
              <a:spcAft>
                <a:spcPts val="300"/>
              </a:spcAft>
            </a:pPr>
            <a:r>
              <a:rPr lang="en-IN" sz="1200" dirty="0" smtClean="0">
                <a:solidFill>
                  <a:srgbClr val="24393A"/>
                </a:solidFill>
                <a:latin typeface="Times New Roman"/>
              </a:rPr>
              <a:t>~ Top 5 creators</a:t>
            </a:r>
            <a:endParaRPr sz="1200" b="0" i="0" dirty="0">
              <a:solidFill>
                <a:srgbClr val="24393A"/>
              </a:solidFill>
              <a:latin typeface="Times New Roman"/>
            </a:endParaRPr>
          </a:p>
        </p:txBody>
      </p:sp>
      <p:sp>
        <p:nvSpPr>
          <p:cNvPr id="18" name="TextBox 17"/>
          <p:cNvSpPr txBox="1"/>
          <p:nvPr/>
        </p:nvSpPr>
        <p:spPr>
          <a:xfrm>
            <a:off x="208201" y="280132"/>
            <a:ext cx="10881360" cy="420628"/>
          </a:xfrm>
          <a:prstGeom prst="rect">
            <a:avLst/>
          </a:prstGeom>
          <a:noFill/>
        </p:spPr>
        <p:txBody>
          <a:bodyPr wrap="square" lIns="38100" tIns="25400" rIns="38100" bIns="25400" anchor="t">
            <a:spAutoFit/>
          </a:bodyPr>
          <a:lstStyle/>
          <a:p>
            <a:pPr algn="l">
              <a:spcBef>
                <a:spcPts val="0"/>
              </a:spcBef>
              <a:spcAft>
                <a:spcPts val="300"/>
              </a:spcAft>
            </a:pPr>
            <a:r>
              <a:rPr lang="en-IN" sz="2400" b="1" i="0" dirty="0" smtClean="0">
                <a:solidFill>
                  <a:srgbClr val="587070"/>
                </a:solidFill>
                <a:latin typeface="Times New Roman"/>
              </a:rPr>
              <a:t>05 | OBJECTIVE FINDINGS | INFLUENCER SELECTION</a:t>
            </a:r>
            <a:endParaRPr sz="2400" b="1" i="0" dirty="0">
              <a:solidFill>
                <a:srgbClr val="587070"/>
              </a:solidFill>
              <a:latin typeface="Times New Roman"/>
            </a:endParaRPr>
          </a:p>
        </p:txBody>
      </p:sp>
      <p:pic>
        <p:nvPicPr>
          <p:cNvPr id="12" name="Picture 2" descr="Instagram logo blue Images - Free Download on Magnific (formerly Freepik)"/>
          <p:cNvPicPr>
            <a:picLocks noChangeAspect="1" noChangeArrowheads="1"/>
          </p:cNvPicPr>
          <p:nvPr/>
        </p:nvPicPr>
        <p:blipFill rotWithShape="1">
          <a:blip r:embed="rId2">
            <a:extLst>
              <a:ext uri="{BEBA8EAE-BF5A-486C-A8C5-ECC9F3942E4B}">
                <a14:imgProps xmlns:a14="http://schemas.microsoft.com/office/drawing/2010/main">
                  <a14:imgLayer r:embed="rId3">
                    <a14:imgEffect>
                      <a14:brightnessContrast bright="20000"/>
                    </a14:imgEffect>
                  </a14:imgLayer>
                </a14:imgProps>
              </a:ext>
              <a:ext uri="{28A0092B-C50C-407E-A947-70E740481C1C}">
                <a14:useLocalDpi xmlns:a14="http://schemas.microsoft.com/office/drawing/2010/main" val="0"/>
              </a:ext>
            </a:extLst>
          </a:blip>
          <a:srcRect l="22466" t="23995" r="23087" b="23130"/>
          <a:stretch/>
        </p:blipFill>
        <p:spPr bwMode="auto">
          <a:xfrm>
            <a:off x="544484" y="5796824"/>
            <a:ext cx="831272" cy="807264"/>
          </a:xfrm>
          <a:prstGeom prst="rect">
            <a:avLst/>
          </a:prstGeom>
          <a:noFill/>
          <a:ln w="34925">
            <a:solidFill>
              <a:srgbClr val="FFFFFF"/>
            </a:solidFill>
          </a:ln>
          <a:effectLst>
            <a:outerShdw blurRad="317500" dir="2700000" algn="ctr">
              <a:srgbClr val="000000">
                <a:alpha val="43000"/>
              </a:srgbClr>
            </a:outerShdw>
          </a:effectLst>
          <a:scene3d>
            <a:camera prst="perspectiveFront" fov="2700000">
              <a:rot lat="19086000" lon="19067999" rev="3108000"/>
            </a:camera>
            <a:lightRig rig="threePt" dir="t">
              <a:rot lat="0" lon="0" rev="0"/>
            </a:lightRig>
          </a:scene3d>
          <a:sp3d extrusionH="38100" prstMaterial="clear">
            <a:bevelT w="260350" h="50800" prst="softRound"/>
            <a:bevelB prst="softRound"/>
          </a:sp3d>
          <a:extLst>
            <a:ext uri="{909E8E84-426E-40DD-AFC4-6F175D3DCCD1}">
              <a14:hiddenFill xmlns:a14="http://schemas.microsoft.com/office/drawing/2010/main">
                <a:solidFill>
                  <a:srgbClr val="FFFFFF"/>
                </a:solidFill>
              </a14:hiddenFill>
            </a:ext>
          </a:extLst>
        </p:spPr>
      </p:pic>
      <p:sp>
        <p:nvSpPr>
          <p:cNvPr id="15" name="Rectangle 14"/>
          <p:cNvSpPr/>
          <p:nvPr/>
        </p:nvSpPr>
        <p:spPr>
          <a:xfrm>
            <a:off x="228811" y="5497647"/>
            <a:ext cx="5999018" cy="276999"/>
          </a:xfrm>
          <a:prstGeom prst="rect">
            <a:avLst/>
          </a:prstGeom>
        </p:spPr>
        <p:txBody>
          <a:bodyPr wrap="square">
            <a:spAutoFit/>
          </a:bodyPr>
          <a:lstStyle/>
          <a:p>
            <a:pPr algn="ctr">
              <a:defRPr sz="1400" b="0" i="0" u="none" strike="noStrike" kern="1200" spc="0" baseline="0">
                <a:solidFill>
                  <a:prstClr val="black">
                    <a:lumMod val="65000"/>
                    <a:lumOff val="35000"/>
                  </a:prstClr>
                </a:solidFill>
                <a:latin typeface="+mn-lt"/>
                <a:ea typeface="+mn-ea"/>
                <a:cs typeface="+mn-cs"/>
              </a:defRPr>
            </a:pPr>
            <a:r>
              <a:rPr lang="en-US" sz="1200" b="1" dirty="0" smtClean="0">
                <a:solidFill>
                  <a:schemeClr val="accent5">
                    <a:lumMod val="50000"/>
                  </a:schemeClr>
                </a:solidFill>
                <a:latin typeface="Times New Roman" panose="02020603050405020304" pitchFamily="18" charset="0"/>
                <a:cs typeface="Times New Roman" panose="02020603050405020304" pitchFamily="18" charset="0"/>
              </a:rPr>
              <a:t>CHART  05. TOP </a:t>
            </a:r>
            <a:r>
              <a:rPr lang="en-US" sz="1200" b="1" dirty="0">
                <a:solidFill>
                  <a:schemeClr val="accent5">
                    <a:lumMod val="50000"/>
                  </a:schemeClr>
                </a:solidFill>
                <a:latin typeface="Times New Roman" panose="02020603050405020304" pitchFamily="18" charset="0"/>
                <a:cs typeface="Times New Roman" panose="02020603050405020304" pitchFamily="18" charset="0"/>
              </a:rPr>
              <a:t>PERFORMING USERS </a:t>
            </a:r>
            <a:r>
              <a:rPr lang="en-US" sz="1200" b="1" dirty="0" smtClean="0">
                <a:solidFill>
                  <a:schemeClr val="accent5">
                    <a:lumMod val="50000"/>
                  </a:schemeClr>
                </a:solidFill>
                <a:latin typeface="Times New Roman" panose="02020603050405020304" pitchFamily="18" charset="0"/>
                <a:cs typeface="Times New Roman" panose="02020603050405020304" pitchFamily="18" charset="0"/>
              </a:rPr>
              <a:t>BY AVERAGE ENGAGEMENT PER POST</a:t>
            </a:r>
            <a:endParaRPr lang="en-US" sz="1200" b="1" dirty="0">
              <a:solidFill>
                <a:schemeClr val="accent5">
                  <a:lumMod val="50000"/>
                </a:schemeClr>
              </a:solidFill>
              <a:latin typeface="Times New Roman" panose="02020603050405020304" pitchFamily="18" charset="0"/>
              <a:cs typeface="Times New Roman" panose="02020603050405020304" pitchFamily="18" charset="0"/>
            </a:endParaRPr>
          </a:p>
        </p:txBody>
      </p:sp>
      <p:sp>
        <p:nvSpPr>
          <p:cNvPr id="13" name="Rounded Rectangle 12"/>
          <p:cNvSpPr/>
          <p:nvPr/>
        </p:nvSpPr>
        <p:spPr>
          <a:xfrm>
            <a:off x="6442364" y="3850456"/>
            <a:ext cx="5153891" cy="1372708"/>
          </a:xfrm>
          <a:prstGeom prst="roundRect">
            <a:avLst/>
          </a:prstGeom>
          <a:solidFill>
            <a:srgbClr val="FFFFFF"/>
          </a:solidFill>
          <a:ln>
            <a:solidFill>
              <a:srgbClr val="DCE7E4"/>
            </a:solidFill>
          </a:ln>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spcBef>
                <a:spcPts val="0"/>
              </a:spcBef>
              <a:spcAft>
                <a:spcPts val="300"/>
              </a:spcAft>
            </a:pPr>
            <a:r>
              <a:rPr lang="en-US" sz="1200" b="1" dirty="0">
                <a:solidFill>
                  <a:srgbClr val="395B5E"/>
                </a:solidFill>
                <a:latin typeface="Times New Roman" panose="02020603050405020304" pitchFamily="18" charset="0"/>
                <a:cs typeface="Times New Roman" panose="02020603050405020304" pitchFamily="18" charset="0"/>
              </a:rPr>
              <a:t>SELECTION </a:t>
            </a:r>
            <a:r>
              <a:rPr lang="en-US" sz="1200" b="1" dirty="0" smtClean="0">
                <a:solidFill>
                  <a:srgbClr val="395B5E"/>
                </a:solidFill>
                <a:latin typeface="Times New Roman" panose="02020603050405020304" pitchFamily="18" charset="0"/>
                <a:cs typeface="Times New Roman" panose="02020603050405020304" pitchFamily="18" charset="0"/>
              </a:rPr>
              <a:t>RULE</a:t>
            </a:r>
          </a:p>
          <a:p>
            <a:pPr algn="ctr">
              <a:lnSpc>
                <a:spcPct val="150000"/>
              </a:lnSpc>
              <a:spcBef>
                <a:spcPts val="0"/>
              </a:spcBef>
              <a:spcAft>
                <a:spcPts val="300"/>
              </a:spcAft>
            </a:pPr>
            <a:r>
              <a:rPr lang="en-US" sz="1200" dirty="0">
                <a:solidFill>
                  <a:schemeClr val="tx1"/>
                </a:solidFill>
                <a:latin typeface="Times New Roman" panose="02020603050405020304" pitchFamily="18" charset="0"/>
                <a:cs typeface="Times New Roman" panose="02020603050405020304" pitchFamily="18" charset="0"/>
              </a:rPr>
              <a:t/>
            </a:r>
            <a:br>
              <a:rPr lang="en-US" sz="1200" dirty="0">
                <a:solidFill>
                  <a:schemeClr val="tx1"/>
                </a:solidFill>
                <a:latin typeface="Times New Roman" panose="02020603050405020304" pitchFamily="18" charset="0"/>
                <a:cs typeface="Times New Roman" panose="02020603050405020304" pitchFamily="18" charset="0"/>
              </a:rPr>
            </a:br>
            <a:r>
              <a:rPr lang="en-US" sz="1200" dirty="0">
                <a:solidFill>
                  <a:schemeClr val="tx1"/>
                </a:solidFill>
                <a:latin typeface="Times New Roman" panose="02020603050405020304" pitchFamily="18" charset="0"/>
                <a:cs typeface="Times New Roman" panose="02020603050405020304" pitchFamily="18" charset="0"/>
              </a:rPr>
              <a:t>Influencers are chosen by average engagement per post, not total engagement, so posting volume does not decide the list. </a:t>
            </a:r>
            <a:endParaRPr sz="1200" dirty="0">
              <a:solidFill>
                <a:schemeClr val="tx1"/>
              </a:solidFill>
              <a:latin typeface="Times New Roman" panose="02020603050405020304" pitchFamily="18" charset="0"/>
              <a:cs typeface="Times New Roman" panose="02020603050405020304" pitchFamily="18" charset="0"/>
            </a:endParaRPr>
          </a:p>
        </p:txBody>
      </p:sp>
      <p:graphicFrame>
        <p:nvGraphicFramePr>
          <p:cNvPr id="16" name="Chart 15"/>
          <p:cNvGraphicFramePr>
            <a:graphicFrameLocks/>
          </p:cNvGraphicFramePr>
          <p:nvPr>
            <p:extLst>
              <p:ext uri="{D42A27DB-BD31-4B8C-83A1-F6EECF244321}">
                <p14:modId xmlns:p14="http://schemas.microsoft.com/office/powerpoint/2010/main" val="3965118206"/>
              </p:ext>
            </p:extLst>
          </p:nvPr>
        </p:nvGraphicFramePr>
        <p:xfrm>
          <a:off x="290497" y="1620982"/>
          <a:ext cx="5777794" cy="3713018"/>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9F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7EABAA"/>
          </a:solidFill>
          <a:ln>
            <a:solidFill>
              <a:srgbClr val="7EABAA"/>
            </a:solidFill>
          </a:ln>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spcBef>
                <a:spcPts val="0"/>
              </a:spcBef>
              <a:spcAft>
                <a:spcPts val="300"/>
              </a:spcAft>
            </a:pPr>
            <a:endParaRPr/>
          </a:p>
        </p:txBody>
      </p:sp>
      <p:sp>
        <p:nvSpPr>
          <p:cNvPr id="18" name="TextBox 17"/>
          <p:cNvSpPr txBox="1"/>
          <p:nvPr/>
        </p:nvSpPr>
        <p:spPr>
          <a:xfrm>
            <a:off x="235526" y="253811"/>
            <a:ext cx="10881360" cy="420628"/>
          </a:xfrm>
          <a:prstGeom prst="rect">
            <a:avLst/>
          </a:prstGeom>
          <a:noFill/>
        </p:spPr>
        <p:txBody>
          <a:bodyPr wrap="square" lIns="38100" tIns="25400" rIns="38100" bIns="25400" anchor="t">
            <a:spAutoFit/>
          </a:bodyPr>
          <a:lstStyle/>
          <a:p>
            <a:pPr>
              <a:spcAft>
                <a:spcPts val="300"/>
              </a:spcAft>
            </a:pPr>
            <a:r>
              <a:rPr lang="en-IN" sz="2400" b="1" i="0" dirty="0" smtClean="0">
                <a:solidFill>
                  <a:srgbClr val="587070"/>
                </a:solidFill>
                <a:latin typeface="Times New Roman"/>
              </a:rPr>
              <a:t>06 | </a:t>
            </a:r>
            <a:r>
              <a:rPr lang="en-IN" sz="2400" b="1" dirty="0" smtClean="0">
                <a:solidFill>
                  <a:schemeClr val="accent5">
                    <a:lumMod val="50000"/>
                  </a:schemeClr>
                </a:solidFill>
                <a:latin typeface="Times New Roman" panose="02020603050405020304" pitchFamily="18" charset="0"/>
                <a:cs typeface="Times New Roman" panose="02020603050405020304" pitchFamily="18" charset="0"/>
              </a:rPr>
              <a:t>KEY </a:t>
            </a:r>
            <a:r>
              <a:rPr lang="en-IN" sz="2400" b="1" dirty="0">
                <a:solidFill>
                  <a:schemeClr val="accent5">
                    <a:lumMod val="50000"/>
                  </a:schemeClr>
                </a:solidFill>
                <a:latin typeface="Times New Roman" panose="02020603050405020304" pitchFamily="18" charset="0"/>
                <a:cs typeface="Times New Roman" panose="02020603050405020304" pitchFamily="18" charset="0"/>
              </a:rPr>
              <a:t>INSIGHTS </a:t>
            </a:r>
            <a:endParaRPr sz="2400" b="1" i="0" dirty="0">
              <a:solidFill>
                <a:schemeClr val="accent5">
                  <a:lumMod val="50000"/>
                </a:schemeClr>
              </a:solidFill>
              <a:latin typeface="Times New Roman" panose="02020603050405020304" pitchFamily="18" charset="0"/>
              <a:cs typeface="Times New Roman" panose="02020603050405020304" pitchFamily="18" charset="0"/>
            </a:endParaRPr>
          </a:p>
        </p:txBody>
      </p:sp>
      <p:sp>
        <p:nvSpPr>
          <p:cNvPr id="12" name="Rounded Rectangle 11"/>
          <p:cNvSpPr/>
          <p:nvPr/>
        </p:nvSpPr>
        <p:spPr>
          <a:xfrm>
            <a:off x="708660" y="1344587"/>
            <a:ext cx="10607040" cy="1078992"/>
          </a:xfrm>
          <a:prstGeom prst="roundRect">
            <a:avLst/>
          </a:prstGeom>
          <a:solidFill>
            <a:srgbClr val="FFFFFF"/>
          </a:solidFill>
          <a:ln>
            <a:solidFill>
              <a:srgbClr val="DCE7E4"/>
            </a:solidFill>
          </a:ln>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nSpc>
                <a:spcPct val="150000"/>
              </a:lnSpc>
            </a:pPr>
            <a:r>
              <a:rPr lang="en-US" sz="1200" b="1" dirty="0">
                <a:solidFill>
                  <a:schemeClr val="tx1"/>
                </a:solidFill>
                <a:latin typeface="Times New Roman" panose="02020603050405020304" pitchFamily="18" charset="0"/>
                <a:cs typeface="Times New Roman" panose="02020603050405020304" pitchFamily="18" charset="0"/>
              </a:rPr>
              <a:t>01 </a:t>
            </a:r>
            <a:r>
              <a:rPr lang="en-US" sz="1200" b="1" dirty="0" smtClean="0">
                <a:solidFill>
                  <a:schemeClr val="tx1"/>
                </a:solidFill>
                <a:latin typeface="Times New Roman" panose="02020603050405020304" pitchFamily="18" charset="0"/>
                <a:cs typeface="Times New Roman" panose="02020603050405020304" pitchFamily="18" charset="0"/>
              </a:rPr>
              <a:t>| Participation </a:t>
            </a:r>
            <a:r>
              <a:rPr lang="en-US" sz="1200" b="1" dirty="0">
                <a:solidFill>
                  <a:schemeClr val="tx1"/>
                </a:solidFill>
                <a:latin typeface="Times New Roman" panose="02020603050405020304" pitchFamily="18" charset="0"/>
                <a:cs typeface="Times New Roman" panose="02020603050405020304" pitchFamily="18" charset="0"/>
              </a:rPr>
              <a:t>is uneven</a:t>
            </a:r>
          </a:p>
          <a:p>
            <a:pPr>
              <a:lnSpc>
                <a:spcPct val="150000"/>
              </a:lnSpc>
            </a:pPr>
            <a:r>
              <a:rPr lang="en-US" sz="1200" dirty="0">
                <a:solidFill>
                  <a:schemeClr val="tx1"/>
                </a:solidFill>
                <a:latin typeface="Times New Roman" panose="02020603050405020304" pitchFamily="18" charset="0"/>
                <a:cs typeface="Times New Roman" panose="02020603050405020304" pitchFamily="18" charset="0"/>
              </a:rPr>
              <a:t>74% of users have posted, while 26% have never posted. Activating non-posters is a clear opportunity to broaden participation.</a:t>
            </a:r>
            <a:endParaRPr sz="1200" dirty="0">
              <a:solidFill>
                <a:schemeClr val="tx1"/>
              </a:solidFill>
              <a:latin typeface="Times New Roman" panose="02020603050405020304" pitchFamily="18" charset="0"/>
              <a:cs typeface="Times New Roman" panose="02020603050405020304" pitchFamily="18" charset="0"/>
            </a:endParaRPr>
          </a:p>
        </p:txBody>
      </p:sp>
      <p:sp>
        <p:nvSpPr>
          <p:cNvPr id="13" name="Rounded Rectangle 12"/>
          <p:cNvSpPr/>
          <p:nvPr/>
        </p:nvSpPr>
        <p:spPr>
          <a:xfrm>
            <a:off x="708660" y="2627241"/>
            <a:ext cx="10607040" cy="1078992"/>
          </a:xfrm>
          <a:prstGeom prst="roundRect">
            <a:avLst/>
          </a:prstGeom>
          <a:solidFill>
            <a:srgbClr val="FFFFFF"/>
          </a:solidFill>
          <a:ln>
            <a:solidFill>
              <a:srgbClr val="DCE7E4"/>
            </a:solidFill>
          </a:ln>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nSpc>
                <a:spcPct val="150000"/>
              </a:lnSpc>
            </a:pPr>
            <a:r>
              <a:rPr lang="en-US" sz="1200" b="1" dirty="0">
                <a:solidFill>
                  <a:schemeClr val="tx1"/>
                </a:solidFill>
                <a:latin typeface="Times New Roman" panose="02020603050405020304" pitchFamily="18" charset="0"/>
                <a:cs typeface="Times New Roman" panose="02020603050405020304" pitchFamily="18" charset="0"/>
              </a:rPr>
              <a:t>02 </a:t>
            </a:r>
            <a:r>
              <a:rPr lang="en-US" sz="1200" b="1" dirty="0" smtClean="0">
                <a:solidFill>
                  <a:schemeClr val="tx1"/>
                </a:solidFill>
                <a:latin typeface="Times New Roman" panose="02020603050405020304" pitchFamily="18" charset="0"/>
                <a:cs typeface="Times New Roman" panose="02020603050405020304" pitchFamily="18" charset="0"/>
              </a:rPr>
              <a:t>| </a:t>
            </a:r>
            <a:r>
              <a:rPr lang="en-US" sz="1200" b="1" dirty="0">
                <a:solidFill>
                  <a:schemeClr val="tx1"/>
                </a:solidFill>
                <a:latin typeface="Times New Roman" panose="02020603050405020304" pitchFamily="18" charset="0"/>
                <a:cs typeface="Times New Roman" panose="02020603050405020304" pitchFamily="18" charset="0"/>
              </a:rPr>
              <a:t>Volume is not the whole story</a:t>
            </a:r>
          </a:p>
          <a:p>
            <a:pPr>
              <a:lnSpc>
                <a:spcPct val="150000"/>
              </a:lnSpc>
            </a:pPr>
            <a:r>
              <a:rPr lang="en-US" sz="1200" dirty="0">
                <a:solidFill>
                  <a:schemeClr val="tx1"/>
                </a:solidFill>
                <a:latin typeface="Times New Roman" panose="02020603050405020304" pitchFamily="18" charset="0"/>
                <a:cs typeface="Times New Roman" panose="02020603050405020304" pitchFamily="18" charset="0"/>
              </a:rPr>
              <a:t>Total engagement </a:t>
            </a:r>
            <a:r>
              <a:rPr lang="en-US" sz="1200" dirty="0" err="1">
                <a:solidFill>
                  <a:schemeClr val="tx1"/>
                </a:solidFill>
                <a:latin typeface="Times New Roman" panose="02020603050405020304" pitchFamily="18" charset="0"/>
                <a:cs typeface="Times New Roman" panose="02020603050405020304" pitchFamily="18" charset="0"/>
              </a:rPr>
              <a:t>favours</a:t>
            </a:r>
            <a:r>
              <a:rPr lang="en-US" sz="1200" dirty="0">
                <a:solidFill>
                  <a:schemeClr val="tx1"/>
                </a:solidFill>
                <a:latin typeface="Times New Roman" panose="02020603050405020304" pitchFamily="18" charset="0"/>
                <a:cs typeface="Times New Roman" panose="02020603050405020304" pitchFamily="18" charset="0"/>
              </a:rPr>
              <a:t> frequent posters, so average engagement per post is a useful additional measure when comparing creators.</a:t>
            </a:r>
            <a:endParaRPr sz="1200" dirty="0">
              <a:solidFill>
                <a:schemeClr val="tx1"/>
              </a:solidFill>
              <a:latin typeface="Times New Roman" panose="02020603050405020304" pitchFamily="18" charset="0"/>
              <a:cs typeface="Times New Roman" panose="02020603050405020304" pitchFamily="18" charset="0"/>
            </a:endParaRPr>
          </a:p>
        </p:txBody>
      </p:sp>
      <p:sp>
        <p:nvSpPr>
          <p:cNvPr id="14" name="Rounded Rectangle 13"/>
          <p:cNvSpPr/>
          <p:nvPr/>
        </p:nvSpPr>
        <p:spPr>
          <a:xfrm>
            <a:off x="708660" y="3950697"/>
            <a:ext cx="10607040" cy="1078992"/>
          </a:xfrm>
          <a:prstGeom prst="roundRect">
            <a:avLst/>
          </a:prstGeom>
          <a:solidFill>
            <a:srgbClr val="FFFFFF"/>
          </a:solidFill>
          <a:ln>
            <a:solidFill>
              <a:srgbClr val="DCE7E4"/>
            </a:solidFill>
          </a:ln>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nSpc>
                <a:spcPct val="150000"/>
              </a:lnSpc>
            </a:pPr>
            <a:r>
              <a:rPr lang="en-US" sz="1200" b="1" dirty="0">
                <a:solidFill>
                  <a:schemeClr val="tx1"/>
                </a:solidFill>
                <a:latin typeface="Times New Roman" panose="02020603050405020304" pitchFamily="18" charset="0"/>
                <a:cs typeface="Times New Roman" panose="02020603050405020304" pitchFamily="18" charset="0"/>
              </a:rPr>
              <a:t>03 </a:t>
            </a:r>
            <a:r>
              <a:rPr lang="en-US" sz="1200" b="1" dirty="0" smtClean="0">
                <a:solidFill>
                  <a:schemeClr val="tx1"/>
                </a:solidFill>
                <a:latin typeface="Times New Roman" panose="02020603050405020304" pitchFamily="18" charset="0"/>
                <a:cs typeface="Times New Roman" panose="02020603050405020304" pitchFamily="18" charset="0"/>
              </a:rPr>
              <a:t>| </a:t>
            </a:r>
            <a:r>
              <a:rPr lang="en-US" sz="1200" b="1" dirty="0">
                <a:solidFill>
                  <a:schemeClr val="tx1"/>
                </a:solidFill>
                <a:latin typeface="Times New Roman" panose="02020603050405020304" pitchFamily="18" charset="0"/>
                <a:cs typeface="Times New Roman" panose="02020603050405020304" pitchFamily="18" charset="0"/>
              </a:rPr>
              <a:t>Tags offer a discovery opportunity</a:t>
            </a:r>
          </a:p>
          <a:p>
            <a:pPr>
              <a:lnSpc>
                <a:spcPct val="150000"/>
              </a:lnSpc>
            </a:pPr>
            <a:r>
              <a:rPr lang="en-US" sz="1200" dirty="0">
                <a:solidFill>
                  <a:schemeClr val="tx1"/>
                </a:solidFill>
                <a:latin typeface="Times New Roman" panose="02020603050405020304" pitchFamily="18" charset="0"/>
                <a:cs typeface="Times New Roman" panose="02020603050405020304" pitchFamily="18" charset="0"/>
              </a:rPr>
              <a:t>67 of 257 photos are untagged. Tag prompts could be tested to improve content discovery, but their impact needs measurement.</a:t>
            </a:r>
            <a:endParaRPr sz="1200" dirty="0">
              <a:solidFill>
                <a:schemeClr val="tx1"/>
              </a:solidFill>
              <a:latin typeface="Times New Roman" panose="02020603050405020304" pitchFamily="18" charset="0"/>
              <a:cs typeface="Times New Roman" panose="02020603050405020304" pitchFamily="18" charset="0"/>
            </a:endParaRPr>
          </a:p>
        </p:txBody>
      </p:sp>
      <p:sp>
        <p:nvSpPr>
          <p:cNvPr id="15" name="Rounded Rectangle 14"/>
          <p:cNvSpPr/>
          <p:nvPr/>
        </p:nvSpPr>
        <p:spPr>
          <a:xfrm>
            <a:off x="708660" y="5306568"/>
            <a:ext cx="10607040" cy="1078992"/>
          </a:xfrm>
          <a:prstGeom prst="roundRect">
            <a:avLst/>
          </a:prstGeom>
          <a:solidFill>
            <a:srgbClr val="FFFFFF"/>
          </a:solidFill>
          <a:ln>
            <a:solidFill>
              <a:srgbClr val="DCE7E4"/>
            </a:solidFill>
          </a:ln>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nSpc>
                <a:spcPct val="150000"/>
              </a:lnSpc>
            </a:pPr>
            <a:r>
              <a:rPr lang="en-US" sz="1200" b="1" dirty="0">
                <a:solidFill>
                  <a:schemeClr val="tx1"/>
                </a:solidFill>
                <a:latin typeface="Times New Roman" panose="02020603050405020304" pitchFamily="18" charset="0"/>
                <a:cs typeface="Times New Roman" panose="02020603050405020304" pitchFamily="18" charset="0"/>
              </a:rPr>
              <a:t>04 | Follower count does not differentiate</a:t>
            </a:r>
            <a:r>
              <a:rPr lang="en-US" sz="1200" dirty="0">
                <a:solidFill>
                  <a:schemeClr val="tx1"/>
                </a:solidFill>
                <a:latin typeface="Times New Roman" panose="02020603050405020304" pitchFamily="18" charset="0"/>
                <a:cs typeface="Times New Roman" panose="02020603050405020304" pitchFamily="18" charset="0"/>
              </a:rPr>
              <a:t/>
            </a:r>
            <a:br>
              <a:rPr lang="en-US" sz="1200" dirty="0">
                <a:solidFill>
                  <a:schemeClr val="tx1"/>
                </a:solidFill>
                <a:latin typeface="Times New Roman" panose="02020603050405020304" pitchFamily="18" charset="0"/>
                <a:cs typeface="Times New Roman" panose="02020603050405020304" pitchFamily="18" charset="0"/>
              </a:rPr>
            </a:br>
            <a:r>
              <a:rPr lang="en-US" sz="1200" dirty="0">
                <a:solidFill>
                  <a:schemeClr val="tx1"/>
                </a:solidFill>
                <a:latin typeface="Times New Roman" panose="02020603050405020304" pitchFamily="18" charset="0"/>
                <a:cs typeface="Times New Roman" panose="02020603050405020304" pitchFamily="18" charset="0"/>
              </a:rPr>
              <a:t>Every user has 76 or 77 followers, and 23 users follow nobody, so their feeds are empty. Engagement and participation are the useful signals for choosing creators</a:t>
            </a:r>
            <a:r>
              <a:rPr lang="en-US" sz="1200" dirty="0" smtClean="0">
                <a:solidFill>
                  <a:schemeClr val="tx1"/>
                </a:solidFill>
                <a:latin typeface="Times New Roman" panose="02020603050405020304" pitchFamily="18" charset="0"/>
                <a:cs typeface="Times New Roman" panose="02020603050405020304" pitchFamily="18" charset="0"/>
              </a:rPr>
              <a:t>.</a:t>
            </a:r>
            <a:endParaRPr sz="12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3919006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9F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7EABAA"/>
          </a:solidFill>
          <a:ln>
            <a:solidFill>
              <a:srgbClr val="7EABAA"/>
            </a:solidFill>
          </a:ln>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spcBef>
                <a:spcPts val="0"/>
              </a:spcBef>
              <a:spcAft>
                <a:spcPts val="300"/>
              </a:spcAft>
            </a:pPr>
            <a:endParaRPr/>
          </a:p>
        </p:txBody>
      </p:sp>
      <p:sp>
        <p:nvSpPr>
          <p:cNvPr id="19" name="TextBox 18"/>
          <p:cNvSpPr txBox="1"/>
          <p:nvPr/>
        </p:nvSpPr>
        <p:spPr>
          <a:xfrm>
            <a:off x="193963" y="274314"/>
            <a:ext cx="10881360" cy="420628"/>
          </a:xfrm>
          <a:prstGeom prst="rect">
            <a:avLst/>
          </a:prstGeom>
          <a:noFill/>
        </p:spPr>
        <p:txBody>
          <a:bodyPr wrap="square" lIns="38100" tIns="25400" rIns="38100" bIns="25400" anchor="t">
            <a:spAutoFit/>
          </a:bodyPr>
          <a:lstStyle/>
          <a:p>
            <a:pPr>
              <a:spcAft>
                <a:spcPts val="300"/>
              </a:spcAft>
            </a:pPr>
            <a:r>
              <a:rPr lang="en-IN" sz="2400" b="1" i="0" dirty="0" smtClean="0">
                <a:solidFill>
                  <a:srgbClr val="587070"/>
                </a:solidFill>
                <a:latin typeface="Times New Roman"/>
              </a:rPr>
              <a:t>07 | </a:t>
            </a:r>
            <a:r>
              <a:rPr lang="en-IN" sz="2400" b="1" dirty="0" smtClean="0">
                <a:solidFill>
                  <a:schemeClr val="accent5">
                    <a:lumMod val="50000"/>
                  </a:schemeClr>
                </a:solidFill>
                <a:latin typeface="Times New Roman" panose="02020603050405020304" pitchFamily="18" charset="0"/>
                <a:cs typeface="Times New Roman" panose="02020603050405020304" pitchFamily="18" charset="0"/>
              </a:rPr>
              <a:t>STRATEGIC RECOMMENDATIONS</a:t>
            </a:r>
            <a:endParaRPr sz="2400" b="1" i="0" dirty="0">
              <a:solidFill>
                <a:schemeClr val="accent5">
                  <a:lumMod val="50000"/>
                </a:schemeClr>
              </a:solidFill>
              <a:latin typeface="Times New Roman" panose="02020603050405020304" pitchFamily="18" charset="0"/>
              <a:cs typeface="Times New Roman" panose="02020603050405020304" pitchFamily="18" charset="0"/>
            </a:endParaRPr>
          </a:p>
        </p:txBody>
      </p:sp>
      <p:sp>
        <p:nvSpPr>
          <p:cNvPr id="21" name="Rounded Rectangle 20"/>
          <p:cNvSpPr/>
          <p:nvPr/>
        </p:nvSpPr>
        <p:spPr>
          <a:xfrm>
            <a:off x="708660" y="1344587"/>
            <a:ext cx="10607040" cy="1078992"/>
          </a:xfrm>
          <a:prstGeom prst="roundRect">
            <a:avLst/>
          </a:prstGeom>
          <a:solidFill>
            <a:srgbClr val="FFFFFF"/>
          </a:solidFill>
          <a:ln>
            <a:solidFill>
              <a:srgbClr val="DCE7E4"/>
            </a:solidFill>
          </a:ln>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nSpc>
                <a:spcPct val="150000"/>
              </a:lnSpc>
            </a:pPr>
            <a:r>
              <a:rPr lang="en-US" sz="1200" b="1" dirty="0">
                <a:solidFill>
                  <a:schemeClr val="tx1"/>
                </a:solidFill>
                <a:latin typeface="Times New Roman" panose="02020603050405020304" pitchFamily="18" charset="0"/>
                <a:cs typeface="Times New Roman" panose="02020603050405020304" pitchFamily="18" charset="0"/>
              </a:rPr>
              <a:t>01 | Activate dormant users</a:t>
            </a:r>
            <a:r>
              <a:rPr lang="en-US" sz="1200" dirty="0">
                <a:solidFill>
                  <a:schemeClr val="tx1"/>
                </a:solidFill>
                <a:latin typeface="Times New Roman" panose="02020603050405020304" pitchFamily="18" charset="0"/>
                <a:cs typeface="Times New Roman" panose="02020603050405020304" pitchFamily="18" charset="0"/>
              </a:rPr>
              <a:t/>
            </a:r>
            <a:br>
              <a:rPr lang="en-US" sz="1200" dirty="0">
                <a:solidFill>
                  <a:schemeClr val="tx1"/>
                </a:solidFill>
                <a:latin typeface="Times New Roman" panose="02020603050405020304" pitchFamily="18" charset="0"/>
                <a:cs typeface="Times New Roman" panose="02020603050405020304" pitchFamily="18" charset="0"/>
              </a:rPr>
            </a:br>
            <a:r>
              <a:rPr lang="en-US" sz="1200" dirty="0">
                <a:solidFill>
                  <a:schemeClr val="tx1"/>
                </a:solidFill>
                <a:latin typeface="Times New Roman" panose="02020603050405020304" pitchFamily="18" charset="0"/>
                <a:cs typeface="Times New Roman" panose="02020603050405020304" pitchFamily="18" charset="0"/>
              </a:rPr>
              <a:t>Give the 23 users who follow nobody a short list of suggested accounts and a one-tap first reaction. Prompt the 13 watchers to post and nudge the 10 broadcasters to react, starting with the 2016-Q4 and 2017-Q1 cohorts (16 of the 23).</a:t>
            </a:r>
            <a:br>
              <a:rPr lang="en-US" sz="1200" dirty="0">
                <a:solidFill>
                  <a:schemeClr val="tx1"/>
                </a:solidFill>
                <a:latin typeface="Times New Roman" panose="02020603050405020304" pitchFamily="18" charset="0"/>
                <a:cs typeface="Times New Roman" panose="02020603050405020304" pitchFamily="18" charset="0"/>
              </a:rPr>
            </a:br>
            <a:r>
              <a:rPr lang="en-US" sz="1200" i="1" dirty="0">
                <a:solidFill>
                  <a:schemeClr val="tx1"/>
                </a:solidFill>
                <a:latin typeface="Times New Roman" panose="02020603050405020304" pitchFamily="18" charset="0"/>
                <a:cs typeface="Times New Roman" panose="02020603050405020304" pitchFamily="18" charset="0"/>
              </a:rPr>
              <a:t>Target: share of the 23 reaching a first follow or reaction within two weeks, against a no-prompt group.</a:t>
            </a:r>
            <a:endParaRPr lang="en-US" sz="1200" dirty="0">
              <a:solidFill>
                <a:schemeClr val="tx1"/>
              </a:solidFill>
              <a:latin typeface="Times New Roman" panose="02020603050405020304" pitchFamily="18" charset="0"/>
              <a:cs typeface="Times New Roman" panose="02020603050405020304" pitchFamily="18" charset="0"/>
            </a:endParaRPr>
          </a:p>
        </p:txBody>
      </p:sp>
      <p:sp>
        <p:nvSpPr>
          <p:cNvPr id="23" name="Rounded Rectangle 22"/>
          <p:cNvSpPr/>
          <p:nvPr/>
        </p:nvSpPr>
        <p:spPr>
          <a:xfrm>
            <a:off x="708660" y="3949179"/>
            <a:ext cx="10607040" cy="1078992"/>
          </a:xfrm>
          <a:prstGeom prst="roundRect">
            <a:avLst/>
          </a:prstGeom>
          <a:solidFill>
            <a:srgbClr val="FFFFFF"/>
          </a:solidFill>
          <a:ln>
            <a:solidFill>
              <a:srgbClr val="DCE7E4"/>
            </a:solidFill>
          </a:ln>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nSpc>
                <a:spcPct val="150000"/>
              </a:lnSpc>
            </a:pPr>
            <a:r>
              <a:rPr lang="en-US" sz="1200" b="1" dirty="0">
                <a:solidFill>
                  <a:schemeClr val="tx1"/>
                </a:solidFill>
                <a:latin typeface="Times New Roman" panose="02020603050405020304" pitchFamily="18" charset="0"/>
                <a:cs typeface="Times New Roman" panose="02020603050405020304" pitchFamily="18" charset="0"/>
              </a:rPr>
              <a:t>03 | Build tag-led content discovery</a:t>
            </a:r>
            <a:r>
              <a:rPr lang="en-US" sz="1200" dirty="0">
                <a:solidFill>
                  <a:schemeClr val="tx1"/>
                </a:solidFill>
                <a:latin typeface="Times New Roman" panose="02020603050405020304" pitchFamily="18" charset="0"/>
                <a:cs typeface="Times New Roman" panose="02020603050405020304" pitchFamily="18" charset="0"/>
              </a:rPr>
              <a:t/>
            </a:r>
            <a:br>
              <a:rPr lang="en-US" sz="1200" dirty="0">
                <a:solidFill>
                  <a:schemeClr val="tx1"/>
                </a:solidFill>
                <a:latin typeface="Times New Roman" panose="02020603050405020304" pitchFamily="18" charset="0"/>
                <a:cs typeface="Times New Roman" panose="02020603050405020304" pitchFamily="18" charset="0"/>
              </a:rPr>
            </a:br>
            <a:r>
              <a:rPr lang="en-US" sz="1200" dirty="0">
                <a:solidFill>
                  <a:schemeClr val="tx1"/>
                </a:solidFill>
                <a:latin typeface="Times New Roman" panose="02020603050405020304" pitchFamily="18" charset="0"/>
                <a:cs typeface="Times New Roman" panose="02020603050405020304" pitchFamily="18" charset="0"/>
              </a:rPr>
              <a:t>Prompt tags at upload for the 67 untagged photos, then </a:t>
            </a:r>
            <a:r>
              <a:rPr lang="en-US" sz="1200" dirty="0" err="1">
                <a:solidFill>
                  <a:schemeClr val="tx1"/>
                </a:solidFill>
                <a:latin typeface="Times New Roman" panose="02020603050405020304" pitchFamily="18" charset="0"/>
                <a:cs typeface="Times New Roman" panose="02020603050405020304" pitchFamily="18" charset="0"/>
              </a:rPr>
              <a:t>personalise</a:t>
            </a:r>
            <a:r>
              <a:rPr lang="en-US" sz="1200" dirty="0">
                <a:solidFill>
                  <a:schemeClr val="tx1"/>
                </a:solidFill>
                <a:latin typeface="Times New Roman" panose="02020603050405020304" pitchFamily="18" charset="0"/>
                <a:cs typeface="Times New Roman" panose="02020603050405020304" pitchFamily="18" charset="0"/>
              </a:rPr>
              <a:t> recommendations by each user’s top tags. Food, beauty and sunset lead on engagement per photo; smile, beach and party lead on total reach.</a:t>
            </a:r>
            <a:br>
              <a:rPr lang="en-US" sz="1200" dirty="0">
                <a:solidFill>
                  <a:schemeClr val="tx1"/>
                </a:solidFill>
                <a:latin typeface="Times New Roman" panose="02020603050405020304" pitchFamily="18" charset="0"/>
                <a:cs typeface="Times New Roman" panose="02020603050405020304" pitchFamily="18" charset="0"/>
              </a:rPr>
            </a:br>
            <a:r>
              <a:rPr lang="en-US" sz="1200" i="1" dirty="0">
                <a:solidFill>
                  <a:schemeClr val="tx1"/>
                </a:solidFill>
                <a:latin typeface="Times New Roman" panose="02020603050405020304" pitchFamily="18" charset="0"/>
                <a:cs typeface="Times New Roman" panose="02020603050405020304" pitchFamily="18" charset="0"/>
              </a:rPr>
              <a:t>Target: engagement lift against a holdout group.</a:t>
            </a:r>
            <a:endParaRPr lang="en-US" sz="1200" dirty="0">
              <a:solidFill>
                <a:schemeClr val="tx1"/>
              </a:solidFill>
              <a:latin typeface="Times New Roman" panose="02020603050405020304" pitchFamily="18" charset="0"/>
              <a:cs typeface="Times New Roman" panose="02020603050405020304" pitchFamily="18" charset="0"/>
            </a:endParaRPr>
          </a:p>
        </p:txBody>
      </p:sp>
      <p:sp>
        <p:nvSpPr>
          <p:cNvPr id="24" name="Rounded Rectangle 23"/>
          <p:cNvSpPr/>
          <p:nvPr/>
        </p:nvSpPr>
        <p:spPr>
          <a:xfrm>
            <a:off x="708660" y="2646883"/>
            <a:ext cx="10607040" cy="1078992"/>
          </a:xfrm>
          <a:prstGeom prst="roundRect">
            <a:avLst/>
          </a:prstGeom>
          <a:solidFill>
            <a:srgbClr val="FFFFFF"/>
          </a:solidFill>
          <a:ln>
            <a:solidFill>
              <a:srgbClr val="DCE7E4"/>
            </a:solidFill>
          </a:ln>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nSpc>
                <a:spcPct val="150000"/>
              </a:lnSpc>
            </a:pPr>
            <a:r>
              <a:rPr lang="en-US" sz="1200" b="1" dirty="0">
                <a:solidFill>
                  <a:schemeClr val="tx1"/>
                </a:solidFill>
                <a:latin typeface="Times New Roman" panose="02020603050405020304" pitchFamily="18" charset="0"/>
                <a:cs typeface="Times New Roman" panose="02020603050405020304" pitchFamily="18" charset="0"/>
              </a:rPr>
              <a:t>02 | Reward creators and participants separately, and link them</a:t>
            </a:r>
            <a:r>
              <a:rPr lang="en-US" sz="1200" dirty="0">
                <a:solidFill>
                  <a:schemeClr val="tx1"/>
                </a:solidFill>
                <a:latin typeface="Times New Roman" panose="02020603050405020304" pitchFamily="18" charset="0"/>
                <a:cs typeface="Times New Roman" panose="02020603050405020304" pitchFamily="18" charset="0"/>
              </a:rPr>
              <a:t/>
            </a:r>
            <a:br>
              <a:rPr lang="en-US" sz="1200" dirty="0">
                <a:solidFill>
                  <a:schemeClr val="tx1"/>
                </a:solidFill>
                <a:latin typeface="Times New Roman" panose="02020603050405020304" pitchFamily="18" charset="0"/>
                <a:cs typeface="Times New Roman" panose="02020603050405020304" pitchFamily="18" charset="0"/>
              </a:rPr>
            </a:br>
            <a:r>
              <a:rPr lang="en-US" sz="1200" dirty="0">
                <a:solidFill>
                  <a:schemeClr val="tx1"/>
                </a:solidFill>
                <a:latin typeface="Times New Roman" panose="02020603050405020304" pitchFamily="18" charset="0"/>
                <a:cs typeface="Times New Roman" panose="02020603050405020304" pitchFamily="18" charset="0"/>
              </a:rPr>
              <a:t>The top 5 creators (19% of all engagement) have never reacted to anyone, so tie creator rewards to giving back. Validate the 13 heavy reactors before rewarding them. Choose ambassadors with 4+ posts, 150+ reactions and above the 63.3 baseline.</a:t>
            </a:r>
            <a:br>
              <a:rPr lang="en-US" sz="1200" dirty="0">
                <a:solidFill>
                  <a:schemeClr val="tx1"/>
                </a:solidFill>
                <a:latin typeface="Times New Roman" panose="02020603050405020304" pitchFamily="18" charset="0"/>
                <a:cs typeface="Times New Roman" panose="02020603050405020304" pitchFamily="18" charset="0"/>
              </a:rPr>
            </a:br>
            <a:r>
              <a:rPr lang="en-US" sz="1200" i="1" dirty="0">
                <a:solidFill>
                  <a:schemeClr val="tx1"/>
                </a:solidFill>
                <a:latin typeface="Times New Roman" panose="02020603050405020304" pitchFamily="18" charset="0"/>
                <a:cs typeface="Times New Roman" panose="02020603050405020304" pitchFamily="18" charset="0"/>
              </a:rPr>
              <a:t>Target: share of top creators who react; engagement per post by cohort.</a:t>
            </a:r>
            <a:endParaRPr lang="en-US" sz="1200" dirty="0">
              <a:solidFill>
                <a:schemeClr val="tx1"/>
              </a:solidFill>
              <a:latin typeface="Times New Roman" panose="02020603050405020304" pitchFamily="18" charset="0"/>
              <a:cs typeface="Times New Roman" panose="02020603050405020304" pitchFamily="18" charset="0"/>
            </a:endParaRPr>
          </a:p>
        </p:txBody>
      </p:sp>
      <p:sp>
        <p:nvSpPr>
          <p:cNvPr id="25" name="Rounded Rectangle 24"/>
          <p:cNvSpPr/>
          <p:nvPr/>
        </p:nvSpPr>
        <p:spPr>
          <a:xfrm>
            <a:off x="708660" y="5251475"/>
            <a:ext cx="10607040" cy="1078992"/>
          </a:xfrm>
          <a:prstGeom prst="roundRect">
            <a:avLst/>
          </a:prstGeom>
          <a:solidFill>
            <a:srgbClr val="FFFFFF"/>
          </a:solidFill>
          <a:ln>
            <a:solidFill>
              <a:srgbClr val="DCE7E4"/>
            </a:solidFill>
          </a:ln>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nSpc>
                <a:spcPct val="150000"/>
              </a:lnSpc>
            </a:pPr>
            <a:r>
              <a:rPr lang="en-US" sz="1200" b="1" dirty="0">
                <a:solidFill>
                  <a:schemeClr val="tx1"/>
                </a:solidFill>
                <a:latin typeface="Times New Roman" panose="02020603050405020304" pitchFamily="18" charset="0"/>
                <a:cs typeface="Times New Roman" panose="02020603050405020304" pitchFamily="18" charset="0"/>
              </a:rPr>
              <a:t>04 | Capture the missing data, then scale spend</a:t>
            </a:r>
            <a:r>
              <a:rPr lang="en-US" sz="1200" dirty="0">
                <a:solidFill>
                  <a:schemeClr val="tx1"/>
                </a:solidFill>
                <a:latin typeface="Times New Roman" panose="02020603050405020304" pitchFamily="18" charset="0"/>
                <a:cs typeface="Times New Roman" panose="02020603050405020304" pitchFamily="18" charset="0"/>
              </a:rPr>
              <a:t/>
            </a:r>
            <a:br>
              <a:rPr lang="en-US" sz="1200" dirty="0">
                <a:solidFill>
                  <a:schemeClr val="tx1"/>
                </a:solidFill>
                <a:latin typeface="Times New Roman" panose="02020603050405020304" pitchFamily="18" charset="0"/>
                <a:cs typeface="Times New Roman" panose="02020603050405020304" pitchFamily="18" charset="0"/>
              </a:rPr>
            </a:br>
            <a:r>
              <a:rPr lang="en-US" sz="1200" dirty="0">
                <a:solidFill>
                  <a:schemeClr val="tx1"/>
                </a:solidFill>
                <a:latin typeface="Times New Roman" panose="02020603050405020304" pitchFamily="18" charset="0"/>
                <a:cs typeface="Times New Roman" panose="02020603050405020304" pitchFamily="18" charset="0"/>
              </a:rPr>
              <a:t>Start logging event timestamps and content type, which unlock the time and format analysis this data cannot support today. Run small creator and campaign pilots and scale only those that beat a pre-set return.</a:t>
            </a:r>
            <a:br>
              <a:rPr lang="en-US" sz="1200" dirty="0">
                <a:solidFill>
                  <a:schemeClr val="tx1"/>
                </a:solidFill>
                <a:latin typeface="Times New Roman" panose="02020603050405020304" pitchFamily="18" charset="0"/>
                <a:cs typeface="Times New Roman" panose="02020603050405020304" pitchFamily="18" charset="0"/>
              </a:rPr>
            </a:br>
            <a:r>
              <a:rPr lang="en-US" sz="1200" i="1" dirty="0">
                <a:solidFill>
                  <a:schemeClr val="tx1"/>
                </a:solidFill>
                <a:latin typeface="Times New Roman" panose="02020603050405020304" pitchFamily="18" charset="0"/>
                <a:cs typeface="Times New Roman" panose="02020603050405020304" pitchFamily="18" charset="0"/>
              </a:rPr>
              <a:t>Target: conversion lift versus holdout, and cost per conversion.</a:t>
            </a:r>
            <a:endParaRPr lang="en-US" sz="12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9F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7EABAA"/>
          </a:solidFill>
          <a:ln>
            <a:solidFill>
              <a:srgbClr val="7EABAA"/>
            </a:solidFill>
          </a:ln>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spcBef>
                <a:spcPts val="0"/>
              </a:spcBef>
              <a:spcAft>
                <a:spcPts val="300"/>
              </a:spcAft>
            </a:pPr>
            <a:endParaRPr/>
          </a:p>
        </p:txBody>
      </p:sp>
      <p:sp>
        <p:nvSpPr>
          <p:cNvPr id="8" name="Rounded Rectangle 7"/>
          <p:cNvSpPr/>
          <p:nvPr/>
        </p:nvSpPr>
        <p:spPr>
          <a:xfrm>
            <a:off x="731520" y="1783080"/>
            <a:ext cx="3429000" cy="1417320"/>
          </a:xfrm>
          <a:prstGeom prst="roundRect">
            <a:avLst/>
          </a:prstGeom>
          <a:solidFill>
            <a:srgbClr val="FFFFFF"/>
          </a:solidFill>
          <a:ln>
            <a:solidFill>
              <a:srgbClr val="DCE7E4"/>
            </a:solidFill>
          </a:ln>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spcBef>
                <a:spcPts val="0"/>
              </a:spcBef>
              <a:spcAft>
                <a:spcPts val="300"/>
              </a:spcAft>
            </a:pPr>
            <a:endParaRPr/>
          </a:p>
        </p:txBody>
      </p:sp>
      <p:sp>
        <p:nvSpPr>
          <p:cNvPr id="9" name="TextBox 8"/>
          <p:cNvSpPr txBox="1"/>
          <p:nvPr/>
        </p:nvSpPr>
        <p:spPr>
          <a:xfrm>
            <a:off x="896112" y="1965960"/>
            <a:ext cx="2651760" cy="201168"/>
          </a:xfrm>
          <a:prstGeom prst="rect">
            <a:avLst/>
          </a:prstGeom>
          <a:noFill/>
        </p:spPr>
        <p:txBody>
          <a:bodyPr wrap="square" lIns="38100" tIns="25400" rIns="38100" bIns="25400" anchor="t">
            <a:spAutoFit/>
          </a:bodyPr>
          <a:lstStyle/>
          <a:p>
            <a:pPr algn="l">
              <a:spcBef>
                <a:spcPts val="0"/>
              </a:spcBef>
              <a:spcAft>
                <a:spcPts val="300"/>
              </a:spcAft>
            </a:pPr>
            <a:r>
              <a:rPr sz="1400" b="1" i="0">
                <a:solidFill>
                  <a:srgbClr val="395B5E"/>
                </a:solidFill>
                <a:latin typeface="Times New Roman"/>
              </a:rPr>
              <a:t>ACTIVATION GAP</a:t>
            </a:r>
          </a:p>
        </p:txBody>
      </p:sp>
      <p:sp>
        <p:nvSpPr>
          <p:cNvPr id="10" name="TextBox 9"/>
          <p:cNvSpPr txBox="1"/>
          <p:nvPr/>
        </p:nvSpPr>
        <p:spPr>
          <a:xfrm>
            <a:off x="896112" y="2258568"/>
            <a:ext cx="2651760" cy="411480"/>
          </a:xfrm>
          <a:prstGeom prst="rect">
            <a:avLst/>
          </a:prstGeom>
          <a:noFill/>
        </p:spPr>
        <p:txBody>
          <a:bodyPr wrap="square" lIns="38100" tIns="25400" rIns="38100" bIns="25400" anchor="t">
            <a:spAutoFit/>
          </a:bodyPr>
          <a:lstStyle/>
          <a:p>
            <a:pPr algn="l">
              <a:spcBef>
                <a:spcPts val="0"/>
              </a:spcBef>
              <a:spcAft>
                <a:spcPts val="300"/>
              </a:spcAft>
            </a:pPr>
            <a:r>
              <a:rPr sz="1600" b="1" i="0">
                <a:solidFill>
                  <a:srgbClr val="193132"/>
                </a:solidFill>
                <a:latin typeface="Times New Roman"/>
              </a:rPr>
              <a:t>26 users</a:t>
            </a:r>
          </a:p>
        </p:txBody>
      </p:sp>
      <p:sp>
        <p:nvSpPr>
          <p:cNvPr id="11" name="TextBox 10"/>
          <p:cNvSpPr txBox="1"/>
          <p:nvPr/>
        </p:nvSpPr>
        <p:spPr>
          <a:xfrm>
            <a:off x="896112" y="2724912"/>
            <a:ext cx="2651760" cy="235962"/>
          </a:xfrm>
          <a:prstGeom prst="rect">
            <a:avLst/>
          </a:prstGeom>
          <a:noFill/>
        </p:spPr>
        <p:txBody>
          <a:bodyPr wrap="square" lIns="38100" tIns="25400" rIns="38100" bIns="25400" anchor="t">
            <a:spAutoFit/>
          </a:bodyPr>
          <a:lstStyle/>
          <a:p>
            <a:pPr algn="l">
              <a:spcBef>
                <a:spcPts val="0"/>
              </a:spcBef>
              <a:spcAft>
                <a:spcPts val="300"/>
              </a:spcAft>
            </a:pPr>
            <a:r>
              <a:rPr sz="1200" b="0" i="0" dirty="0">
                <a:solidFill>
                  <a:srgbClr val="24393A"/>
                </a:solidFill>
                <a:latin typeface="Times New Roman"/>
              </a:rPr>
              <a:t>never posted</a:t>
            </a:r>
          </a:p>
        </p:txBody>
      </p:sp>
      <p:sp>
        <p:nvSpPr>
          <p:cNvPr id="12" name="Rounded Rectangle 11"/>
          <p:cNvSpPr/>
          <p:nvPr/>
        </p:nvSpPr>
        <p:spPr>
          <a:xfrm>
            <a:off x="4389120" y="1783080"/>
            <a:ext cx="3429000" cy="1417320"/>
          </a:xfrm>
          <a:prstGeom prst="roundRect">
            <a:avLst/>
          </a:prstGeom>
          <a:solidFill>
            <a:srgbClr val="FFFFFF"/>
          </a:solidFill>
          <a:ln>
            <a:solidFill>
              <a:srgbClr val="DCE7E4"/>
            </a:solidFill>
          </a:ln>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spcBef>
                <a:spcPts val="0"/>
              </a:spcBef>
              <a:spcAft>
                <a:spcPts val="300"/>
              </a:spcAft>
            </a:pPr>
            <a:endParaRPr/>
          </a:p>
        </p:txBody>
      </p:sp>
      <p:sp>
        <p:nvSpPr>
          <p:cNvPr id="13" name="TextBox 12"/>
          <p:cNvSpPr txBox="1"/>
          <p:nvPr/>
        </p:nvSpPr>
        <p:spPr>
          <a:xfrm>
            <a:off x="4553712" y="1965960"/>
            <a:ext cx="2651760" cy="201168"/>
          </a:xfrm>
          <a:prstGeom prst="rect">
            <a:avLst/>
          </a:prstGeom>
          <a:noFill/>
        </p:spPr>
        <p:txBody>
          <a:bodyPr wrap="square" lIns="38100" tIns="25400" rIns="38100" bIns="25400" anchor="t">
            <a:spAutoFit/>
          </a:bodyPr>
          <a:lstStyle/>
          <a:p>
            <a:pPr algn="l">
              <a:spcBef>
                <a:spcPts val="0"/>
              </a:spcBef>
              <a:spcAft>
                <a:spcPts val="300"/>
              </a:spcAft>
            </a:pPr>
            <a:r>
              <a:rPr sz="1400" b="1" i="0">
                <a:solidFill>
                  <a:srgbClr val="395B5E"/>
                </a:solidFill>
                <a:latin typeface="Times New Roman"/>
              </a:rPr>
              <a:t>TAG OPPORTUNITY</a:t>
            </a:r>
          </a:p>
        </p:txBody>
      </p:sp>
      <p:sp>
        <p:nvSpPr>
          <p:cNvPr id="14" name="TextBox 13"/>
          <p:cNvSpPr txBox="1"/>
          <p:nvPr/>
        </p:nvSpPr>
        <p:spPr>
          <a:xfrm>
            <a:off x="4553712" y="2258568"/>
            <a:ext cx="2651760" cy="411480"/>
          </a:xfrm>
          <a:prstGeom prst="rect">
            <a:avLst/>
          </a:prstGeom>
          <a:noFill/>
        </p:spPr>
        <p:txBody>
          <a:bodyPr wrap="square" lIns="38100" tIns="25400" rIns="38100" bIns="25400" anchor="t">
            <a:spAutoFit/>
          </a:bodyPr>
          <a:lstStyle/>
          <a:p>
            <a:pPr algn="l">
              <a:spcBef>
                <a:spcPts val="0"/>
              </a:spcBef>
              <a:spcAft>
                <a:spcPts val="300"/>
              </a:spcAft>
            </a:pPr>
            <a:r>
              <a:rPr sz="1600" b="1" i="0">
                <a:solidFill>
                  <a:srgbClr val="193132"/>
                </a:solidFill>
                <a:latin typeface="Times New Roman"/>
              </a:rPr>
              <a:t>67 photos</a:t>
            </a:r>
          </a:p>
        </p:txBody>
      </p:sp>
      <p:sp>
        <p:nvSpPr>
          <p:cNvPr id="15" name="TextBox 14"/>
          <p:cNvSpPr txBox="1"/>
          <p:nvPr/>
        </p:nvSpPr>
        <p:spPr>
          <a:xfrm>
            <a:off x="4553712" y="2724912"/>
            <a:ext cx="2651760" cy="235962"/>
          </a:xfrm>
          <a:prstGeom prst="rect">
            <a:avLst/>
          </a:prstGeom>
          <a:noFill/>
        </p:spPr>
        <p:txBody>
          <a:bodyPr wrap="square" lIns="38100" tIns="25400" rIns="38100" bIns="25400" anchor="t">
            <a:spAutoFit/>
          </a:bodyPr>
          <a:lstStyle/>
          <a:p>
            <a:pPr algn="l">
              <a:spcBef>
                <a:spcPts val="0"/>
              </a:spcBef>
              <a:spcAft>
                <a:spcPts val="300"/>
              </a:spcAft>
            </a:pPr>
            <a:r>
              <a:rPr sz="1200" b="0" i="0" dirty="0">
                <a:solidFill>
                  <a:srgbClr val="24393A"/>
                </a:solidFill>
                <a:latin typeface="Times New Roman"/>
              </a:rPr>
              <a:t>have no tags</a:t>
            </a:r>
          </a:p>
        </p:txBody>
      </p:sp>
      <p:sp>
        <p:nvSpPr>
          <p:cNvPr id="16" name="Rounded Rectangle 15"/>
          <p:cNvSpPr/>
          <p:nvPr/>
        </p:nvSpPr>
        <p:spPr>
          <a:xfrm>
            <a:off x="8046720" y="1783080"/>
            <a:ext cx="3429000" cy="1417320"/>
          </a:xfrm>
          <a:prstGeom prst="roundRect">
            <a:avLst/>
          </a:prstGeom>
          <a:solidFill>
            <a:srgbClr val="FFFFFF"/>
          </a:solidFill>
          <a:ln>
            <a:solidFill>
              <a:srgbClr val="DCE7E4"/>
            </a:solidFill>
          </a:ln>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spcBef>
                <a:spcPts val="0"/>
              </a:spcBef>
              <a:spcAft>
                <a:spcPts val="300"/>
              </a:spcAft>
            </a:pPr>
            <a:endParaRPr/>
          </a:p>
        </p:txBody>
      </p:sp>
      <p:sp>
        <p:nvSpPr>
          <p:cNvPr id="17" name="TextBox 16"/>
          <p:cNvSpPr txBox="1"/>
          <p:nvPr/>
        </p:nvSpPr>
        <p:spPr>
          <a:xfrm>
            <a:off x="8211312" y="1965960"/>
            <a:ext cx="2651760" cy="201168"/>
          </a:xfrm>
          <a:prstGeom prst="rect">
            <a:avLst/>
          </a:prstGeom>
          <a:noFill/>
        </p:spPr>
        <p:txBody>
          <a:bodyPr wrap="square" lIns="38100" tIns="25400" rIns="38100" bIns="25400" anchor="t">
            <a:spAutoFit/>
          </a:bodyPr>
          <a:lstStyle/>
          <a:p>
            <a:pPr algn="l">
              <a:spcBef>
                <a:spcPts val="0"/>
              </a:spcBef>
              <a:spcAft>
                <a:spcPts val="300"/>
              </a:spcAft>
            </a:pPr>
            <a:r>
              <a:rPr sz="1400" b="1" i="0">
                <a:solidFill>
                  <a:srgbClr val="395B5E"/>
                </a:solidFill>
                <a:latin typeface="Times New Roman"/>
              </a:rPr>
              <a:t>CREATOR BASELINE</a:t>
            </a:r>
          </a:p>
        </p:txBody>
      </p:sp>
      <p:sp>
        <p:nvSpPr>
          <p:cNvPr id="18" name="TextBox 17"/>
          <p:cNvSpPr txBox="1"/>
          <p:nvPr/>
        </p:nvSpPr>
        <p:spPr>
          <a:xfrm>
            <a:off x="8211312" y="2258568"/>
            <a:ext cx="2651760" cy="411480"/>
          </a:xfrm>
          <a:prstGeom prst="rect">
            <a:avLst/>
          </a:prstGeom>
          <a:noFill/>
        </p:spPr>
        <p:txBody>
          <a:bodyPr wrap="square" lIns="38100" tIns="25400" rIns="38100" bIns="25400" anchor="t">
            <a:spAutoFit/>
          </a:bodyPr>
          <a:lstStyle/>
          <a:p>
            <a:pPr algn="l">
              <a:spcBef>
                <a:spcPts val="0"/>
              </a:spcBef>
              <a:spcAft>
                <a:spcPts val="300"/>
              </a:spcAft>
            </a:pPr>
            <a:r>
              <a:rPr sz="1600" b="1" i="0">
                <a:solidFill>
                  <a:srgbClr val="193132"/>
                </a:solidFill>
                <a:latin typeface="Times New Roman"/>
              </a:rPr>
              <a:t>63.3</a:t>
            </a:r>
          </a:p>
        </p:txBody>
      </p:sp>
      <p:sp>
        <p:nvSpPr>
          <p:cNvPr id="19" name="TextBox 18"/>
          <p:cNvSpPr txBox="1"/>
          <p:nvPr/>
        </p:nvSpPr>
        <p:spPr>
          <a:xfrm>
            <a:off x="8211312" y="2724912"/>
            <a:ext cx="2651760" cy="235962"/>
          </a:xfrm>
          <a:prstGeom prst="rect">
            <a:avLst/>
          </a:prstGeom>
          <a:noFill/>
        </p:spPr>
        <p:txBody>
          <a:bodyPr wrap="square" lIns="38100" tIns="25400" rIns="38100" bIns="25400" anchor="t">
            <a:spAutoFit/>
          </a:bodyPr>
          <a:lstStyle/>
          <a:p>
            <a:pPr algn="l">
              <a:spcBef>
                <a:spcPts val="0"/>
              </a:spcBef>
              <a:spcAft>
                <a:spcPts val="300"/>
              </a:spcAft>
            </a:pPr>
            <a:r>
              <a:rPr sz="1200" b="0" i="0" dirty="0">
                <a:solidFill>
                  <a:srgbClr val="24393A"/>
                </a:solidFill>
                <a:latin typeface="Times New Roman"/>
              </a:rPr>
              <a:t>engagements per post</a:t>
            </a:r>
          </a:p>
        </p:txBody>
      </p:sp>
      <p:sp>
        <p:nvSpPr>
          <p:cNvPr id="20" name="TextBox 19"/>
          <p:cNvSpPr txBox="1"/>
          <p:nvPr/>
        </p:nvSpPr>
        <p:spPr>
          <a:xfrm>
            <a:off x="822960" y="3703320"/>
            <a:ext cx="4114800" cy="266740"/>
          </a:xfrm>
          <a:prstGeom prst="rect">
            <a:avLst/>
          </a:prstGeom>
          <a:noFill/>
        </p:spPr>
        <p:txBody>
          <a:bodyPr wrap="square" lIns="38100" tIns="25400" rIns="38100" bIns="25400" anchor="t">
            <a:spAutoFit/>
          </a:bodyPr>
          <a:lstStyle/>
          <a:p>
            <a:pPr algn="l">
              <a:spcBef>
                <a:spcPts val="0"/>
              </a:spcBef>
              <a:spcAft>
                <a:spcPts val="300"/>
              </a:spcAft>
            </a:pPr>
            <a:r>
              <a:rPr sz="1400" b="1" i="0" dirty="0">
                <a:solidFill>
                  <a:srgbClr val="395B5E"/>
                </a:solidFill>
                <a:latin typeface="Times New Roman"/>
              </a:rPr>
              <a:t>WHAT TO MONITOR WEEKLY</a:t>
            </a:r>
          </a:p>
        </p:txBody>
      </p:sp>
      <p:sp>
        <p:nvSpPr>
          <p:cNvPr id="21" name="TextBox 20"/>
          <p:cNvSpPr txBox="1"/>
          <p:nvPr/>
        </p:nvSpPr>
        <p:spPr>
          <a:xfrm>
            <a:off x="914400" y="4096512"/>
            <a:ext cx="1645920" cy="235962"/>
          </a:xfrm>
          <a:prstGeom prst="rect">
            <a:avLst/>
          </a:prstGeom>
          <a:noFill/>
        </p:spPr>
        <p:txBody>
          <a:bodyPr wrap="square" lIns="38100" tIns="25400" rIns="38100" bIns="25400" anchor="t">
            <a:spAutoFit/>
          </a:bodyPr>
          <a:lstStyle/>
          <a:p>
            <a:pPr algn="l">
              <a:spcBef>
                <a:spcPts val="0"/>
              </a:spcBef>
              <a:spcAft>
                <a:spcPts val="300"/>
              </a:spcAft>
            </a:pPr>
            <a:r>
              <a:rPr sz="1200" b="1" i="0">
                <a:solidFill>
                  <a:srgbClr val="24393A"/>
                </a:solidFill>
                <a:latin typeface="Times New Roman"/>
              </a:rPr>
              <a:t>Activation</a:t>
            </a:r>
          </a:p>
        </p:txBody>
      </p:sp>
      <p:sp>
        <p:nvSpPr>
          <p:cNvPr id="22" name="TextBox 21"/>
          <p:cNvSpPr txBox="1"/>
          <p:nvPr/>
        </p:nvSpPr>
        <p:spPr>
          <a:xfrm>
            <a:off x="2743200" y="4096512"/>
            <a:ext cx="8046720" cy="235962"/>
          </a:xfrm>
          <a:prstGeom prst="rect">
            <a:avLst/>
          </a:prstGeom>
          <a:noFill/>
        </p:spPr>
        <p:txBody>
          <a:bodyPr wrap="square" lIns="38100" tIns="25400" rIns="38100" bIns="25400" anchor="t">
            <a:spAutoFit/>
          </a:bodyPr>
          <a:lstStyle/>
          <a:p>
            <a:pPr algn="l">
              <a:spcBef>
                <a:spcPts val="0"/>
              </a:spcBef>
              <a:spcAft>
                <a:spcPts val="300"/>
              </a:spcAft>
            </a:pPr>
            <a:r>
              <a:rPr sz="1200" b="0" i="0" dirty="0">
                <a:solidFill>
                  <a:srgbClr val="24393A"/>
                </a:solidFill>
                <a:latin typeface="Times New Roman"/>
              </a:rPr>
              <a:t>first follow / first reaction among dormant users</a:t>
            </a:r>
          </a:p>
        </p:txBody>
      </p:sp>
      <p:sp>
        <p:nvSpPr>
          <p:cNvPr id="23" name="TextBox 22"/>
          <p:cNvSpPr txBox="1"/>
          <p:nvPr/>
        </p:nvSpPr>
        <p:spPr>
          <a:xfrm>
            <a:off x="914400" y="4535424"/>
            <a:ext cx="1645920" cy="235962"/>
          </a:xfrm>
          <a:prstGeom prst="rect">
            <a:avLst/>
          </a:prstGeom>
          <a:noFill/>
        </p:spPr>
        <p:txBody>
          <a:bodyPr wrap="square" lIns="38100" tIns="25400" rIns="38100" bIns="25400" anchor="t">
            <a:spAutoFit/>
          </a:bodyPr>
          <a:lstStyle/>
          <a:p>
            <a:pPr algn="l">
              <a:spcBef>
                <a:spcPts val="0"/>
              </a:spcBef>
              <a:spcAft>
                <a:spcPts val="300"/>
              </a:spcAft>
            </a:pPr>
            <a:r>
              <a:rPr sz="1200" b="1" i="0">
                <a:solidFill>
                  <a:srgbClr val="24393A"/>
                </a:solidFill>
                <a:latin typeface="Times New Roman"/>
              </a:rPr>
              <a:t>Creation</a:t>
            </a:r>
          </a:p>
        </p:txBody>
      </p:sp>
      <p:sp>
        <p:nvSpPr>
          <p:cNvPr id="24" name="TextBox 23"/>
          <p:cNvSpPr txBox="1"/>
          <p:nvPr/>
        </p:nvSpPr>
        <p:spPr>
          <a:xfrm>
            <a:off x="2743200" y="4535424"/>
            <a:ext cx="8046720" cy="235962"/>
          </a:xfrm>
          <a:prstGeom prst="rect">
            <a:avLst/>
          </a:prstGeom>
          <a:noFill/>
        </p:spPr>
        <p:txBody>
          <a:bodyPr wrap="square" lIns="38100" tIns="25400" rIns="38100" bIns="25400" anchor="t">
            <a:spAutoFit/>
          </a:bodyPr>
          <a:lstStyle/>
          <a:p>
            <a:pPr algn="l">
              <a:spcBef>
                <a:spcPts val="0"/>
              </a:spcBef>
              <a:spcAft>
                <a:spcPts val="300"/>
              </a:spcAft>
            </a:pPr>
            <a:r>
              <a:rPr sz="1200" b="0" i="0" dirty="0">
                <a:solidFill>
                  <a:srgbClr val="24393A"/>
                </a:solidFill>
                <a:latin typeface="Times New Roman"/>
              </a:rPr>
              <a:t>share of active users publishing a first post</a:t>
            </a:r>
          </a:p>
        </p:txBody>
      </p:sp>
      <p:sp>
        <p:nvSpPr>
          <p:cNvPr id="25" name="TextBox 24"/>
          <p:cNvSpPr txBox="1"/>
          <p:nvPr/>
        </p:nvSpPr>
        <p:spPr>
          <a:xfrm>
            <a:off x="914400" y="4974336"/>
            <a:ext cx="1645920" cy="235962"/>
          </a:xfrm>
          <a:prstGeom prst="rect">
            <a:avLst/>
          </a:prstGeom>
          <a:noFill/>
        </p:spPr>
        <p:txBody>
          <a:bodyPr wrap="square" lIns="38100" tIns="25400" rIns="38100" bIns="25400" anchor="t">
            <a:spAutoFit/>
          </a:bodyPr>
          <a:lstStyle/>
          <a:p>
            <a:pPr algn="l">
              <a:spcBef>
                <a:spcPts val="0"/>
              </a:spcBef>
              <a:spcAft>
                <a:spcPts val="300"/>
              </a:spcAft>
            </a:pPr>
            <a:r>
              <a:rPr sz="1200" b="1" i="0">
                <a:solidFill>
                  <a:srgbClr val="24393A"/>
                </a:solidFill>
                <a:latin typeface="Times New Roman"/>
              </a:rPr>
              <a:t>Quality</a:t>
            </a:r>
          </a:p>
        </p:txBody>
      </p:sp>
      <p:sp>
        <p:nvSpPr>
          <p:cNvPr id="26" name="TextBox 25"/>
          <p:cNvSpPr txBox="1"/>
          <p:nvPr/>
        </p:nvSpPr>
        <p:spPr>
          <a:xfrm>
            <a:off x="2743200" y="4974336"/>
            <a:ext cx="8046720" cy="235962"/>
          </a:xfrm>
          <a:prstGeom prst="rect">
            <a:avLst/>
          </a:prstGeom>
          <a:noFill/>
        </p:spPr>
        <p:txBody>
          <a:bodyPr wrap="square" lIns="38100" tIns="25400" rIns="38100" bIns="25400" anchor="t">
            <a:spAutoFit/>
          </a:bodyPr>
          <a:lstStyle/>
          <a:p>
            <a:pPr algn="l">
              <a:spcBef>
                <a:spcPts val="0"/>
              </a:spcBef>
              <a:spcAft>
                <a:spcPts val="300"/>
              </a:spcAft>
            </a:pPr>
            <a:r>
              <a:rPr sz="1200" b="0" i="0" dirty="0">
                <a:solidFill>
                  <a:srgbClr val="24393A"/>
                </a:solidFill>
                <a:latin typeface="Times New Roman"/>
              </a:rPr>
              <a:t>engagement per post by creator cohort</a:t>
            </a:r>
          </a:p>
        </p:txBody>
      </p:sp>
      <p:sp>
        <p:nvSpPr>
          <p:cNvPr id="27" name="TextBox 26"/>
          <p:cNvSpPr txBox="1"/>
          <p:nvPr/>
        </p:nvSpPr>
        <p:spPr>
          <a:xfrm>
            <a:off x="914400" y="5413248"/>
            <a:ext cx="1645920" cy="235962"/>
          </a:xfrm>
          <a:prstGeom prst="rect">
            <a:avLst/>
          </a:prstGeom>
          <a:noFill/>
        </p:spPr>
        <p:txBody>
          <a:bodyPr wrap="square" lIns="38100" tIns="25400" rIns="38100" bIns="25400" anchor="t">
            <a:spAutoFit/>
          </a:bodyPr>
          <a:lstStyle/>
          <a:p>
            <a:pPr algn="l">
              <a:spcBef>
                <a:spcPts val="0"/>
              </a:spcBef>
              <a:spcAft>
                <a:spcPts val="300"/>
              </a:spcAft>
            </a:pPr>
            <a:r>
              <a:rPr sz="1200" b="1" i="0">
                <a:solidFill>
                  <a:srgbClr val="24393A"/>
                </a:solidFill>
                <a:latin typeface="Times New Roman"/>
              </a:rPr>
              <a:t>Campaign lift</a:t>
            </a:r>
          </a:p>
        </p:txBody>
      </p:sp>
      <p:sp>
        <p:nvSpPr>
          <p:cNvPr id="28" name="TextBox 27"/>
          <p:cNvSpPr txBox="1"/>
          <p:nvPr/>
        </p:nvSpPr>
        <p:spPr>
          <a:xfrm>
            <a:off x="2743200" y="5413248"/>
            <a:ext cx="8046720" cy="235962"/>
          </a:xfrm>
          <a:prstGeom prst="rect">
            <a:avLst/>
          </a:prstGeom>
          <a:noFill/>
        </p:spPr>
        <p:txBody>
          <a:bodyPr wrap="square" lIns="38100" tIns="25400" rIns="38100" bIns="25400" anchor="t">
            <a:spAutoFit/>
          </a:bodyPr>
          <a:lstStyle/>
          <a:p>
            <a:pPr algn="l">
              <a:spcBef>
                <a:spcPts val="0"/>
              </a:spcBef>
              <a:spcAft>
                <a:spcPts val="300"/>
              </a:spcAft>
            </a:pPr>
            <a:r>
              <a:rPr sz="1200" b="0" i="0">
                <a:solidFill>
                  <a:srgbClr val="24393A"/>
                </a:solidFill>
                <a:latin typeface="Times New Roman"/>
              </a:rPr>
              <a:t>conversion lift vs. holdout and cost per conversion</a:t>
            </a:r>
          </a:p>
        </p:txBody>
      </p:sp>
      <p:sp>
        <p:nvSpPr>
          <p:cNvPr id="29" name="TextBox 28"/>
          <p:cNvSpPr txBox="1"/>
          <p:nvPr/>
        </p:nvSpPr>
        <p:spPr>
          <a:xfrm>
            <a:off x="138544" y="256032"/>
            <a:ext cx="10881360" cy="420628"/>
          </a:xfrm>
          <a:prstGeom prst="rect">
            <a:avLst/>
          </a:prstGeom>
          <a:noFill/>
        </p:spPr>
        <p:txBody>
          <a:bodyPr wrap="square" lIns="38100" tIns="25400" rIns="38100" bIns="25400" anchor="t">
            <a:spAutoFit/>
          </a:bodyPr>
          <a:lstStyle/>
          <a:p>
            <a:pPr>
              <a:spcAft>
                <a:spcPts val="300"/>
              </a:spcAft>
            </a:pPr>
            <a:r>
              <a:rPr lang="en-IN" sz="2400" b="1" i="0" dirty="0" smtClean="0">
                <a:solidFill>
                  <a:srgbClr val="587070"/>
                </a:solidFill>
                <a:latin typeface="Times New Roman"/>
              </a:rPr>
              <a:t>08 | </a:t>
            </a:r>
            <a:r>
              <a:rPr lang="en-IN" sz="2400" b="1" dirty="0" smtClean="0">
                <a:solidFill>
                  <a:schemeClr val="accent5">
                    <a:lumMod val="50000"/>
                  </a:schemeClr>
                </a:solidFill>
                <a:latin typeface="Times New Roman" panose="02020603050405020304" pitchFamily="18" charset="0"/>
                <a:cs typeface="Times New Roman" panose="02020603050405020304" pitchFamily="18" charset="0"/>
              </a:rPr>
              <a:t>SUMMARY</a:t>
            </a:r>
            <a:endParaRPr sz="2400" b="1" i="0" dirty="0">
              <a:solidFill>
                <a:schemeClr val="accent5">
                  <a:lumMod val="50000"/>
                </a:schemeClr>
              </a:solidFill>
              <a:latin typeface="Times New Roman" panose="02020603050405020304" pitchFamily="18" charset="0"/>
              <a:cs typeface="Times New Roman" panose="02020603050405020304" pitchFamily="18" charset="0"/>
            </a:endParaRPr>
          </a:p>
        </p:txBody>
      </p:sp>
      <p:pic>
        <p:nvPicPr>
          <p:cNvPr id="30" name="Picture 2" descr="Instagram logo blue Images - Free Download on Magnific (formerly Freepik)"/>
          <p:cNvPicPr>
            <a:picLocks noChangeAspect="1" noChangeArrowheads="1"/>
          </p:cNvPicPr>
          <p:nvPr/>
        </p:nvPicPr>
        <p:blipFill rotWithShape="1">
          <a:blip r:embed="rId2">
            <a:extLst>
              <a:ext uri="{BEBA8EAE-BF5A-486C-A8C5-ECC9F3942E4B}">
                <a14:imgProps xmlns:a14="http://schemas.microsoft.com/office/drawing/2010/main">
                  <a14:imgLayer r:embed="rId3">
                    <a14:imgEffect>
                      <a14:brightnessContrast bright="20000"/>
                    </a14:imgEffect>
                  </a14:imgLayer>
                </a14:imgProps>
              </a:ext>
              <a:ext uri="{28A0092B-C50C-407E-A947-70E740481C1C}">
                <a14:useLocalDpi xmlns:a14="http://schemas.microsoft.com/office/drawing/2010/main" val="0"/>
              </a:ext>
            </a:extLst>
          </a:blip>
          <a:srcRect l="22466" t="23995" r="23087" b="23130"/>
          <a:stretch/>
        </p:blipFill>
        <p:spPr bwMode="auto">
          <a:xfrm>
            <a:off x="544484" y="5796824"/>
            <a:ext cx="831272" cy="807264"/>
          </a:xfrm>
          <a:prstGeom prst="rect">
            <a:avLst/>
          </a:prstGeom>
          <a:noFill/>
          <a:ln w="34925">
            <a:solidFill>
              <a:srgbClr val="FFFFFF"/>
            </a:solidFill>
          </a:ln>
          <a:effectLst>
            <a:outerShdw blurRad="317500" dir="2700000" algn="ctr">
              <a:srgbClr val="000000">
                <a:alpha val="43000"/>
              </a:srgbClr>
            </a:outerShdw>
          </a:effectLst>
          <a:scene3d>
            <a:camera prst="perspectiveFront" fov="2700000">
              <a:rot lat="19086000" lon="19067999" rev="3108000"/>
            </a:camera>
            <a:lightRig rig="threePt" dir="t">
              <a:rot lat="0" lon="0" rev="0"/>
            </a:lightRig>
          </a:scene3d>
          <a:sp3d extrusionH="38100" prstMaterial="clear">
            <a:bevelT w="260350" h="50800" prst="softRound"/>
            <a:bevelB prst="softRound"/>
          </a:sp3d>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9F7"/>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7EABAA"/>
          </a:solidFill>
          <a:ln>
            <a:solidFill>
              <a:srgbClr val="7EABAA"/>
            </a:solidFill>
          </a:ln>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spcBef>
                <a:spcPts val="0"/>
              </a:spcBef>
              <a:spcAft>
                <a:spcPts val="300"/>
              </a:spcAft>
            </a:pPr>
            <a:endParaRPr/>
          </a:p>
        </p:txBody>
      </p:sp>
      <p:sp>
        <p:nvSpPr>
          <p:cNvPr id="20" name="Rounded Rectangle 19"/>
          <p:cNvSpPr/>
          <p:nvPr/>
        </p:nvSpPr>
        <p:spPr>
          <a:xfrm>
            <a:off x="838047" y="516636"/>
            <a:ext cx="10515600" cy="1097280"/>
          </a:xfrm>
          <a:prstGeom prst="roundRect">
            <a:avLst/>
          </a:prstGeom>
          <a:solidFill>
            <a:srgbClr val="FFFFFF"/>
          </a:solidFill>
          <a:ln>
            <a:solidFill>
              <a:srgbClr val="DCE7E4"/>
            </a:solidFill>
          </a:ln>
        </p:spPr>
        <p:style>
          <a:lnRef idx="1">
            <a:schemeClr val="accent1"/>
          </a:lnRef>
          <a:fillRef idx="3">
            <a:schemeClr val="accent1"/>
          </a:fillRef>
          <a:effectRef idx="2">
            <a:schemeClr val="accent1"/>
          </a:effectRef>
          <a:fontRef idx="minor">
            <a:schemeClr val="lt1"/>
          </a:fontRef>
        </p:style>
        <p:txBody>
          <a:bodyPr wrap="square" lIns="38100" tIns="25400" rIns="38100" bIns="25400" rtlCol="0" anchor="ctr"/>
          <a:lstStyle/>
          <a:p>
            <a:pPr algn="ctr">
              <a:spcBef>
                <a:spcPts val="0"/>
              </a:spcBef>
              <a:spcAft>
                <a:spcPts val="300"/>
              </a:spcAft>
            </a:pPr>
            <a:endParaRPr/>
          </a:p>
        </p:txBody>
      </p:sp>
      <p:sp>
        <p:nvSpPr>
          <p:cNvPr id="21" name="TextBox 20"/>
          <p:cNvSpPr txBox="1"/>
          <p:nvPr/>
        </p:nvSpPr>
        <p:spPr>
          <a:xfrm>
            <a:off x="1097280" y="813816"/>
            <a:ext cx="9966960" cy="582211"/>
          </a:xfrm>
          <a:prstGeom prst="rect">
            <a:avLst/>
          </a:prstGeom>
          <a:noFill/>
        </p:spPr>
        <p:txBody>
          <a:bodyPr wrap="square" lIns="38100" tIns="25400" rIns="38100" bIns="25400" anchor="t">
            <a:spAutoFit/>
          </a:bodyPr>
          <a:lstStyle/>
          <a:p>
            <a:pPr algn="ctr">
              <a:spcBef>
                <a:spcPts val="0"/>
              </a:spcBef>
              <a:spcAft>
                <a:spcPts val="300"/>
              </a:spcAft>
            </a:pPr>
            <a:r>
              <a:rPr sz="1600" b="1" i="0" dirty="0">
                <a:solidFill>
                  <a:srgbClr val="193132"/>
                </a:solidFill>
                <a:latin typeface="Times New Roman"/>
              </a:rPr>
              <a:t>The strongest recommendation is not to spend more </a:t>
            </a:r>
            <a:r>
              <a:rPr sz="1600" b="1" i="0" dirty="0" smtClean="0">
                <a:solidFill>
                  <a:srgbClr val="193132"/>
                </a:solidFill>
                <a:latin typeface="Times New Roman"/>
              </a:rPr>
              <a:t>immediately</a:t>
            </a:r>
            <a:r>
              <a:rPr lang="en-IN" sz="1600" b="1" i="0" dirty="0" smtClean="0">
                <a:solidFill>
                  <a:srgbClr val="193132"/>
                </a:solidFill>
                <a:latin typeface="Times New Roman"/>
              </a:rPr>
              <a:t>;</a:t>
            </a:r>
          </a:p>
          <a:p>
            <a:pPr algn="ctr">
              <a:spcBef>
                <a:spcPts val="0"/>
              </a:spcBef>
              <a:spcAft>
                <a:spcPts val="300"/>
              </a:spcAft>
            </a:pPr>
            <a:r>
              <a:rPr sz="1600" b="1" i="0" dirty="0" smtClean="0">
                <a:solidFill>
                  <a:srgbClr val="193132"/>
                </a:solidFill>
                <a:latin typeface="Times New Roman"/>
              </a:rPr>
              <a:t> </a:t>
            </a:r>
            <a:r>
              <a:rPr sz="1600" b="1" i="0" dirty="0">
                <a:solidFill>
                  <a:srgbClr val="193132"/>
                </a:solidFill>
                <a:latin typeface="Times New Roman"/>
              </a:rPr>
              <a:t>it is to remove participation friction and build reliable measurement.</a:t>
            </a:r>
          </a:p>
        </p:txBody>
      </p:sp>
      <p:sp>
        <p:nvSpPr>
          <p:cNvPr id="22" name="TextBox 21"/>
          <p:cNvSpPr txBox="1"/>
          <p:nvPr/>
        </p:nvSpPr>
        <p:spPr>
          <a:xfrm>
            <a:off x="2152997" y="3581400"/>
            <a:ext cx="10515600" cy="666849"/>
          </a:xfrm>
          <a:prstGeom prst="rect">
            <a:avLst/>
          </a:prstGeom>
          <a:noFill/>
        </p:spPr>
        <p:txBody>
          <a:bodyPr wrap="square" lIns="38100" tIns="25400" rIns="38100" bIns="25400" anchor="t">
            <a:spAutoFit/>
          </a:bodyPr>
          <a:lstStyle/>
          <a:p>
            <a:pPr algn="ctr">
              <a:spcBef>
                <a:spcPts val="0"/>
              </a:spcBef>
              <a:spcAft>
                <a:spcPts val="300"/>
              </a:spcAft>
            </a:pPr>
            <a:r>
              <a:rPr sz="4000" b="1" i="0" dirty="0">
                <a:solidFill>
                  <a:srgbClr val="24393A"/>
                </a:solidFill>
                <a:latin typeface="Times New Roman"/>
              </a:rPr>
              <a:t>THANK </a:t>
            </a:r>
            <a:r>
              <a:rPr sz="4000" b="1" i="0" dirty="0" smtClean="0">
                <a:solidFill>
                  <a:srgbClr val="24393A"/>
                </a:solidFill>
                <a:latin typeface="Times New Roman"/>
              </a:rPr>
              <a:t>YOU</a:t>
            </a:r>
            <a:endParaRPr sz="4000" b="1" i="0" dirty="0">
              <a:solidFill>
                <a:srgbClr val="24393A"/>
              </a:solidFill>
              <a:latin typeface="Times New Roman"/>
            </a:endParaRPr>
          </a:p>
        </p:txBody>
      </p:sp>
      <p:pic>
        <p:nvPicPr>
          <p:cNvPr id="3074" name="Picture 2" descr="Blue cute instagram icon illustration 23978982 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3960" y="1396027"/>
            <a:ext cx="4876800" cy="48768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387</TotalTime>
  <Words>1298</Words>
  <Application>Microsoft Office PowerPoint</Application>
  <PresentationFormat>Widescreen</PresentationFormat>
  <Paragraphs>248</Paragraphs>
  <Slides>16</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SDS</cp:lastModifiedBy>
  <cp:revision>38</cp:revision>
  <dcterms:created xsi:type="dcterms:W3CDTF">2013-01-27T09:14:16Z</dcterms:created>
  <dcterms:modified xsi:type="dcterms:W3CDTF">2026-10-27T09:17:37Z</dcterms:modified>
  <cp:category/>
</cp:coreProperties>
</file>